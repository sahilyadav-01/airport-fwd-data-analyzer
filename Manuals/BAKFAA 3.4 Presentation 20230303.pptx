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707" r:id="rId2"/>
  </p:sldMasterIdLst>
  <p:notesMasterIdLst>
    <p:notesMasterId r:id="rId121"/>
  </p:notesMasterIdLst>
  <p:sldIdLst>
    <p:sldId id="256" r:id="rId3"/>
    <p:sldId id="381" r:id="rId4"/>
    <p:sldId id="538" r:id="rId5"/>
    <p:sldId id="537" r:id="rId6"/>
    <p:sldId id="692" r:id="rId7"/>
    <p:sldId id="441" r:id="rId8"/>
    <p:sldId id="443" r:id="rId9"/>
    <p:sldId id="444" r:id="rId10"/>
    <p:sldId id="445" r:id="rId11"/>
    <p:sldId id="446" r:id="rId12"/>
    <p:sldId id="693" r:id="rId13"/>
    <p:sldId id="391" r:id="rId14"/>
    <p:sldId id="694" r:id="rId15"/>
    <p:sldId id="259" r:id="rId16"/>
    <p:sldId id="695" r:id="rId17"/>
    <p:sldId id="727" r:id="rId18"/>
    <p:sldId id="726" r:id="rId19"/>
    <p:sldId id="728" r:id="rId20"/>
    <p:sldId id="729" r:id="rId21"/>
    <p:sldId id="730" r:id="rId22"/>
    <p:sldId id="731" r:id="rId23"/>
    <p:sldId id="290" r:id="rId24"/>
    <p:sldId id="454" r:id="rId25"/>
    <p:sldId id="456" r:id="rId26"/>
    <p:sldId id="457" r:id="rId27"/>
    <p:sldId id="696" r:id="rId28"/>
    <p:sldId id="461" r:id="rId29"/>
    <p:sldId id="460" r:id="rId30"/>
    <p:sldId id="462" r:id="rId31"/>
    <p:sldId id="463" r:id="rId32"/>
    <p:sldId id="465" r:id="rId33"/>
    <p:sldId id="698" r:id="rId34"/>
    <p:sldId id="697" r:id="rId35"/>
    <p:sldId id="467" r:id="rId36"/>
    <p:sldId id="468" r:id="rId37"/>
    <p:sldId id="754" r:id="rId38"/>
    <p:sldId id="755" r:id="rId39"/>
    <p:sldId id="756" r:id="rId40"/>
    <p:sldId id="758" r:id="rId41"/>
    <p:sldId id="759" r:id="rId42"/>
    <p:sldId id="426" r:id="rId43"/>
    <p:sldId id="409" r:id="rId44"/>
    <p:sldId id="450" r:id="rId45"/>
    <p:sldId id="451" r:id="rId46"/>
    <p:sldId id="452" r:id="rId47"/>
    <p:sldId id="736" r:id="rId48"/>
    <p:sldId id="453" r:id="rId49"/>
    <p:sldId id="469" r:id="rId50"/>
    <p:sldId id="471" r:id="rId51"/>
    <p:sldId id="470" r:id="rId52"/>
    <p:sldId id="700" r:id="rId53"/>
    <p:sldId id="701" r:id="rId54"/>
    <p:sldId id="699" r:id="rId55"/>
    <p:sldId id="473" r:id="rId56"/>
    <p:sldId id="472" r:id="rId57"/>
    <p:sldId id="474" r:id="rId58"/>
    <p:sldId id="702" r:id="rId59"/>
    <p:sldId id="703" r:id="rId60"/>
    <p:sldId id="477" r:id="rId61"/>
    <p:sldId id="704" r:id="rId62"/>
    <p:sldId id="479" r:id="rId63"/>
    <p:sldId id="480" r:id="rId64"/>
    <p:sldId id="481" r:id="rId65"/>
    <p:sldId id="482" r:id="rId66"/>
    <p:sldId id="483" r:id="rId67"/>
    <p:sldId id="484" r:id="rId68"/>
    <p:sldId id="705" r:id="rId69"/>
    <p:sldId id="487" r:id="rId70"/>
    <p:sldId id="706" r:id="rId71"/>
    <p:sldId id="284" r:id="rId72"/>
    <p:sldId id="492" r:id="rId73"/>
    <p:sldId id="490" r:id="rId74"/>
    <p:sldId id="708" r:id="rId75"/>
    <p:sldId id="707" r:id="rId76"/>
    <p:sldId id="491" r:id="rId77"/>
    <p:sldId id="732" r:id="rId78"/>
    <p:sldId id="733" r:id="rId79"/>
    <p:sldId id="494" r:id="rId80"/>
    <p:sldId id="734" r:id="rId81"/>
    <p:sldId id="735" r:id="rId82"/>
    <p:sldId id="324" r:id="rId83"/>
    <p:sldId id="713" r:id="rId84"/>
    <p:sldId id="714" r:id="rId85"/>
    <p:sldId id="495" r:id="rId86"/>
    <p:sldId id="716" r:id="rId87"/>
    <p:sldId id="715" r:id="rId88"/>
    <p:sldId id="497" r:id="rId89"/>
    <p:sldId id="718" r:id="rId90"/>
    <p:sldId id="717" r:id="rId91"/>
    <p:sldId id="496" r:id="rId92"/>
    <p:sldId id="498" r:id="rId93"/>
    <p:sldId id="499" r:id="rId94"/>
    <p:sldId id="720" r:id="rId95"/>
    <p:sldId id="719" r:id="rId96"/>
    <p:sldId id="500" r:id="rId97"/>
    <p:sldId id="723" r:id="rId98"/>
    <p:sldId id="722" r:id="rId99"/>
    <p:sldId id="721" r:id="rId100"/>
    <p:sldId id="501" r:id="rId101"/>
    <p:sldId id="724" r:id="rId102"/>
    <p:sldId id="502" r:id="rId103"/>
    <p:sldId id="725" r:id="rId104"/>
    <p:sldId id="740" r:id="rId105"/>
    <p:sldId id="741" r:id="rId106"/>
    <p:sldId id="739" r:id="rId107"/>
    <p:sldId id="742" r:id="rId108"/>
    <p:sldId id="738" r:id="rId109"/>
    <p:sldId id="743" r:id="rId110"/>
    <p:sldId id="744" r:id="rId111"/>
    <p:sldId id="746" r:id="rId112"/>
    <p:sldId id="747" r:id="rId113"/>
    <p:sldId id="748" r:id="rId114"/>
    <p:sldId id="749" r:id="rId115"/>
    <p:sldId id="750" r:id="rId116"/>
    <p:sldId id="751" r:id="rId117"/>
    <p:sldId id="752" r:id="rId118"/>
    <p:sldId id="753" r:id="rId119"/>
    <p:sldId id="274" r:id="rId120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80D713-43C1-4C21-30DC-D803486EB7F0}" name="Chris Mazzotta" initials="CM" userId="S::cmazzotta@ara.com::e73ce995-5bf4-47ff-bd27-a641b71969a3" providerId="AD"/>
  <p188:author id="{54185E89-0295-861F-97A3-E1888062A713}" name="Gabriel Bazi" initials="GB" userId="S::gbazi@gbazi.com::38ffb131-a6fc-4e56-b6d7-b704a457bac0" providerId="AD"/>
  <p188:author id="{9928B8E8-07FC-6DC5-8874-9788D539218F}" name="Douglas Evans" initials="DE" userId="S::devans@ara.com::112373eb-62f7-401d-ae90-a638d7346e3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murrell@us.ara.com" initials="s" lastIdx="5" clrIdx="0">
    <p:extLst>
      <p:ext uri="{19B8F6BF-5375-455C-9EA6-DF929625EA0E}">
        <p15:presenceInfo xmlns:p15="http://schemas.microsoft.com/office/powerpoint/2012/main" userId="S-1-5-21-3476584777-3751678839-889941227-1723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5" autoAdjust="0"/>
    <p:restoredTop sz="96357" autoAdjust="0"/>
  </p:normalViewPr>
  <p:slideViewPr>
    <p:cSldViewPr snapToGrid="0">
      <p:cViewPr varScale="1">
        <p:scale>
          <a:sx n="106" d="100"/>
          <a:sy n="106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presProps" Target="pres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viewProps" Target="view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microsoft.com/office/2018/10/relationships/authors" Target="author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C7C41FF-E65E-4E01-8979-FFE01DA9A33C}" type="datetimeFigureOut">
              <a:rPr lang="en-US" smtClean="0"/>
              <a:t>3/3/2023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FF76A2F-BB35-414F-8BB9-FB6211FC56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772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5497DB0C-7495-4221-90D2-7780DC8EB7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7058EE8B-8773-4F04-830B-976B469B8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467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720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62377" indent="-232943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28264" indent="-232943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94151" indent="-232943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960038" indent="-232943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5B26318-7264-41B2-BE1E-7C92A5E7456E}" type="slidenum">
              <a:rPr lang="en-US" sz="1200"/>
              <a:pPr eaLnBrk="1" hangingPunct="1"/>
              <a:t>6</a:t>
            </a:fld>
            <a:endParaRPr lang="en-US" sz="1200" dirty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307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306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62377" indent="-232943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28264" indent="-232943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94151" indent="-232943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960038" indent="-232943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201A9597-64D2-48A1-8D11-2CFEEED4416C}" type="slidenum">
              <a:rPr lang="en-US" sz="1200"/>
              <a:pPr eaLnBrk="1" hangingPunct="1"/>
              <a:t>8</a:t>
            </a:fld>
            <a:endParaRPr lang="en-US" sz="1200" dirty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5491" y="4490033"/>
            <a:ext cx="5255204" cy="4252781"/>
          </a:xfrm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28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62377" indent="-232943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28264" indent="-232943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94151" indent="-232943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960038" indent="-232943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201A9597-64D2-48A1-8D11-2CFEEED4416C}" type="slidenum">
              <a:rPr lang="en-US" sz="1200"/>
              <a:pPr eaLnBrk="1" hangingPunct="1"/>
              <a:t>9</a:t>
            </a:fld>
            <a:endParaRPr lang="en-US" sz="1200" dirty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5491" y="4490033"/>
            <a:ext cx="5255204" cy="4252781"/>
          </a:xfrm>
          <a:noFill/>
        </p:spPr>
        <p:txBody>
          <a:bodyPr/>
          <a:lstStyle/>
          <a:p>
            <a:pPr eaLnBrk="1" hangingPunct="1"/>
            <a:r>
              <a:rPr lang="en-US" dirty="0"/>
              <a:t>4 outside lanes and 2 inside lanes</a:t>
            </a:r>
          </a:p>
        </p:txBody>
      </p:sp>
    </p:spTree>
    <p:extLst>
      <p:ext uri="{BB962C8B-B14F-4D97-AF65-F5344CB8AC3E}">
        <p14:creationId xmlns:p14="http://schemas.microsoft.com/office/powerpoint/2010/main" val="1067966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4708" indent="-174708" defTabSz="931774" fontAlgn="base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baseline="0" dirty="0"/>
              <a:t>Aircraft loading conditions vs majority of labs focus on Highway loading conditions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/>
              <a:t>APA testing 254 psi vs 100</a:t>
            </a:r>
            <a:r>
              <a:rPr lang="en-US" baseline="0" dirty="0"/>
              <a:t> psi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baseline="0" dirty="0"/>
              <a:t>New Test Quip machine for Semi Circular Beam (SCB) testing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baseline="0" dirty="0"/>
              <a:t>New Bench top for fine grain soil modulus.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baseline="0" dirty="0"/>
              <a:t>Asphalt beam fatigue aircraft loading conditions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baseline="0" dirty="0"/>
              <a:t>DCT on overlay-cyclic loading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baseline="0" dirty="0"/>
              <a:t>SMA,WMA, and RAP mix characterization testing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583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resize a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F76A2F-BB35-414F-8BB9-FB6211FC566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78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module to new position – grouped tab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F76A2F-BB35-414F-8BB9-FB6211FC566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584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module to new position – ungrouped tab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F76A2F-BB35-414F-8BB9-FB6211FC566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161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module from a docked tab to collapsible tab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F76A2F-BB35-414F-8BB9-FB6211FC566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9616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F76A2F-BB35-414F-8BB9-FB6211FC5662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8903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F76A2F-BB35-414F-8BB9-FB6211FC5662}" type="slidenum">
              <a:rPr lang="en-US" smtClean="0"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49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F76A2F-BB35-414F-8BB9-FB6211FC5662}" type="slidenum">
              <a:rPr lang="en-US" smtClean="0"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0553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F76A2F-BB35-414F-8BB9-FB6211FC5662}" type="slidenum">
              <a:rPr lang="en-US" smtClean="0"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660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F76A2F-BB35-414F-8BB9-FB6211FC5662}" type="slidenum">
              <a:rPr lang="en-US" smtClean="0"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172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F76A2F-BB35-414F-8BB9-FB6211FC5662}" type="slidenum">
              <a:rPr lang="en-US" smtClean="0"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961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THOUT proprietary or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757715" y="6449786"/>
            <a:ext cx="6337904" cy="408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4820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1D2F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78" descr="title_imagery_nologo">
            <a:extLst>
              <a:ext uri="{FF2B5EF4-FFF2-40B4-BE49-F238E27FC236}">
                <a16:creationId xmlns:a16="http://schemas.microsoft.com/office/drawing/2014/main" id="{B2A65DBC-D7CB-4938-B9EA-8F88CC1D3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901" y="0"/>
            <a:ext cx="47371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071">
            <a:extLst>
              <a:ext uri="{FF2B5EF4-FFF2-40B4-BE49-F238E27FC236}">
                <a16:creationId xmlns:a16="http://schemas.microsoft.com/office/drawing/2014/main" id="{C7DB11A2-5EA2-41ED-9E01-C74369343EA6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9090122" y="661594"/>
            <a:ext cx="1962150" cy="732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5000"/>
              </a:lnSpc>
              <a:defRPr/>
            </a:pPr>
            <a:r>
              <a:rPr lang="en-US" sz="1800" b="1" dirty="0">
                <a:solidFill>
                  <a:schemeClr val="bg1"/>
                </a:solidFill>
              </a:rPr>
              <a:t>Federal Aviation</a:t>
            </a:r>
          </a:p>
          <a:p>
            <a:pPr eaLnBrk="1" hangingPunct="1">
              <a:lnSpc>
                <a:spcPct val="85000"/>
              </a:lnSpc>
              <a:defRPr/>
            </a:pPr>
            <a:r>
              <a:rPr lang="en-US" sz="1800" b="1" dirty="0">
                <a:solidFill>
                  <a:schemeClr val="bg1"/>
                </a:solidFill>
              </a:rPr>
              <a:t>Administration</a:t>
            </a:r>
          </a:p>
        </p:txBody>
      </p:sp>
      <p:sp>
        <p:nvSpPr>
          <p:cNvPr id="63490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594784" y="312738"/>
            <a:ext cx="6644216" cy="1395412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3491" name="Rectangle 102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4784" y="4548663"/>
            <a:ext cx="6601883" cy="1752600"/>
          </a:xfrm>
        </p:spPr>
        <p:txBody>
          <a:bodyPr anchor="b"/>
          <a:lstStyle>
            <a:lvl1pPr marL="0" indent="0">
              <a:buFontTx/>
              <a:buNone/>
              <a:defRPr sz="3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Select to edit master 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F85826-DD36-419A-BD37-EBA4DB7AAA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15" b="93508" l="6462" r="90769">
                        <a14:foregroundMark x1="10051" y1="38639" x2="10154" y2="33298"/>
                        <a14:foregroundMark x1="6564" y1="47225" x2="6564" y2="47225"/>
                        <a14:foregroundMark x1="40923" y1="9319" x2="40923" y2="9319"/>
                        <a14:foregroundMark x1="53128" y1="18848" x2="53128" y2="18848"/>
                        <a14:foregroundMark x1="56923" y1="17277" x2="57128" y2="21780"/>
                        <a14:foregroundMark x1="44615" y1="18220" x2="30667" y2="22723"/>
                        <a14:foregroundMark x1="30667" y1="22723" x2="22051" y2="33403"/>
                        <a14:foregroundMark x1="17333" y1="43979" x2="19897" y2="31099"/>
                        <a14:foregroundMark x1="19897" y1="31099" x2="23077" y2="26597"/>
                        <a14:foregroundMark x1="27179" y1="49319" x2="22051" y2="32775"/>
                        <a14:foregroundMark x1="22051" y1="32775" x2="22051" y2="32775"/>
                        <a14:foregroundMark x1="35897" y1="35393" x2="31795" y2="28063"/>
                        <a14:foregroundMark x1="24103" y1="41047" x2="39077" y2="27539"/>
                        <a14:foregroundMark x1="39077" y1="27539" x2="49026" y2="25550"/>
                        <a14:foregroundMark x1="49026" y1="25550" x2="66051" y2="32670"/>
                        <a14:foregroundMark x1="66051" y1="32670" x2="71282" y2="39791"/>
                        <a14:foregroundMark x1="71282" y1="39791" x2="73949" y2="48377"/>
                        <a14:foregroundMark x1="73949" y1="48377" x2="74154" y2="57801"/>
                        <a14:foregroundMark x1="74154" y1="57801" x2="70359" y2="66597"/>
                        <a14:foregroundMark x1="70359" y1="66597" x2="63282" y2="74660"/>
                        <a14:foregroundMark x1="63282" y1="74660" x2="43897" y2="77382"/>
                        <a14:foregroundMark x1="43897" y1="77382" x2="35179" y2="75707"/>
                        <a14:foregroundMark x1="35179" y1="75707" x2="23282" y2="62199"/>
                        <a14:foregroundMark x1="23282" y1="62199" x2="22872" y2="49843"/>
                        <a14:foregroundMark x1="22872" y1="49843" x2="27179" y2="40942"/>
                        <a14:foregroundMark x1="27179" y1="40942" x2="27590" y2="36649"/>
                        <a14:foregroundMark x1="41538" y1="84607" x2="60205" y2="83979"/>
                        <a14:foregroundMark x1="60205" y1="83979" x2="70256" y2="78743"/>
                        <a14:foregroundMark x1="70256" y1="78743" x2="75795" y2="71204"/>
                        <a14:foregroundMark x1="75795" y1="71204" x2="79692" y2="58639"/>
                        <a14:foregroundMark x1="79692" y1="58639" x2="78359" y2="34660"/>
                        <a14:foregroundMark x1="78359" y1="34660" x2="65231" y2="23455"/>
                        <a14:foregroundMark x1="65231" y1="23455" x2="54051" y2="20524"/>
                        <a14:foregroundMark x1="54051" y1="20524" x2="39077" y2="21152"/>
                        <a14:foregroundMark x1="39077" y1="21152" x2="30462" y2="26178"/>
                        <a14:foregroundMark x1="30462" y1="26178" x2="15795" y2="47330"/>
                        <a14:foregroundMark x1="15795" y1="47330" x2="12615" y2="55602"/>
                        <a14:foregroundMark x1="12615" y1="55602" x2="27692" y2="77906"/>
                        <a14:foregroundMark x1="27692" y1="77906" x2="37128" y2="84607"/>
                        <a14:foregroundMark x1="37128" y1="84607" x2="46359" y2="85445"/>
                        <a14:foregroundMark x1="47487" y1="93508" x2="53026" y2="92565"/>
                        <a14:foregroundMark x1="89333" y1="64188" x2="90769" y2="528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94693" y="205472"/>
            <a:ext cx="1534148" cy="150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559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01F7AFB2-4592-434C-81AB-81A30B152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35676"/>
            <a:ext cx="12192000" cy="815975"/>
          </a:xfrm>
          <a:prstGeom prst="rect">
            <a:avLst/>
          </a:prstGeom>
          <a:solidFill>
            <a:srgbClr val="1D2F68"/>
          </a:solidFill>
          <a:ln w="9525">
            <a:solidFill>
              <a:srgbClr val="1D2F6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2400" dirty="0"/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83A0E160-5A49-4C74-B50D-5F9268435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067" y="630555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endParaRPr lang="en-US" alt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Text Box 29">
            <a:extLst>
              <a:ext uri="{FF2B5EF4-FFF2-40B4-BE49-F238E27FC236}">
                <a16:creationId xmlns:a16="http://schemas.microsoft.com/office/drawing/2014/main" id="{8D6DB40C-E837-49A6-AA87-512EEC7C1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18" y="6205539"/>
            <a:ext cx="637963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C0C0C0"/>
                </a:solidFill>
              </a:rPr>
              <a:t>BAKFAA</a:t>
            </a:r>
            <a:endParaRPr lang="en-US" altLang="en-US" sz="1200" dirty="0">
              <a:solidFill>
                <a:srgbClr val="C0C0C0"/>
              </a:solidFill>
            </a:endParaRPr>
          </a:p>
        </p:txBody>
      </p:sp>
      <p:sp>
        <p:nvSpPr>
          <p:cNvPr id="10" name="Text Box 30">
            <a:extLst>
              <a:ext uri="{FF2B5EF4-FFF2-40B4-BE49-F238E27FC236}">
                <a16:creationId xmlns:a16="http://schemas.microsoft.com/office/drawing/2014/main" id="{5518BD18-FF53-4881-B3B0-40085B6FC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33" y="6384925"/>
            <a:ext cx="498686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200" dirty="0">
                <a:solidFill>
                  <a:srgbClr val="C0C0C0"/>
                </a:solidFill>
              </a:rPr>
              <a:t>January 2023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277C4F78-5551-4D11-ABCF-B10E7598F9CF}"/>
              </a:ext>
            </a:extLst>
          </p:cNvPr>
          <p:cNvSpPr txBox="1">
            <a:spLocks noChangeArrowheads="1"/>
          </p:cNvSpPr>
          <p:nvPr/>
        </p:nvSpPr>
        <p:spPr>
          <a:xfrm>
            <a:off x="9372600" y="6237288"/>
            <a:ext cx="2540000" cy="39370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A0750043-75C6-4876-A209-E538C47394FF}" type="slidenum">
              <a:rPr lang="en-US" altLang="en-US" sz="1200" smtClean="0">
                <a:solidFill>
                  <a:schemeClr val="bg1"/>
                </a:solidFill>
              </a:rPr>
              <a:pPr algn="r">
                <a:defRPr/>
              </a:pPr>
              <a:t>‹#›</a:t>
            </a:fld>
            <a:endParaRPr lang="en-US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694557-5EAD-4076-9A8F-D9923B6C59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15" b="93508" l="6462" r="90769">
                        <a14:foregroundMark x1="10051" y1="38639" x2="10154" y2="33298"/>
                        <a14:foregroundMark x1="6564" y1="47225" x2="6564" y2="47225"/>
                        <a14:foregroundMark x1="40923" y1="9319" x2="40923" y2="9319"/>
                        <a14:foregroundMark x1="53128" y1="18848" x2="53128" y2="18848"/>
                        <a14:foregroundMark x1="56923" y1="17277" x2="57128" y2="21780"/>
                        <a14:foregroundMark x1="44615" y1="18220" x2="30667" y2="22723"/>
                        <a14:foregroundMark x1="30667" y1="22723" x2="22051" y2="33403"/>
                        <a14:foregroundMark x1="17333" y1="43979" x2="19897" y2="31099"/>
                        <a14:foregroundMark x1="19897" y1="31099" x2="23077" y2="26597"/>
                        <a14:foregroundMark x1="27179" y1="49319" x2="22051" y2="32775"/>
                        <a14:foregroundMark x1="22051" y1="32775" x2="22051" y2="32775"/>
                        <a14:foregroundMark x1="35897" y1="35393" x2="31795" y2="28063"/>
                        <a14:foregroundMark x1="24103" y1="41047" x2="39077" y2="27539"/>
                        <a14:foregroundMark x1="39077" y1="27539" x2="49026" y2="25550"/>
                        <a14:foregroundMark x1="49026" y1="25550" x2="66051" y2="32670"/>
                        <a14:foregroundMark x1="66051" y1="32670" x2="71282" y2="39791"/>
                        <a14:foregroundMark x1="71282" y1="39791" x2="73949" y2="48377"/>
                        <a14:foregroundMark x1="73949" y1="48377" x2="74154" y2="57801"/>
                        <a14:foregroundMark x1="74154" y1="57801" x2="70359" y2="66597"/>
                        <a14:foregroundMark x1="70359" y1="66597" x2="63282" y2="74660"/>
                        <a14:foregroundMark x1="63282" y1="74660" x2="43897" y2="77382"/>
                        <a14:foregroundMark x1="43897" y1="77382" x2="35179" y2="75707"/>
                        <a14:foregroundMark x1="35179" y1="75707" x2="23282" y2="62199"/>
                        <a14:foregroundMark x1="23282" y1="62199" x2="22872" y2="49843"/>
                        <a14:foregroundMark x1="22872" y1="49843" x2="27179" y2="40942"/>
                        <a14:foregroundMark x1="27179" y1="40942" x2="27590" y2="36649"/>
                        <a14:foregroundMark x1="41538" y1="84607" x2="60205" y2="83979"/>
                        <a14:foregroundMark x1="60205" y1="83979" x2="70256" y2="78743"/>
                        <a14:foregroundMark x1="70256" y1="78743" x2="75795" y2="71204"/>
                        <a14:foregroundMark x1="75795" y1="71204" x2="79692" y2="58639"/>
                        <a14:foregroundMark x1="79692" y1="58639" x2="78359" y2="34660"/>
                        <a14:foregroundMark x1="78359" y1="34660" x2="65231" y2="23455"/>
                        <a14:foregroundMark x1="65231" y1="23455" x2="54051" y2="20524"/>
                        <a14:foregroundMark x1="54051" y1="20524" x2="39077" y2="21152"/>
                        <a14:foregroundMark x1="39077" y1="21152" x2="30462" y2="26178"/>
                        <a14:foregroundMark x1="30462" y1="26178" x2="15795" y2="47330"/>
                        <a14:foregroundMark x1="15795" y1="47330" x2="12615" y2="55602"/>
                        <a14:foregroundMark x1="12615" y1="55602" x2="27692" y2="77906"/>
                        <a14:foregroundMark x1="27692" y1="77906" x2="37128" y2="84607"/>
                        <a14:foregroundMark x1="37128" y1="84607" x2="46359" y2="85445"/>
                        <a14:foregroundMark x1="47487" y1="93508" x2="53026" y2="92565"/>
                        <a14:foregroundMark x1="89333" y1="64188" x2="90769" y2="528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41043" y="6061966"/>
            <a:ext cx="779378" cy="7633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C433BB-89A6-481D-89BB-C8A570FD428C}"/>
              </a:ext>
            </a:extLst>
          </p:cNvPr>
          <p:cNvSpPr txBox="1"/>
          <p:nvPr userDrawn="1"/>
        </p:nvSpPr>
        <p:spPr>
          <a:xfrm>
            <a:off x="9548232" y="6212830"/>
            <a:ext cx="1611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Federal Aviation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2958840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315913"/>
            <a:ext cx="11296651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0" y="1508126"/>
            <a:ext cx="5264151" cy="4391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7751" y="1508126"/>
            <a:ext cx="5266267" cy="4391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337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26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March 1,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F6FF14-FC6A-41B6-B2DC-884C6B7C3F2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46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442667"/>
            <a:ext cx="11582400" cy="80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219" y="1306286"/>
            <a:ext cx="11582400" cy="4853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Header1BLANK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02336"/>
          </a:xfrm>
          <a:prstGeom prst="rect">
            <a:avLst/>
          </a:prstGeom>
        </p:spPr>
      </p:pic>
      <p:sp>
        <p:nvSpPr>
          <p:cNvPr id="8" name="TextBox 10"/>
          <p:cNvSpPr txBox="1">
            <a:spLocks noChangeArrowheads="1"/>
          </p:cNvSpPr>
          <p:nvPr/>
        </p:nvSpPr>
        <p:spPr bwMode="auto">
          <a:xfrm>
            <a:off x="544671" y="6579854"/>
            <a:ext cx="20828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1000" b="1" dirty="0">
                <a:solidFill>
                  <a:schemeClr val="bg2"/>
                </a:solidFill>
              </a:rPr>
              <a:t>www.ara.com</a:t>
            </a:r>
          </a:p>
        </p:txBody>
      </p:sp>
      <p:pic>
        <p:nvPicPr>
          <p:cNvPr id="9" name="Picture 8" descr="ARAblu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06" y="6304326"/>
            <a:ext cx="1458788" cy="3884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0979" y="71048"/>
            <a:ext cx="5577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spc="0" dirty="0">
                <a:solidFill>
                  <a:schemeClr val="bg1"/>
                </a:solidFill>
              </a:rPr>
              <a:t>SOLVING</a:t>
            </a:r>
            <a:r>
              <a:rPr lang="en-US" sz="1000" b="1" spc="0" baseline="0" dirty="0">
                <a:solidFill>
                  <a:schemeClr val="bg1"/>
                </a:solidFill>
              </a:rPr>
              <a:t> PROBLEMS OF GLOBAL IMPORTANCE</a:t>
            </a:r>
            <a:endParaRPr lang="en-US" sz="1000" b="1" spc="0" dirty="0">
              <a:solidFill>
                <a:schemeClr val="bg1"/>
              </a:solidFill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4080805" y="6583654"/>
            <a:ext cx="4047195" cy="2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l"/>
            <a:r>
              <a:rPr lang="en-US" sz="800" dirty="0">
                <a:solidFill>
                  <a:srgbClr val="0090CB"/>
                </a:solidFill>
              </a:rPr>
              <a:t>© 2015 Applied Research Associates, Inc</a:t>
            </a:r>
            <a:r>
              <a:rPr lang="en-US" sz="800" i="1" dirty="0">
                <a:solidFill>
                  <a:srgbClr val="0090CB"/>
                </a:solidFill>
              </a:rPr>
              <a:t>.  ARA Proprietary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11701517" y="6536749"/>
            <a:ext cx="490483" cy="311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fld id="{F0772937-DAE7-445B-8489-980DDEB8A66D}" type="slidenum">
              <a:rPr lang="en-US" sz="1000" smtClean="0">
                <a:solidFill>
                  <a:schemeClr val="bg2"/>
                </a:solidFill>
              </a:rPr>
              <a:t>‹#›</a:t>
            </a:fld>
            <a:endParaRPr lang="en-US" sz="1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36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bg1"/>
        </a:buClr>
        <a:buSzPct val="75000"/>
        <a:buFont typeface="Arial"/>
        <a:buChar char="•"/>
        <a:defRPr sz="2000" b="1" kern="1200">
          <a:solidFill>
            <a:schemeClr val="bg2"/>
          </a:solidFill>
          <a:latin typeface="+mn-lt"/>
          <a:ea typeface="+mn-ea"/>
          <a:cs typeface="+mn-cs"/>
        </a:defRPr>
      </a:lvl1pPr>
      <a:lvl2pPr marL="41148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SzPct val="100000"/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00000"/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00000"/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00000"/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4BEE29A9-264C-484D-B261-49B5690334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1500" y="344488"/>
            <a:ext cx="11296651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Select To Edit Master Title</a:t>
            </a: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A62DFAEB-9938-45CF-A1EA-2289B51DDD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0401" y="1543051"/>
            <a:ext cx="10733617" cy="43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Select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6329" name="Rectangle 9">
            <a:extLst>
              <a:ext uri="{FF2B5EF4-FFF2-40B4-BE49-F238E27FC236}">
                <a16:creationId xmlns:a16="http://schemas.microsoft.com/office/drawing/2014/main" id="{90E304DC-5C96-4D11-856E-4BAB9B9E76E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FontTx/>
              <a:buNone/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6330" name="Rectangle 10">
            <a:extLst>
              <a:ext uri="{FF2B5EF4-FFF2-40B4-BE49-F238E27FC236}">
                <a16:creationId xmlns:a16="http://schemas.microsoft.com/office/drawing/2014/main" id="{5235043E-3E06-488E-926C-F66731A3CEB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FontTx/>
              <a:buNone/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6331" name="Rectangle 11">
            <a:extLst>
              <a:ext uri="{FF2B5EF4-FFF2-40B4-BE49-F238E27FC236}">
                <a16:creationId xmlns:a16="http://schemas.microsoft.com/office/drawing/2014/main" id="{540B4D94-7978-4C5B-BAA0-9CA33A3168F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FontTx/>
              <a:buNone/>
              <a:defRPr sz="1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B350480-0737-44CE-9B05-EA6A8FD64BC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31" name="Rectangle 12">
            <a:extLst>
              <a:ext uri="{FF2B5EF4-FFF2-40B4-BE49-F238E27FC236}">
                <a16:creationId xmlns:a16="http://schemas.microsoft.com/office/drawing/2014/main" id="{90E10A71-B952-411D-B381-E51DAD370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35676"/>
            <a:ext cx="12192000" cy="815975"/>
          </a:xfrm>
          <a:prstGeom prst="rect">
            <a:avLst/>
          </a:prstGeom>
          <a:solidFill>
            <a:srgbClr val="1D2F68"/>
          </a:solidFill>
          <a:ln w="9525">
            <a:solidFill>
              <a:srgbClr val="1D2F6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2400" dirty="0"/>
          </a:p>
        </p:txBody>
      </p:sp>
      <p:sp>
        <p:nvSpPr>
          <p:cNvPr id="1032" name="Rectangle 17">
            <a:extLst>
              <a:ext uri="{FF2B5EF4-FFF2-40B4-BE49-F238E27FC236}">
                <a16:creationId xmlns:a16="http://schemas.microsoft.com/office/drawing/2014/main" id="{7B3D434C-B963-45C9-AB70-B183DC000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067" y="630555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endParaRPr lang="en-US" altLang="en-US" sz="1200" b="1" dirty="0">
              <a:solidFill>
                <a:schemeClr val="bg1"/>
              </a:solidFill>
            </a:endParaRPr>
          </a:p>
        </p:txBody>
      </p:sp>
      <p:sp>
        <p:nvSpPr>
          <p:cNvPr id="1034" name="Text Box 29">
            <a:extLst>
              <a:ext uri="{FF2B5EF4-FFF2-40B4-BE49-F238E27FC236}">
                <a16:creationId xmlns:a16="http://schemas.microsoft.com/office/drawing/2014/main" id="{FB86DAD7-8AA7-4F70-90B0-3F120C49E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18" y="6205539"/>
            <a:ext cx="637963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C0C0C0"/>
                </a:solidFill>
              </a:rPr>
              <a:t>BAKFAA</a:t>
            </a:r>
            <a:endParaRPr lang="en-US" altLang="en-US" sz="1200" dirty="0">
              <a:solidFill>
                <a:srgbClr val="C0C0C0"/>
              </a:solidFill>
            </a:endParaRPr>
          </a:p>
        </p:txBody>
      </p:sp>
      <p:sp>
        <p:nvSpPr>
          <p:cNvPr id="1035" name="Text Box 30">
            <a:extLst>
              <a:ext uri="{FF2B5EF4-FFF2-40B4-BE49-F238E27FC236}">
                <a16:creationId xmlns:a16="http://schemas.microsoft.com/office/drawing/2014/main" id="{7AB6855D-4E79-42A7-8A5E-2C4A3F5E3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33" y="6384925"/>
            <a:ext cx="498686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1200" dirty="0">
                <a:solidFill>
                  <a:srgbClr val="C0C0C0"/>
                </a:solidFill>
              </a:rPr>
              <a:t>April 2022</a:t>
            </a: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C058388F-0B8B-4FA5-9869-A54CD8BAD5D4}"/>
              </a:ext>
            </a:extLst>
          </p:cNvPr>
          <p:cNvSpPr txBox="1">
            <a:spLocks noChangeArrowheads="1"/>
          </p:cNvSpPr>
          <p:nvPr/>
        </p:nvSpPr>
        <p:spPr>
          <a:xfrm>
            <a:off x="9372600" y="6237288"/>
            <a:ext cx="2540000" cy="39370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344FC10-AEC7-41F2-830D-25E76A6EB108}" type="slidenum">
              <a:rPr lang="en-US" altLang="en-US" sz="1200" smtClean="0">
                <a:solidFill>
                  <a:schemeClr val="bg1"/>
                </a:solidFill>
              </a:rPr>
              <a:pPr algn="r">
                <a:defRPr/>
              </a:pPr>
              <a:t>‹#›</a:t>
            </a:fld>
            <a:endParaRPr lang="en-US" altLang="en-US" sz="24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292A120-E60C-420E-9844-AA04A81380E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15" b="93508" l="6462" r="90769">
                        <a14:foregroundMark x1="10051" y1="38639" x2="10154" y2="33298"/>
                        <a14:foregroundMark x1="6564" y1="47225" x2="6564" y2="47225"/>
                        <a14:foregroundMark x1="40923" y1="9319" x2="40923" y2="9319"/>
                        <a14:foregroundMark x1="53128" y1="18848" x2="53128" y2="18848"/>
                        <a14:foregroundMark x1="56923" y1="17277" x2="57128" y2="21780"/>
                        <a14:foregroundMark x1="44615" y1="18220" x2="30667" y2="22723"/>
                        <a14:foregroundMark x1="30667" y1="22723" x2="22051" y2="33403"/>
                        <a14:foregroundMark x1="17333" y1="43979" x2="19897" y2="31099"/>
                        <a14:foregroundMark x1="19897" y1="31099" x2="23077" y2="26597"/>
                        <a14:foregroundMark x1="27179" y1="49319" x2="22051" y2="32775"/>
                        <a14:foregroundMark x1="22051" y1="32775" x2="22051" y2="32775"/>
                        <a14:foregroundMark x1="35897" y1="35393" x2="31795" y2="28063"/>
                        <a14:foregroundMark x1="24103" y1="41047" x2="39077" y2="27539"/>
                        <a14:foregroundMark x1="39077" y1="27539" x2="49026" y2="25550"/>
                        <a14:foregroundMark x1="49026" y1="25550" x2="66051" y2="32670"/>
                        <a14:foregroundMark x1="66051" y1="32670" x2="71282" y2="39791"/>
                        <a14:foregroundMark x1="71282" y1="39791" x2="73949" y2="48377"/>
                        <a14:foregroundMark x1="73949" y1="48377" x2="74154" y2="57801"/>
                        <a14:foregroundMark x1="74154" y1="57801" x2="70359" y2="66597"/>
                        <a14:foregroundMark x1="70359" y1="66597" x2="63282" y2="74660"/>
                        <a14:foregroundMark x1="63282" y1="74660" x2="43897" y2="77382"/>
                        <a14:foregroundMark x1="43897" y1="77382" x2="35179" y2="75707"/>
                        <a14:foregroundMark x1="35179" y1="75707" x2="23282" y2="62199"/>
                        <a14:foregroundMark x1="23282" y1="62199" x2="22872" y2="49843"/>
                        <a14:foregroundMark x1="22872" y1="49843" x2="27179" y2="40942"/>
                        <a14:foregroundMark x1="27179" y1="40942" x2="27590" y2="36649"/>
                        <a14:foregroundMark x1="41538" y1="84607" x2="60205" y2="83979"/>
                        <a14:foregroundMark x1="60205" y1="83979" x2="70256" y2="78743"/>
                        <a14:foregroundMark x1="70256" y1="78743" x2="75795" y2="71204"/>
                        <a14:foregroundMark x1="75795" y1="71204" x2="79692" y2="58639"/>
                        <a14:foregroundMark x1="79692" y1="58639" x2="78359" y2="34660"/>
                        <a14:foregroundMark x1="78359" y1="34660" x2="65231" y2="23455"/>
                        <a14:foregroundMark x1="65231" y1="23455" x2="54051" y2="20524"/>
                        <a14:foregroundMark x1="54051" y1="20524" x2="39077" y2="21152"/>
                        <a14:foregroundMark x1="39077" y1="21152" x2="30462" y2="26178"/>
                        <a14:foregroundMark x1="30462" y1="26178" x2="15795" y2="47330"/>
                        <a14:foregroundMark x1="15795" y1="47330" x2="12615" y2="55602"/>
                        <a14:foregroundMark x1="12615" y1="55602" x2="27692" y2="77906"/>
                        <a14:foregroundMark x1="27692" y1="77906" x2="37128" y2="84607"/>
                        <a14:foregroundMark x1="37128" y1="84607" x2="46359" y2="85445"/>
                        <a14:foregroundMark x1="47487" y1="93508" x2="53026" y2="92565"/>
                        <a14:foregroundMark x1="89333" y1="64188" x2="90769" y2="528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41043" y="6061966"/>
            <a:ext cx="779378" cy="7633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9A75E4-EAA6-4569-9529-F425265D0CC3}"/>
              </a:ext>
            </a:extLst>
          </p:cNvPr>
          <p:cNvSpPr txBox="1"/>
          <p:nvPr userDrawn="1"/>
        </p:nvSpPr>
        <p:spPr>
          <a:xfrm>
            <a:off x="9548232" y="6212830"/>
            <a:ext cx="1611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Federal Aviation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410550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1D2F68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1D2F68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1D2F68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1D2F68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1D2F68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1D2F68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1D2F68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1D2F68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1D2F68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4.png"/><Relationship Id="rId7" Type="http://schemas.microsoft.com/office/2007/relationships/hdphoto" Target="../media/hdphoto2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4" Type="http://schemas.openxmlformats.org/officeDocument/2006/relationships/image" Target="../media/image61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72.xm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72.xm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" Target="slide72.xm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hyperlink" Target="mailto:Richard.Ji@faa.gov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F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1778" y="1818460"/>
            <a:ext cx="8846105" cy="882210"/>
          </a:xfrm>
        </p:spPr>
        <p:txBody>
          <a:bodyPr/>
          <a:lstStyle/>
          <a:p>
            <a:r>
              <a:rPr lang="en-US" sz="4400" dirty="0"/>
              <a:t>BAKFAA 3.4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2E964F4-ADB2-4AF3-A19A-6AB40C3895DE}"/>
              </a:ext>
            </a:extLst>
          </p:cNvPr>
          <p:cNvSpPr txBox="1">
            <a:spLocks/>
          </p:cNvSpPr>
          <p:nvPr/>
        </p:nvSpPr>
        <p:spPr bwMode="auto">
          <a:xfrm>
            <a:off x="741778" y="3193576"/>
            <a:ext cx="6520259" cy="1911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9pPr>
          </a:lstStyle>
          <a:p>
            <a:r>
              <a:rPr lang="en-US" sz="2000" b="0" kern="0" dirty="0"/>
              <a:t>Prepared by Applied Research Associates, Inc.</a:t>
            </a:r>
          </a:p>
          <a:p>
            <a:r>
              <a:rPr lang="en-US" sz="2000" b="0" kern="0" dirty="0"/>
              <a:t>Task Order 17 Structural Airport Pavement NDT and Evaluation</a:t>
            </a:r>
          </a:p>
          <a:p>
            <a:r>
              <a:rPr lang="en-US" sz="2000" b="0" kern="0" dirty="0"/>
              <a:t>Deliverable 5.2.1.1 Update Upgraded BAKFAA User Manual, Help Files and Presentation</a:t>
            </a:r>
          </a:p>
          <a:p>
            <a:r>
              <a:rPr lang="en-US" sz="2000" b="0" kern="0" dirty="0"/>
              <a:t>March 3, 2023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559F45-FEFE-443B-B1A5-346309B98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78" y="5105400"/>
            <a:ext cx="280035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5DDF61D0-3CAB-48D6-BD4F-699277AD2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2965A-2DED-4631-A8D0-8CDC512B1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539" y="1111378"/>
            <a:ext cx="10626570" cy="4918231"/>
          </a:xfrm>
        </p:spPr>
        <p:txBody>
          <a:bodyPr>
            <a:normAutofit fontScale="70000" lnSpcReduction="20000"/>
          </a:bodyPr>
          <a:lstStyle/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FAA Airport Pavement R&amp;D Overview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Introduction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Main Features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Modular Interface</a:t>
            </a:r>
          </a:p>
          <a:p>
            <a:pPr lvl="2"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Data</a:t>
            </a:r>
          </a:p>
          <a:p>
            <a:pPr lvl="2"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Inputs</a:t>
            </a:r>
          </a:p>
          <a:p>
            <a:pPr lvl="2">
              <a:buFont typeface="Courier New" panose="02070309020205020404" pitchFamily="49" charset="0"/>
              <a:buChar char="o"/>
              <a:defRPr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 Analysis</a:t>
            </a:r>
          </a:p>
          <a:p>
            <a:pPr lvl="2">
              <a:buFont typeface="Courier New" panose="02070309020205020404" pitchFamily="49" charset="0"/>
              <a:buChar char="o"/>
              <a:defRPr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Transfer Efficiency (LTE) Calculation</a:t>
            </a:r>
          </a:p>
          <a:p>
            <a:pPr lvl="2">
              <a:buFont typeface="Courier New" panose="02070309020205020404" pitchFamily="49" charset="0"/>
              <a:buChar char="o"/>
              <a:defRPr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Elastic Analysis Program (LEAF)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Demo</a:t>
            </a:r>
          </a:p>
          <a:p>
            <a:pPr lvl="2"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Pavement Example</a:t>
            </a:r>
          </a:p>
          <a:p>
            <a:pPr lvl="2"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Rigid Pavement Example</a:t>
            </a:r>
          </a:p>
          <a:p>
            <a:pPr lvl="2"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Composite Pavement Example</a:t>
            </a:r>
          </a:p>
          <a:p>
            <a:pPr lvl="2"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LTE Example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227" y="2296633"/>
            <a:ext cx="10363200" cy="1509823"/>
          </a:xfrm>
        </p:spPr>
        <p:txBody>
          <a:bodyPr/>
          <a:lstStyle/>
          <a:p>
            <a:pPr algn="ctr"/>
            <a:r>
              <a:rPr lang="en-US" sz="40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FAA Airport Pavement R&amp;D</a:t>
            </a:r>
            <a:br>
              <a:rPr lang="en-US" sz="40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854595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3505"/>
            <a:ext cx="11296651" cy="609600"/>
          </a:xfrm>
        </p:spPr>
        <p:txBody>
          <a:bodyPr/>
          <a:lstStyle/>
          <a:p>
            <a:pPr algn="ctr"/>
            <a:r>
              <a:rPr lang="en-US" sz="3200" dirty="0"/>
              <a:t>Who We Are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7843521" y="4796041"/>
            <a:ext cx="3889407" cy="113588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kern="0" dirty="0">
                <a:solidFill>
                  <a:srgbClr val="C00000"/>
                </a:solidFill>
              </a:rPr>
              <a:t>Pavement Consultant Support – ARA</a:t>
            </a:r>
          </a:p>
          <a:p>
            <a:pPr marL="0" indent="0">
              <a:buNone/>
            </a:pPr>
            <a:r>
              <a:rPr lang="en-US" sz="1600" kern="0" dirty="0">
                <a:solidFill>
                  <a:srgbClr val="C00000"/>
                </a:solidFill>
              </a:rPr>
              <a:t>Materials Lab O&amp;M – ARA</a:t>
            </a:r>
          </a:p>
          <a:p>
            <a:pPr marL="0" indent="0">
              <a:buNone/>
            </a:pPr>
            <a:r>
              <a:rPr lang="en-US" sz="1600" kern="0" dirty="0">
                <a:solidFill>
                  <a:srgbClr val="C00000"/>
                </a:solidFill>
              </a:rPr>
              <a:t>Facilities O&amp;M - GDIT</a:t>
            </a:r>
          </a:p>
        </p:txBody>
      </p:sp>
      <p:sp>
        <p:nvSpPr>
          <p:cNvPr id="3" name="TextBox 2"/>
          <p:cNvSpPr txBox="1"/>
          <p:nvPr/>
        </p:nvSpPr>
        <p:spPr bwMode="auto">
          <a:xfrm>
            <a:off x="46372" y="1090818"/>
            <a:ext cx="2782672" cy="707694"/>
          </a:xfrm>
          <a:prstGeom prst="rect">
            <a:avLst/>
          </a:prstGeom>
          <a:solidFill>
            <a:srgbClr val="002060"/>
          </a:solidFill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rgbClr val="C0C0C0"/>
                </a:solidFill>
              </a:rPr>
              <a:t>Director of William J. Hughes Technical Center</a:t>
            </a:r>
          </a:p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rgbClr val="C0C0C0"/>
                </a:solidFill>
              </a:rPr>
              <a:t>ANG-E, Shelly Yak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883575" y="2079296"/>
            <a:ext cx="2130640" cy="502573"/>
          </a:xfrm>
          <a:prstGeom prst="rect">
            <a:avLst/>
          </a:prstGeom>
          <a:solidFill>
            <a:srgbClr val="E1E604"/>
          </a:solidFill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Fire Safety Branch</a:t>
            </a:r>
          </a:p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ANG-E21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883571" y="2723473"/>
            <a:ext cx="2130644" cy="502573"/>
          </a:xfrm>
          <a:prstGeom prst="rect">
            <a:avLst/>
          </a:prstGeom>
          <a:solidFill>
            <a:srgbClr val="E1E604"/>
          </a:solidFill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Human Factors Branch</a:t>
            </a:r>
          </a:p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ANG-E25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883571" y="3319165"/>
            <a:ext cx="2130645" cy="912814"/>
          </a:xfrm>
          <a:prstGeom prst="rect">
            <a:avLst/>
          </a:prstGeom>
          <a:solidFill>
            <a:srgbClr val="E1E604"/>
          </a:solidFill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Airport Technology R&amp;D Branch</a:t>
            </a:r>
          </a:p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ANG-E26</a:t>
            </a:r>
          </a:p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James Layton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883571" y="4367351"/>
            <a:ext cx="2130644" cy="707694"/>
          </a:xfrm>
          <a:prstGeom prst="rect">
            <a:avLst/>
          </a:prstGeom>
          <a:solidFill>
            <a:srgbClr val="E1E604"/>
          </a:solidFill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Software and Systems Branch</a:t>
            </a:r>
          </a:p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ANG-E27</a:t>
            </a:r>
          </a:p>
        </p:txBody>
      </p:sp>
      <p:sp>
        <p:nvSpPr>
          <p:cNvPr id="19" name="TextBox 18"/>
          <p:cNvSpPr txBox="1"/>
          <p:nvPr/>
        </p:nvSpPr>
        <p:spPr bwMode="auto">
          <a:xfrm>
            <a:off x="883570" y="5258840"/>
            <a:ext cx="2130644" cy="707694"/>
          </a:xfrm>
          <a:prstGeom prst="rect">
            <a:avLst/>
          </a:prstGeom>
          <a:solidFill>
            <a:srgbClr val="E1E604"/>
          </a:solidFill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Structures and Propulsion Branch</a:t>
            </a:r>
          </a:p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ANG-E28</a:t>
            </a:r>
          </a:p>
        </p:txBody>
      </p:sp>
      <p:sp>
        <p:nvSpPr>
          <p:cNvPr id="20" name="TextBox 19"/>
          <p:cNvSpPr txBox="1"/>
          <p:nvPr/>
        </p:nvSpPr>
        <p:spPr bwMode="auto">
          <a:xfrm rot="16200000">
            <a:off x="-1645991" y="3773262"/>
            <a:ext cx="3918208" cy="502573"/>
          </a:xfrm>
          <a:prstGeom prst="rect">
            <a:avLst/>
          </a:prstGeom>
          <a:gradFill flip="none" rotWithShape="1">
            <a:gsLst>
              <a:gs pos="0">
                <a:srgbClr val="1D2F68">
                  <a:tint val="66000"/>
                  <a:satMod val="160000"/>
                </a:srgbClr>
              </a:gs>
              <a:gs pos="50000">
                <a:srgbClr val="1D2F68">
                  <a:tint val="44500"/>
                  <a:satMod val="160000"/>
                </a:srgbClr>
              </a:gs>
              <a:gs pos="100000">
                <a:srgbClr val="1D2F68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Aviation Research Division</a:t>
            </a:r>
          </a:p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ANG-E2, Mike Paglione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3290478" y="3839575"/>
            <a:ext cx="1531127" cy="1323054"/>
          </a:xfrm>
          <a:prstGeom prst="rect">
            <a:avLst/>
          </a:prstGeom>
          <a:gradFill flip="none" rotWithShape="1">
            <a:gsLst>
              <a:gs pos="0">
                <a:srgbClr val="E1E604">
                  <a:tint val="66000"/>
                  <a:satMod val="160000"/>
                </a:srgbClr>
              </a:gs>
              <a:gs pos="50000">
                <a:srgbClr val="E1E604">
                  <a:tint val="44500"/>
                  <a:satMod val="160000"/>
                </a:srgbClr>
              </a:gs>
              <a:gs pos="100000">
                <a:srgbClr val="E1E604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Airport Pavement R&amp;D Section</a:t>
            </a:r>
          </a:p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ANG-E262, Murphy Flynn, Acting</a:t>
            </a:r>
          </a:p>
        </p:txBody>
      </p:sp>
      <p:cxnSp>
        <p:nvCxnSpPr>
          <p:cNvPr id="35" name="Elbow Connector 34"/>
          <p:cNvCxnSpPr>
            <a:stCxn id="3" idx="2"/>
            <a:endCxn id="20" idx="3"/>
          </p:cNvCxnSpPr>
          <p:nvPr/>
        </p:nvCxnSpPr>
        <p:spPr bwMode="auto">
          <a:xfrm rot="5400000">
            <a:off x="741945" y="1369681"/>
            <a:ext cx="266933" cy="1124595"/>
          </a:xfrm>
          <a:prstGeom prst="bentConnector3">
            <a:avLst/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/>
          <p:cNvCxnSpPr/>
          <p:nvPr/>
        </p:nvCxnSpPr>
        <p:spPr bwMode="auto">
          <a:xfrm>
            <a:off x="542743" y="3874877"/>
            <a:ext cx="1219200" cy="1219200"/>
          </a:xfrm>
          <a:prstGeom prst="bentConnector3">
            <a:avLst/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" name="TextBox 45"/>
          <p:cNvSpPr txBox="1"/>
          <p:nvPr/>
        </p:nvSpPr>
        <p:spPr bwMode="auto">
          <a:xfrm>
            <a:off x="3290477" y="2785030"/>
            <a:ext cx="1531127" cy="912814"/>
          </a:xfrm>
          <a:prstGeom prst="rect">
            <a:avLst/>
          </a:prstGeom>
          <a:gradFill flip="none" rotWithShape="1">
            <a:gsLst>
              <a:gs pos="0">
                <a:srgbClr val="E1E604">
                  <a:tint val="66000"/>
                  <a:satMod val="160000"/>
                </a:srgbClr>
              </a:gs>
              <a:gs pos="50000">
                <a:srgbClr val="E1E604">
                  <a:tint val="44500"/>
                  <a:satMod val="160000"/>
                </a:srgbClr>
              </a:gs>
              <a:gs pos="100000">
                <a:srgbClr val="E1E604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Airport Safety R&amp;D Section</a:t>
            </a:r>
          </a:p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ANG-E261, Ryan King, Acting</a:t>
            </a:r>
          </a:p>
        </p:txBody>
      </p:sp>
      <p:sp>
        <p:nvSpPr>
          <p:cNvPr id="49" name="TextBox 48"/>
          <p:cNvSpPr txBox="1"/>
          <p:nvPr/>
        </p:nvSpPr>
        <p:spPr bwMode="auto">
          <a:xfrm>
            <a:off x="5116705" y="2563353"/>
            <a:ext cx="1706644" cy="297454"/>
          </a:xfrm>
          <a:prstGeom prst="rect">
            <a:avLst/>
          </a:prstGeom>
          <a:noFill/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David Brill</a:t>
            </a:r>
          </a:p>
        </p:txBody>
      </p:sp>
      <p:sp>
        <p:nvSpPr>
          <p:cNvPr id="50" name="TextBox 49"/>
          <p:cNvSpPr txBox="1"/>
          <p:nvPr/>
        </p:nvSpPr>
        <p:spPr bwMode="auto">
          <a:xfrm>
            <a:off x="5116703" y="2981482"/>
            <a:ext cx="1706644" cy="297454"/>
          </a:xfrm>
          <a:prstGeom prst="rect">
            <a:avLst/>
          </a:prstGeom>
          <a:noFill/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Navneet Garg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5116703" y="3394960"/>
            <a:ext cx="1706644" cy="297454"/>
          </a:xfrm>
          <a:prstGeom prst="rect">
            <a:avLst/>
          </a:prstGeom>
          <a:noFill/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Qingge Jia</a:t>
            </a:r>
          </a:p>
        </p:txBody>
      </p:sp>
      <p:sp>
        <p:nvSpPr>
          <p:cNvPr id="53" name="TextBox 52"/>
          <p:cNvSpPr txBox="1"/>
          <p:nvPr/>
        </p:nvSpPr>
        <p:spPr bwMode="auto">
          <a:xfrm>
            <a:off x="5116702" y="3820540"/>
            <a:ext cx="1706647" cy="297454"/>
          </a:xfrm>
          <a:prstGeom prst="rect">
            <a:avLst/>
          </a:prstGeom>
          <a:noFill/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Ryan Rutter</a:t>
            </a:r>
          </a:p>
        </p:txBody>
      </p:sp>
      <p:sp>
        <p:nvSpPr>
          <p:cNvPr id="54" name="TextBox 53"/>
          <p:cNvSpPr txBox="1"/>
          <p:nvPr/>
        </p:nvSpPr>
        <p:spPr bwMode="auto">
          <a:xfrm>
            <a:off x="5116703" y="4238669"/>
            <a:ext cx="1706645" cy="297454"/>
          </a:xfrm>
          <a:prstGeom prst="rect">
            <a:avLst/>
          </a:prstGeom>
          <a:noFill/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Wilfredo Villafane</a:t>
            </a:r>
          </a:p>
        </p:txBody>
      </p:sp>
      <p:sp>
        <p:nvSpPr>
          <p:cNvPr id="55" name="TextBox 54"/>
          <p:cNvSpPr txBox="1"/>
          <p:nvPr/>
        </p:nvSpPr>
        <p:spPr bwMode="auto">
          <a:xfrm>
            <a:off x="5115360" y="4656796"/>
            <a:ext cx="1706645" cy="297454"/>
          </a:xfrm>
          <a:prstGeom prst="rect">
            <a:avLst/>
          </a:prstGeom>
          <a:noFill/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Richard Ji</a:t>
            </a:r>
          </a:p>
        </p:txBody>
      </p:sp>
      <p:sp>
        <p:nvSpPr>
          <p:cNvPr id="56" name="TextBox 55"/>
          <p:cNvSpPr txBox="1"/>
          <p:nvPr/>
        </p:nvSpPr>
        <p:spPr bwMode="auto">
          <a:xfrm>
            <a:off x="5120410" y="5090114"/>
            <a:ext cx="1706645" cy="297454"/>
          </a:xfrm>
          <a:prstGeom prst="rect">
            <a:avLst/>
          </a:prstGeom>
          <a:noFill/>
          <a:ln>
            <a:solidFill>
              <a:srgbClr val="DDDDDD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33" b="1" dirty="0">
                <a:solidFill>
                  <a:schemeClr val="tx1"/>
                </a:solidFill>
              </a:rPr>
              <a:t>Matthew Brynick</a:t>
            </a:r>
          </a:p>
        </p:txBody>
      </p:sp>
      <p:cxnSp>
        <p:nvCxnSpPr>
          <p:cNvPr id="63" name="Elbow Connector 62"/>
          <p:cNvCxnSpPr>
            <a:stCxn id="21" idx="3"/>
            <a:endCxn id="49" idx="1"/>
          </p:cNvCxnSpPr>
          <p:nvPr/>
        </p:nvCxnSpPr>
        <p:spPr bwMode="auto">
          <a:xfrm flipV="1">
            <a:off x="4821605" y="2712080"/>
            <a:ext cx="295100" cy="1789022"/>
          </a:xfrm>
          <a:prstGeom prst="bentConnector3">
            <a:avLst/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Elbow Connector 67"/>
          <p:cNvCxnSpPr>
            <a:stCxn id="21" idx="3"/>
            <a:endCxn id="52" idx="1"/>
          </p:cNvCxnSpPr>
          <p:nvPr/>
        </p:nvCxnSpPr>
        <p:spPr bwMode="auto">
          <a:xfrm flipV="1">
            <a:off x="4821605" y="3543687"/>
            <a:ext cx="295098" cy="95741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Elbow Connector 70"/>
          <p:cNvCxnSpPr>
            <a:stCxn id="21" idx="3"/>
            <a:endCxn id="50" idx="1"/>
          </p:cNvCxnSpPr>
          <p:nvPr/>
        </p:nvCxnSpPr>
        <p:spPr bwMode="auto">
          <a:xfrm flipV="1">
            <a:off x="4821605" y="3130209"/>
            <a:ext cx="295098" cy="1370893"/>
          </a:xfrm>
          <a:prstGeom prst="bentConnector3">
            <a:avLst>
              <a:gd name="adj1" fmla="val 50000"/>
            </a:avLst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Elbow Connector 76"/>
          <p:cNvCxnSpPr>
            <a:stCxn id="21" idx="3"/>
            <a:endCxn id="53" idx="1"/>
          </p:cNvCxnSpPr>
          <p:nvPr/>
        </p:nvCxnSpPr>
        <p:spPr bwMode="auto">
          <a:xfrm flipV="1">
            <a:off x="4821605" y="3969267"/>
            <a:ext cx="295097" cy="53183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Elbow Connector 81"/>
          <p:cNvCxnSpPr>
            <a:stCxn id="21" idx="3"/>
            <a:endCxn id="54" idx="1"/>
          </p:cNvCxnSpPr>
          <p:nvPr/>
        </p:nvCxnSpPr>
        <p:spPr bwMode="auto">
          <a:xfrm flipV="1">
            <a:off x="4821605" y="4387396"/>
            <a:ext cx="295098" cy="113706"/>
          </a:xfrm>
          <a:prstGeom prst="bentConnector3">
            <a:avLst>
              <a:gd name="adj1" fmla="val 50000"/>
            </a:avLst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Elbow Connector 88"/>
          <p:cNvCxnSpPr>
            <a:stCxn id="21" idx="3"/>
            <a:endCxn id="56" idx="1"/>
          </p:cNvCxnSpPr>
          <p:nvPr/>
        </p:nvCxnSpPr>
        <p:spPr bwMode="auto">
          <a:xfrm>
            <a:off x="4821605" y="4501102"/>
            <a:ext cx="298805" cy="737739"/>
          </a:xfrm>
          <a:prstGeom prst="bentConnector3">
            <a:avLst>
              <a:gd name="adj1" fmla="val 50000"/>
            </a:avLst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Elbow Connector 92"/>
          <p:cNvCxnSpPr>
            <a:stCxn id="21" idx="3"/>
            <a:endCxn id="55" idx="1"/>
          </p:cNvCxnSpPr>
          <p:nvPr/>
        </p:nvCxnSpPr>
        <p:spPr bwMode="auto">
          <a:xfrm>
            <a:off x="4821605" y="4501102"/>
            <a:ext cx="293755" cy="304421"/>
          </a:xfrm>
          <a:prstGeom prst="bentConnector3">
            <a:avLst>
              <a:gd name="adj1" fmla="val 50000"/>
            </a:avLst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Elbow Connector 95"/>
          <p:cNvCxnSpPr>
            <a:endCxn id="46" idx="1"/>
          </p:cNvCxnSpPr>
          <p:nvPr/>
        </p:nvCxnSpPr>
        <p:spPr bwMode="auto">
          <a:xfrm rot="5400000" flipH="1" flipV="1">
            <a:off x="2853277" y="3402377"/>
            <a:ext cx="598140" cy="276260"/>
          </a:xfrm>
          <a:prstGeom prst="bentConnector2">
            <a:avLst/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Elbow Connector 98"/>
          <p:cNvCxnSpPr>
            <a:endCxn id="21" idx="1"/>
          </p:cNvCxnSpPr>
          <p:nvPr/>
        </p:nvCxnSpPr>
        <p:spPr bwMode="auto">
          <a:xfrm rot="16200000" flipH="1">
            <a:off x="2821583" y="4032206"/>
            <a:ext cx="661529" cy="276262"/>
          </a:xfrm>
          <a:prstGeom prst="bentConnector2">
            <a:avLst/>
          </a:prstGeom>
          <a:ln w="28575"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Elbow Connector 163"/>
          <p:cNvCxnSpPr/>
          <p:nvPr/>
        </p:nvCxnSpPr>
        <p:spPr bwMode="auto">
          <a:xfrm flipV="1">
            <a:off x="438260" y="3702479"/>
            <a:ext cx="27456" cy="172212"/>
          </a:xfrm>
          <a:prstGeom prst="bentConnector4">
            <a:avLst>
              <a:gd name="adj1" fmla="val 7274053"/>
              <a:gd name="adj2" fmla="val -331882"/>
            </a:avLst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8" name="Elbow Connector 167"/>
          <p:cNvCxnSpPr>
            <a:stCxn id="20" idx="2"/>
            <a:endCxn id="15" idx="1"/>
          </p:cNvCxnSpPr>
          <p:nvPr/>
        </p:nvCxnSpPr>
        <p:spPr bwMode="auto">
          <a:xfrm flipV="1">
            <a:off x="564400" y="2330583"/>
            <a:ext cx="319175" cy="1693966"/>
          </a:xfrm>
          <a:prstGeom prst="bentConnector5">
            <a:avLst>
              <a:gd name="adj1" fmla="val 71622"/>
              <a:gd name="adj2" fmla="val 50000"/>
              <a:gd name="adj3" fmla="val 28378"/>
            </a:avLst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Elbow Connector 170"/>
          <p:cNvCxnSpPr>
            <a:stCxn id="20" idx="2"/>
            <a:endCxn id="19" idx="1"/>
          </p:cNvCxnSpPr>
          <p:nvPr/>
        </p:nvCxnSpPr>
        <p:spPr bwMode="auto">
          <a:xfrm>
            <a:off x="564400" y="4024549"/>
            <a:ext cx="319170" cy="1588138"/>
          </a:xfrm>
          <a:prstGeom prst="bentConnector5">
            <a:avLst>
              <a:gd name="adj1" fmla="val 71623"/>
              <a:gd name="adj2" fmla="val 46771"/>
              <a:gd name="adj3" fmla="val 28377"/>
            </a:avLst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Elbow Connector 181"/>
          <p:cNvCxnSpPr>
            <a:endCxn id="16" idx="1"/>
          </p:cNvCxnSpPr>
          <p:nvPr/>
        </p:nvCxnSpPr>
        <p:spPr bwMode="auto">
          <a:xfrm rot="5400000" flipH="1" flipV="1">
            <a:off x="303752" y="3388114"/>
            <a:ext cx="993172" cy="166465"/>
          </a:xfrm>
          <a:prstGeom prst="bentConnector2">
            <a:avLst/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Elbow Connector 187"/>
          <p:cNvCxnSpPr>
            <a:stCxn id="20" idx="2"/>
          </p:cNvCxnSpPr>
          <p:nvPr/>
        </p:nvCxnSpPr>
        <p:spPr bwMode="auto">
          <a:xfrm>
            <a:off x="564400" y="4024549"/>
            <a:ext cx="319171" cy="760620"/>
          </a:xfrm>
          <a:prstGeom prst="bentConnector4">
            <a:avLst>
              <a:gd name="adj1" fmla="val 71623"/>
              <a:gd name="adj2" fmla="val 66518"/>
            </a:avLst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Elbow Connector 211"/>
          <p:cNvCxnSpPr/>
          <p:nvPr/>
        </p:nvCxnSpPr>
        <p:spPr bwMode="auto">
          <a:xfrm>
            <a:off x="3766051" y="1750577"/>
            <a:ext cx="1219200" cy="1219200"/>
          </a:xfrm>
          <a:prstGeom prst="bentConnector3">
            <a:avLst/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3" name="Elbow Connector 212"/>
          <p:cNvCxnSpPr/>
          <p:nvPr/>
        </p:nvCxnSpPr>
        <p:spPr bwMode="auto">
          <a:xfrm flipV="1">
            <a:off x="603847" y="3839575"/>
            <a:ext cx="279724" cy="182472"/>
          </a:xfrm>
          <a:prstGeom prst="bentConnector3">
            <a:avLst>
              <a:gd name="adj1" fmla="val 35141"/>
            </a:avLst>
          </a:prstGeom>
          <a:ln w="28575"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1CF9A050-20EA-4178-9076-518CEC272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15" b="93508" l="6462" r="90769">
                        <a14:foregroundMark x1="10051" y1="38639" x2="10154" y2="33298"/>
                        <a14:foregroundMark x1="6564" y1="47225" x2="6564" y2="47225"/>
                        <a14:foregroundMark x1="40923" y1="9319" x2="40923" y2="9319"/>
                        <a14:foregroundMark x1="53128" y1="18848" x2="53128" y2="18848"/>
                        <a14:foregroundMark x1="56923" y1="17277" x2="57128" y2="21780"/>
                        <a14:foregroundMark x1="44615" y1="18220" x2="30667" y2="22723"/>
                        <a14:foregroundMark x1="30667" y1="22723" x2="22051" y2="33403"/>
                        <a14:foregroundMark x1="17333" y1="43979" x2="19897" y2="31099"/>
                        <a14:foregroundMark x1="19897" y1="31099" x2="23077" y2="26597"/>
                        <a14:foregroundMark x1="27179" y1="49319" x2="22051" y2="32775"/>
                        <a14:foregroundMark x1="22051" y1="32775" x2="22051" y2="32775"/>
                        <a14:foregroundMark x1="35897" y1="35393" x2="31795" y2="28063"/>
                        <a14:foregroundMark x1="24103" y1="41047" x2="39077" y2="27539"/>
                        <a14:foregroundMark x1="39077" y1="27539" x2="49026" y2="25550"/>
                        <a14:foregroundMark x1="49026" y1="25550" x2="66051" y2="32670"/>
                        <a14:foregroundMark x1="66051" y1="32670" x2="71282" y2="39791"/>
                        <a14:foregroundMark x1="71282" y1="39791" x2="73949" y2="48377"/>
                        <a14:foregroundMark x1="73949" y1="48377" x2="74154" y2="57801"/>
                        <a14:foregroundMark x1="74154" y1="57801" x2="70359" y2="66597"/>
                        <a14:foregroundMark x1="70359" y1="66597" x2="63282" y2="74660"/>
                        <a14:foregroundMark x1="63282" y1="74660" x2="43897" y2="77382"/>
                        <a14:foregroundMark x1="43897" y1="77382" x2="35179" y2="75707"/>
                        <a14:foregroundMark x1="35179" y1="75707" x2="23282" y2="62199"/>
                        <a14:foregroundMark x1="23282" y1="62199" x2="22872" y2="49843"/>
                        <a14:foregroundMark x1="22872" y1="49843" x2="27179" y2="40942"/>
                        <a14:foregroundMark x1="27179" y1="40942" x2="27590" y2="36649"/>
                        <a14:foregroundMark x1="41538" y1="84607" x2="60205" y2="83979"/>
                        <a14:foregroundMark x1="60205" y1="83979" x2="70256" y2="78743"/>
                        <a14:foregroundMark x1="70256" y1="78743" x2="75795" y2="71204"/>
                        <a14:foregroundMark x1="75795" y1="71204" x2="79692" y2="58639"/>
                        <a14:foregroundMark x1="79692" y1="58639" x2="78359" y2="34660"/>
                        <a14:foregroundMark x1="78359" y1="34660" x2="65231" y2="23455"/>
                        <a14:foregroundMark x1="65231" y1="23455" x2="54051" y2="20524"/>
                        <a14:foregroundMark x1="54051" y1="20524" x2="39077" y2="21152"/>
                        <a14:foregroundMark x1="39077" y1="21152" x2="30462" y2="26178"/>
                        <a14:foregroundMark x1="30462" y1="26178" x2="15795" y2="47330"/>
                        <a14:foregroundMark x1="15795" y1="47330" x2="12615" y2="55602"/>
                        <a14:foregroundMark x1="12615" y1="55602" x2="27692" y2="77906"/>
                        <a14:foregroundMark x1="27692" y1="77906" x2="37128" y2="84607"/>
                        <a14:foregroundMark x1="37128" y1="84607" x2="46359" y2="85445"/>
                        <a14:foregroundMark x1="47487" y1="93508" x2="53026" y2="92565"/>
                        <a14:foregroundMark x1="89333" y1="64188" x2="90769" y2="528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7958" y="1102483"/>
            <a:ext cx="3546937" cy="347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60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3505"/>
            <a:ext cx="11296651" cy="609600"/>
          </a:xfrm>
        </p:spPr>
        <p:txBody>
          <a:bodyPr/>
          <a:lstStyle/>
          <a:p>
            <a:pPr algn="ctr"/>
            <a:r>
              <a:rPr lang="en-US" sz="3200" dirty="0"/>
              <a:t>What We Do</a:t>
            </a:r>
          </a:p>
        </p:txBody>
      </p:sp>
      <p:sp>
        <p:nvSpPr>
          <p:cNvPr id="45" name="Rectangle 4"/>
          <p:cNvSpPr txBox="1">
            <a:spLocks noChangeArrowheads="1"/>
          </p:cNvSpPr>
          <p:nvPr/>
        </p:nvSpPr>
        <p:spPr>
          <a:xfrm>
            <a:off x="424873" y="1258432"/>
            <a:ext cx="11268363" cy="4480381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3200" kern="0" dirty="0">
                <a:latin typeface="+mj-lt"/>
                <a:cs typeface="Times New Roman" panose="02020603050405020304" pitchFamily="18" charset="0"/>
              </a:rPr>
              <a:t>Aviation Research Division Mission</a:t>
            </a:r>
          </a:p>
          <a:p>
            <a:pPr lvl="1">
              <a:lnSpc>
                <a:spcPct val="90000"/>
              </a:lnSpc>
            </a:pPr>
            <a:r>
              <a:rPr lang="en-US" sz="2667" kern="0" dirty="0">
                <a:latin typeface="+mj-lt"/>
                <a:cs typeface="Times New Roman" panose="02020603050405020304" pitchFamily="18" charset="0"/>
              </a:rPr>
              <a:t>Develop scientific solutions to current and future air transportation challenges by conducting </a:t>
            </a:r>
            <a:r>
              <a:rPr lang="en-US" sz="2667" u="sng" kern="0" dirty="0">
                <a:latin typeface="+mj-lt"/>
                <a:cs typeface="Times New Roman" panose="02020603050405020304" pitchFamily="18" charset="0"/>
              </a:rPr>
              <a:t>applied</a:t>
            </a:r>
            <a:r>
              <a:rPr lang="en-US" sz="2667" kern="0" dirty="0">
                <a:latin typeface="+mj-lt"/>
                <a:cs typeface="Times New Roman" panose="02020603050405020304" pitchFamily="18" charset="0"/>
              </a:rPr>
              <a:t> research and development in </a:t>
            </a:r>
            <a:r>
              <a:rPr lang="en-US" sz="2667" u="sng" kern="0" dirty="0">
                <a:latin typeface="+mj-lt"/>
                <a:cs typeface="Times New Roman" panose="02020603050405020304" pitchFamily="18" charset="0"/>
              </a:rPr>
              <a:t>collaboration</a:t>
            </a:r>
            <a:r>
              <a:rPr lang="en-US" sz="2667" kern="0" dirty="0">
                <a:latin typeface="+mj-lt"/>
                <a:cs typeface="Times New Roman" panose="02020603050405020304" pitchFamily="18" charset="0"/>
              </a:rPr>
              <a:t> with industry, academia, and government.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028" y="3006436"/>
            <a:ext cx="7450053" cy="298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9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99894" y="3501570"/>
            <a:ext cx="3309257" cy="22372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8747" y="1988929"/>
            <a:ext cx="3266319" cy="22012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24874" y="1258432"/>
            <a:ext cx="6567052" cy="44803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+mj-lt"/>
                <a:cs typeface="Times New Roman" panose="02020603050405020304" pitchFamily="18" charset="0"/>
              </a:rPr>
              <a:t>Research Conducted at the FAA William J. Hughes Technical Center, Atlantic City International Airport, NJ, USA.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+mj-lt"/>
                <a:cs typeface="Times New Roman" panose="02020603050405020304" pitchFamily="18" charset="0"/>
              </a:rPr>
              <a:t>ANG-E262 Airport Pavement R&amp;D Section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+mj-lt"/>
                <a:cs typeface="Times New Roman" panose="02020603050405020304" pitchFamily="18" charset="0"/>
              </a:rPr>
              <a:t>Sponsor: FAA Office of Airport Safety and Standards, Washington, DC. 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+mj-lt"/>
                <a:cs typeface="Times New Roman" panose="02020603050405020304" pitchFamily="18" charset="0"/>
              </a:rPr>
              <a:t>AAS-100 Airport Engineering Division (Michael Meyers)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+mj-lt"/>
                <a:cs typeface="Times New Roman" panose="02020603050405020304" pitchFamily="18" charset="0"/>
              </a:rPr>
              <a:t>AAS-110 Airport Engineering Division (Alberto Cruz, Harold Honey, Jeffrey Crislip)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+mj-lt"/>
                <a:cs typeface="Times New Roman" panose="02020603050405020304" pitchFamily="18" charset="0"/>
              </a:rPr>
              <a:t>AAS-120 Airport Data and Airspace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+mj-lt"/>
                <a:cs typeface="Times New Roman" panose="02020603050405020304" pitchFamily="18" charset="0"/>
              </a:rPr>
              <a:t>AAS-200 Airports Emerging Entrants Division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+mj-lt"/>
                <a:cs typeface="Times New Roman" panose="02020603050405020304" pitchFamily="18" charset="0"/>
              </a:rPr>
              <a:t>Provide Support for Development of FAA Pavement Standards 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+mj-lt"/>
                <a:cs typeface="Times New Roman" panose="02020603050405020304" pitchFamily="18" charset="0"/>
              </a:rPr>
              <a:t>Advisory Circulars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+mj-lt"/>
                <a:cs typeface="Times New Roman" panose="02020603050405020304" pitchFamily="18" charset="0"/>
              </a:rPr>
              <a:t>Engineering Briefs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title"/>
          </p:nvPr>
        </p:nvSpPr>
        <p:spPr>
          <a:xfrm>
            <a:off x="655781" y="244900"/>
            <a:ext cx="10788073" cy="609600"/>
          </a:xfrm>
          <a:noFill/>
        </p:spPr>
        <p:txBody>
          <a:bodyPr/>
          <a:lstStyle/>
          <a:p>
            <a:pPr algn="ctr" eaLnBrk="1" hangingPunct="1"/>
            <a:r>
              <a:rPr lang="en-US" altLang="en-US" sz="3200" dirty="0"/>
              <a:t>ANG-E262 Airport Pavement R&amp;D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1199" y="920384"/>
            <a:ext cx="3628559" cy="16981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834188" y="4686300"/>
            <a:ext cx="1707316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i="0" kern="1200">
                <a:solidFill>
                  <a:schemeClr val="bg1">
                    <a:lumMod val="65000"/>
                  </a:schemeClr>
                </a:solidFill>
                <a:latin typeface="Helvetica Neue Medium"/>
                <a:ea typeface="+mn-ea"/>
                <a:cs typeface="Helvetica Neue Medium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78D3ABA1-EA94-43C0-B992-7CBCC31144F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593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77880" y="1357978"/>
            <a:ext cx="7266417" cy="4431413"/>
          </a:xfrm>
          <a:prstGeom prst="rect">
            <a:avLst/>
          </a:prstGeom>
          <a:noFill/>
          <a:ln w="31750" cmpd="sng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 bwMode="auto">
          <a:xfrm>
            <a:off x="8418213" y="5051835"/>
            <a:ext cx="1015455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>
              <a:buFontTx/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NAPTF</a:t>
            </a:r>
          </a:p>
        </p:txBody>
      </p:sp>
      <p:cxnSp>
        <p:nvCxnSpPr>
          <p:cNvPr id="7" name="Straight Arrow Connector 6"/>
          <p:cNvCxnSpPr>
            <a:endCxn id="5" idx="1"/>
          </p:cNvCxnSpPr>
          <p:nvPr/>
        </p:nvCxnSpPr>
        <p:spPr bwMode="auto">
          <a:xfrm>
            <a:off x="7372540" y="4590109"/>
            <a:ext cx="1045673" cy="615615"/>
          </a:xfrm>
          <a:prstGeom prst="straightConnector1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/>
          <p:cNvSpPr txBox="1"/>
          <p:nvPr/>
        </p:nvSpPr>
        <p:spPr bwMode="auto">
          <a:xfrm>
            <a:off x="3527836" y="5105681"/>
            <a:ext cx="112866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>
              <a:buFontTx/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Laboratory</a:t>
            </a:r>
          </a:p>
        </p:txBody>
      </p:sp>
      <p:cxnSp>
        <p:nvCxnSpPr>
          <p:cNvPr id="23" name="Straight Arrow Connector 22"/>
          <p:cNvCxnSpPr/>
          <p:nvPr/>
        </p:nvCxnSpPr>
        <p:spPr bwMode="auto">
          <a:xfrm flipH="1">
            <a:off x="4529752" y="4951762"/>
            <a:ext cx="543209" cy="415529"/>
          </a:xfrm>
          <a:prstGeom prst="straightConnector1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Box 26"/>
          <p:cNvSpPr txBox="1"/>
          <p:nvPr/>
        </p:nvSpPr>
        <p:spPr bwMode="auto">
          <a:xfrm>
            <a:off x="2580240" y="4528615"/>
            <a:ext cx="112564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>
              <a:buFontTx/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Soil Processing</a:t>
            </a:r>
          </a:p>
        </p:txBody>
      </p:sp>
      <p:cxnSp>
        <p:nvCxnSpPr>
          <p:cNvPr id="29" name="Straight Arrow Connector 28"/>
          <p:cNvCxnSpPr>
            <a:endCxn id="27" idx="0"/>
          </p:cNvCxnSpPr>
          <p:nvPr/>
        </p:nvCxnSpPr>
        <p:spPr bwMode="auto">
          <a:xfrm>
            <a:off x="3105340" y="3866859"/>
            <a:ext cx="37723" cy="661756"/>
          </a:xfrm>
          <a:prstGeom prst="straightConnector1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Rectangle 3"/>
          <p:cNvSpPr>
            <a:spLocks noGrp="1" noChangeArrowheads="1"/>
          </p:cNvSpPr>
          <p:nvPr>
            <p:ph type="title"/>
          </p:nvPr>
        </p:nvSpPr>
        <p:spPr>
          <a:xfrm>
            <a:off x="249381" y="344488"/>
            <a:ext cx="11868728" cy="609600"/>
          </a:xfrm>
          <a:noFill/>
        </p:spPr>
        <p:txBody>
          <a:bodyPr/>
          <a:lstStyle/>
          <a:p>
            <a:pPr algn="ctr" eaLnBrk="1" hangingPunct="1"/>
            <a:r>
              <a:rPr lang="en-US" sz="3200" dirty="0">
                <a:cs typeface="Times New Roman" panose="02020603050405020304" pitchFamily="18" charset="0"/>
              </a:rPr>
              <a:t>Airport Pavement R&amp;D Section Facility Layout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6450971" y="3763781"/>
            <a:ext cx="1309735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>
              <a:buFontTx/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 Space</a:t>
            </a:r>
          </a:p>
        </p:txBody>
      </p:sp>
      <p:cxnSp>
        <p:nvCxnSpPr>
          <p:cNvPr id="42" name="Straight Arrow Connector 41"/>
          <p:cNvCxnSpPr>
            <a:endCxn id="41" idx="2"/>
          </p:cNvCxnSpPr>
          <p:nvPr/>
        </p:nvCxnSpPr>
        <p:spPr bwMode="auto">
          <a:xfrm flipV="1">
            <a:off x="5715755" y="4071558"/>
            <a:ext cx="1390084" cy="636247"/>
          </a:xfrm>
          <a:prstGeom prst="straightConnector1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Box 17"/>
          <p:cNvSpPr txBox="1"/>
          <p:nvPr/>
        </p:nvSpPr>
        <p:spPr bwMode="auto">
          <a:xfrm>
            <a:off x="5002887" y="1479122"/>
            <a:ext cx="1247116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 </a:t>
            </a:r>
          </a:p>
          <a:p>
            <a:pPr algn="ctr">
              <a:spcBef>
                <a:spcPts val="0"/>
              </a:spcBef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</p:txBody>
      </p:sp>
      <p:sp>
        <p:nvSpPr>
          <p:cNvPr id="2" name="Rectangle 1"/>
          <p:cNvSpPr/>
          <p:nvPr/>
        </p:nvSpPr>
        <p:spPr bwMode="auto">
          <a:xfrm rot="20639467">
            <a:off x="6400595" y="3160376"/>
            <a:ext cx="613547" cy="46166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3000">
                <a:srgbClr val="FFFF00">
                  <a:alpha val="23000"/>
                </a:srgb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77"/>
            <a:endParaRPr lang="en-US" dirty="0"/>
          </a:p>
        </p:txBody>
      </p:sp>
      <p:sp>
        <p:nvSpPr>
          <p:cNvPr id="16" name="TextBox 15"/>
          <p:cNvSpPr txBox="1"/>
          <p:nvPr/>
        </p:nvSpPr>
        <p:spPr bwMode="auto">
          <a:xfrm>
            <a:off x="2700950" y="1602109"/>
            <a:ext cx="1056239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>
              <a:buFontTx/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NAPMRC</a:t>
            </a:r>
          </a:p>
        </p:txBody>
      </p:sp>
      <p:cxnSp>
        <p:nvCxnSpPr>
          <p:cNvPr id="19" name="Straight Arrow Connector 18"/>
          <p:cNvCxnSpPr>
            <a:endCxn id="18" idx="2"/>
          </p:cNvCxnSpPr>
          <p:nvPr/>
        </p:nvCxnSpPr>
        <p:spPr bwMode="auto">
          <a:xfrm flipH="1" flipV="1">
            <a:off x="5626445" y="2002342"/>
            <a:ext cx="484644" cy="1571345"/>
          </a:xfrm>
          <a:prstGeom prst="straightConnector1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>
            <a:endCxn id="16" idx="2"/>
          </p:cNvCxnSpPr>
          <p:nvPr/>
        </p:nvCxnSpPr>
        <p:spPr bwMode="auto">
          <a:xfrm flipH="1" flipV="1">
            <a:off x="3229070" y="1909886"/>
            <a:ext cx="2269403" cy="1575698"/>
          </a:xfrm>
          <a:prstGeom prst="straightConnector1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Box 24"/>
          <p:cNvSpPr txBox="1"/>
          <p:nvPr/>
        </p:nvSpPr>
        <p:spPr bwMode="auto">
          <a:xfrm>
            <a:off x="7655649" y="1810765"/>
            <a:ext cx="1099620" cy="6001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</a:p>
          <a:p>
            <a:pPr algn="ctr">
              <a:spcBef>
                <a:spcPts val="0"/>
              </a:spcBef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Asphalt Pavement Lab</a:t>
            </a:r>
          </a:p>
        </p:txBody>
      </p:sp>
      <p:cxnSp>
        <p:nvCxnSpPr>
          <p:cNvPr id="26" name="Straight Arrow Connector 25"/>
          <p:cNvCxnSpPr>
            <a:stCxn id="2" idx="3"/>
            <a:endCxn id="25" idx="2"/>
          </p:cNvCxnSpPr>
          <p:nvPr/>
        </p:nvCxnSpPr>
        <p:spPr bwMode="auto">
          <a:xfrm flipV="1">
            <a:off x="7002245" y="2410929"/>
            <a:ext cx="1203214" cy="895676"/>
          </a:xfrm>
          <a:prstGeom prst="straightConnector1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834188" y="4686300"/>
            <a:ext cx="1707316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i="0" kern="1200">
                <a:solidFill>
                  <a:schemeClr val="bg1">
                    <a:lumMod val="65000"/>
                  </a:schemeClr>
                </a:solidFill>
                <a:latin typeface="Helvetica Neue Medium"/>
                <a:ea typeface="+mn-ea"/>
                <a:cs typeface="Helvetica Neue Medium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78D3ABA1-EA94-43C0-B992-7CBCC31144F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564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Airport Pavement Test Facility (NAPTF)</a:t>
            </a:r>
          </a:p>
        </p:txBody>
      </p:sp>
      <p:sp>
        <p:nvSpPr>
          <p:cNvPr id="1525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06400" y="954089"/>
            <a:ext cx="6834909" cy="4812969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NAPTF Facts: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133" b="0" dirty="0">
                <a:latin typeface="+mj-lt"/>
                <a:cs typeface="Times New Roman" panose="02020603050405020304" pitchFamily="18" charset="0"/>
              </a:rPr>
              <a:t>FAA / Boeing (CRDA) Partnership at $21M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133" b="0" dirty="0">
                <a:latin typeface="+mj-lt"/>
                <a:cs typeface="Times New Roman" panose="02020603050405020304" pitchFamily="18" charset="0"/>
              </a:rPr>
              <a:t>Opened April 1999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133" b="0" dirty="0">
                <a:latin typeface="+mj-lt"/>
                <a:cs typeface="Times New Roman" panose="02020603050405020304" pitchFamily="18" charset="0"/>
              </a:rPr>
              <a:t>Fully Enclosed Facility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133" b="0" dirty="0">
                <a:latin typeface="+mj-lt"/>
                <a:cs typeface="Times New Roman" panose="02020603050405020304" pitchFamily="18" charset="0"/>
              </a:rPr>
              <a:t>Accelerated Traffic Testing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133" b="0" dirty="0">
                <a:latin typeface="+mj-lt"/>
                <a:cs typeface="Times New Roman" panose="02020603050405020304" pitchFamily="18" charset="0"/>
              </a:rPr>
              <a:t>900 ft. x 65 ft. of Test Pavement Surface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133" b="0" dirty="0">
                <a:latin typeface="+mj-lt"/>
                <a:cs typeface="Times New Roman" panose="02020603050405020304" pitchFamily="18" charset="0"/>
              </a:rPr>
              <a:t>Full-scale Pavement Structures and Landing Gear Loads </a:t>
            </a:r>
          </a:p>
          <a:p>
            <a:pPr marL="0" indent="0">
              <a:buNone/>
              <a:defRPr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NAPTV Facts:</a:t>
            </a:r>
          </a:p>
          <a:p>
            <a:pPr marL="152396" lvl="1">
              <a:buFont typeface="Arial" panose="020B0604020202020204" pitchFamily="34" charset="0"/>
              <a:buChar char="•"/>
              <a:defRPr/>
            </a:pPr>
            <a:r>
              <a:rPr lang="en-US" sz="2133" dirty="0">
                <a:latin typeface="+mj-lt"/>
                <a:cs typeface="Times New Roman" panose="02020603050405020304" pitchFamily="18" charset="0"/>
              </a:rPr>
              <a:t>Fully Automated &amp; Programmed Wander Patterns</a:t>
            </a:r>
          </a:p>
          <a:p>
            <a:pPr marL="152396" lvl="1">
              <a:buFont typeface="Arial" panose="020B0604020202020204" pitchFamily="34" charset="0"/>
              <a:buChar char="•"/>
              <a:defRPr/>
            </a:pPr>
            <a:r>
              <a:rPr lang="en-US" sz="2133" dirty="0">
                <a:latin typeface="+mj-lt"/>
                <a:cs typeface="Times New Roman" panose="02020603050405020304" pitchFamily="18" charset="0"/>
              </a:rPr>
              <a:t>Up to 5-dual wheel configuration</a:t>
            </a:r>
          </a:p>
          <a:p>
            <a:pPr marL="152396" lvl="1">
              <a:buFont typeface="Arial" panose="020B0604020202020204" pitchFamily="34" charset="0"/>
              <a:buChar char="•"/>
              <a:defRPr/>
            </a:pPr>
            <a:r>
              <a:rPr lang="en-US" sz="2133" dirty="0">
                <a:latin typeface="+mj-lt"/>
                <a:cs typeface="Times New Roman" panose="02020603050405020304" pitchFamily="18" charset="0"/>
              </a:rPr>
              <a:t>Roughly 1.3 million lbs.</a:t>
            </a:r>
          </a:p>
          <a:p>
            <a:pPr marL="152396" lvl="1">
              <a:buFont typeface="Arial" panose="020B0604020202020204" pitchFamily="34" charset="0"/>
              <a:buChar char="•"/>
              <a:defRPr/>
            </a:pPr>
            <a:r>
              <a:rPr lang="en-US" sz="2133" dirty="0">
                <a:latin typeface="+mj-lt"/>
                <a:cs typeface="Times New Roman" panose="02020603050405020304" pitchFamily="18" charset="0"/>
              </a:rPr>
              <a:t>Up to 75,000 lbs. per wheel</a:t>
            </a:r>
          </a:p>
        </p:txBody>
      </p:sp>
      <p:pic>
        <p:nvPicPr>
          <p:cNvPr id="13317" name="Picture 6" descr="P903000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77817" y="3417052"/>
            <a:ext cx="3437752" cy="257831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E:\ACC Export - 2017-03-27 10.39.19 AM.jp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93596" y="954089"/>
            <a:ext cx="4374555" cy="2460687"/>
          </a:xfrm>
          <a:prstGeom prst="rect">
            <a:avLst/>
          </a:prstGeom>
          <a:noFill/>
          <a:ln w="25400"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834188" y="4686300"/>
            <a:ext cx="1707316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i="0" kern="1200">
                <a:solidFill>
                  <a:schemeClr val="bg1">
                    <a:lumMod val="65000"/>
                  </a:schemeClr>
                </a:solidFill>
                <a:latin typeface="Helvetica Neue Medium"/>
                <a:ea typeface="+mn-ea"/>
                <a:cs typeface="Helvetica Neue Medium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78D3ABA1-EA94-43C0-B992-7CBCC31144F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57935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Airport Pavement Materials Research Center (NAPMRC)</a:t>
            </a:r>
          </a:p>
        </p:txBody>
      </p:sp>
      <p:sp>
        <p:nvSpPr>
          <p:cNvPr id="152580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571500" y="1228436"/>
            <a:ext cx="4942609" cy="336203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NAPMRC Facts: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133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Dedication Ceremony August 2015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133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and Outdoor Testing Capability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133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Accelerated Traffic Testing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133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Outdoor: 150ft. × 300ft. &amp; Indoor: 72ft. × 300ft.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133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Accelerated resurfacing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514107" y="858982"/>
            <a:ext cx="6428512" cy="341910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Vehicle Simulator – (HVS-A) Facts:</a:t>
            </a:r>
          </a:p>
          <a:p>
            <a:pPr marL="152396" lvl="1">
              <a:buFont typeface="Arial" panose="020B0604020202020204" pitchFamily="34" charset="0"/>
              <a:buChar char="•"/>
              <a:defRPr/>
            </a:pPr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Control Capability up to 150°F </a:t>
            </a:r>
          </a:p>
          <a:p>
            <a:pPr marL="152396" lvl="1">
              <a:buFont typeface="Arial" panose="020B0604020202020204" pitchFamily="34" charset="0"/>
              <a:buChar char="•"/>
              <a:defRPr/>
            </a:pPr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Wheel Load Capacity 10,000 to 100,000 lbs.</a:t>
            </a:r>
          </a:p>
          <a:p>
            <a:pPr marL="152396" lvl="1">
              <a:buFont typeface="Arial" panose="020B0604020202020204" pitchFamily="34" charset="0"/>
              <a:buChar char="•"/>
              <a:defRPr/>
            </a:pPr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Wheel – radial aircraft tire size 52×21.0R22</a:t>
            </a:r>
          </a:p>
          <a:p>
            <a:pPr marL="152396" lvl="1">
              <a:buFont typeface="Arial" panose="020B0604020202020204" pitchFamily="34" charset="0"/>
              <a:buChar char="•"/>
              <a:defRPr/>
            </a:pPr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Wheel (B737-800)</a:t>
            </a:r>
            <a:r>
              <a:rPr lang="en-US" sz="1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80990" lvl="1">
              <a:buFont typeface="Arial" panose="020B0604020202020204" pitchFamily="34" charset="0"/>
              <a:buChar char="•"/>
              <a:defRPr/>
            </a:pPr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Automated &amp; Programmed Wander Patterns up to 6 ft. </a:t>
            </a:r>
          </a:p>
          <a:p>
            <a:pPr marL="152396" lvl="1">
              <a:buFont typeface="Arial" panose="020B0604020202020204" pitchFamily="34" charset="0"/>
              <a:buChar char="•"/>
              <a:defRPr/>
            </a:pPr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Speeds 0.17 to 5 mph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2654" y="3971638"/>
            <a:ext cx="8494343" cy="2020377"/>
          </a:xfrm>
          <a:prstGeom prst="rect">
            <a:avLst/>
          </a:prstGeom>
        </p:spPr>
      </p:pic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969125" y="4686300"/>
            <a:ext cx="158704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i="0" kern="1200">
                <a:solidFill>
                  <a:schemeClr val="bg1">
                    <a:lumMod val="65000"/>
                  </a:schemeClr>
                </a:solidFill>
                <a:latin typeface="Helvetica Neue Medium"/>
                <a:ea typeface="+mn-ea"/>
                <a:cs typeface="Helvetica Neue Medium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836266C2-23C9-4679-9EA6-D74DA6C8C2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05397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/>
          <p:cNvSpPr>
            <a:spLocks noGrp="1"/>
          </p:cNvSpPr>
          <p:nvPr>
            <p:ph type="title"/>
          </p:nvPr>
        </p:nvSpPr>
        <p:spPr>
          <a:xfrm>
            <a:off x="406401" y="344488"/>
            <a:ext cx="11194473" cy="60960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FAA NextGen Pavement Materials Lab</a:t>
            </a:r>
          </a:p>
        </p:txBody>
      </p:sp>
      <p:sp>
        <p:nvSpPr>
          <p:cNvPr id="14" name="Content Placeholder 7"/>
          <p:cNvSpPr>
            <a:spLocks noGrp="1"/>
          </p:cNvSpPr>
          <p:nvPr>
            <p:ph sz="half" idx="1"/>
          </p:nvPr>
        </p:nvSpPr>
        <p:spPr>
          <a:xfrm>
            <a:off x="286327" y="1222218"/>
            <a:ext cx="7375647" cy="4855309"/>
          </a:xfrm>
        </p:spPr>
        <p:txBody>
          <a:bodyPr/>
          <a:lstStyle/>
          <a:p>
            <a:r>
              <a:rPr lang="en-US" sz="1867" dirty="0">
                <a:latin typeface="+mj-lt"/>
                <a:cs typeface="Times New Roman" panose="02020603050405020304" pitchFamily="18" charset="0"/>
              </a:rPr>
              <a:t>2010:  Laboratory Opened</a:t>
            </a:r>
          </a:p>
          <a:p>
            <a:r>
              <a:rPr lang="en-US" sz="1867" dirty="0">
                <a:latin typeface="+mj-lt"/>
                <a:cs typeface="Times New Roman" panose="02020603050405020304" pitchFamily="18" charset="0"/>
              </a:rPr>
              <a:t>2013:  AASHTO Material Reference Laboratory (AMRL) </a:t>
            </a:r>
          </a:p>
          <a:p>
            <a:r>
              <a:rPr lang="en-US" sz="1867" dirty="0">
                <a:latin typeface="+mj-lt"/>
                <a:cs typeface="Times New Roman" panose="02020603050405020304" pitchFamily="18" charset="0"/>
              </a:rPr>
              <a:t>2013:  Cement and Concrete Reference Laboratory (CCRL) </a:t>
            </a:r>
          </a:p>
          <a:p>
            <a:r>
              <a:rPr lang="en-US" sz="1867" dirty="0">
                <a:latin typeface="+mj-lt"/>
                <a:cs typeface="Times New Roman" panose="02020603050405020304" pitchFamily="18" charset="0"/>
              </a:rPr>
              <a:t>Full Test Capabilities: Asphalt, Concrete, Aggregate, Soils</a:t>
            </a:r>
          </a:p>
          <a:p>
            <a:r>
              <a:rPr lang="en-US" sz="1867" dirty="0">
                <a:latin typeface="+mj-lt"/>
                <a:cs typeface="Times New Roman" panose="02020603050405020304" pitchFamily="18" charset="0"/>
              </a:rPr>
              <a:t>Advanced Test Capabilities: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67" dirty="0">
                <a:latin typeface="+mj-lt"/>
                <a:cs typeface="Times New Roman" panose="02020603050405020304" pitchFamily="18" charset="0"/>
              </a:rPr>
              <a:t>Asphalt Pavement Analyzer (APA)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67" dirty="0">
                <a:latin typeface="+mj-lt"/>
                <a:cs typeface="Times New Roman" panose="02020603050405020304" pitchFamily="18" charset="0"/>
              </a:rPr>
              <a:t>Asphalt and Concrete Flexural Beam Fatigue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67" dirty="0">
                <a:latin typeface="+mj-lt"/>
                <a:cs typeface="Times New Roman" panose="02020603050405020304" pitchFamily="18" charset="0"/>
              </a:rPr>
              <a:t>Semi-Circular Beam (SCB)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67" dirty="0">
                <a:latin typeface="+mj-lt"/>
                <a:cs typeface="Times New Roman" panose="02020603050405020304" pitchFamily="18" charset="0"/>
              </a:rPr>
              <a:t>Disk-Shaped Compact Tension (DCT)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67" dirty="0">
                <a:latin typeface="+mj-lt"/>
                <a:cs typeface="Times New Roman" panose="02020603050405020304" pitchFamily="18" charset="0"/>
              </a:rPr>
              <a:t>High Temperature Indirect Tension (IDT)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67" dirty="0">
                <a:latin typeface="+mj-lt"/>
                <a:cs typeface="Times New Roman" panose="02020603050405020304" pitchFamily="18" charset="0"/>
              </a:rPr>
              <a:t>Overlay Tester</a:t>
            </a:r>
          </a:p>
          <a:p>
            <a:r>
              <a:rPr lang="en-US" sz="1867" dirty="0">
                <a:latin typeface="+mj-lt"/>
                <a:cs typeface="Times New Roman" panose="02020603050405020304" pitchFamily="18" charset="0"/>
              </a:rPr>
              <a:t>Benefits to the NAPTF: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67" dirty="0">
                <a:latin typeface="+mj-lt"/>
                <a:cs typeface="Times New Roman" panose="02020603050405020304" pitchFamily="18" charset="0"/>
              </a:rPr>
              <a:t>Quality Control of Testing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67" dirty="0">
                <a:latin typeface="+mj-lt"/>
                <a:cs typeface="Times New Roman" panose="02020603050405020304" pitchFamily="18" charset="0"/>
              </a:rPr>
              <a:t>Expedient Testing of Materials During Construction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67" dirty="0">
                <a:latin typeface="+mj-lt"/>
                <a:cs typeface="Times New Roman" panose="02020603050405020304" pitchFamily="18" charset="0"/>
              </a:rPr>
              <a:t>Perform Advanced Materials Characterization On-site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67" dirty="0">
                <a:latin typeface="+mj-lt"/>
                <a:cs typeface="Times New Roman" panose="02020603050405020304" pitchFamily="18" charset="0"/>
              </a:rPr>
              <a:t>Development of Performance Based Specification</a:t>
            </a:r>
          </a:p>
          <a:p>
            <a:pPr marL="457189" lvl="1" indent="0">
              <a:buNone/>
            </a:pPr>
            <a:endParaRPr lang="en-US" sz="16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14688" y="2181885"/>
            <a:ext cx="4088797" cy="26047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749635" y="4697238"/>
            <a:ext cx="1491563" cy="994375"/>
          </a:xfrm>
          <a:prstGeom prst="rect">
            <a:avLst/>
          </a:prstGeom>
          <a:ln w="19050"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63500"/>
          </a:effec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665435" y="4501782"/>
            <a:ext cx="1531244" cy="1020829"/>
          </a:xfrm>
          <a:prstGeom prst="rect">
            <a:avLst/>
          </a:prstGeom>
          <a:ln w="19050"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63500"/>
          </a:effectLst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59086" y="4354719"/>
            <a:ext cx="2380655" cy="1815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9" name="Picture 6" descr="C:\Users\Benjamin Mahaffay\Downloads\IMG_1775.JPG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00079" y="1144696"/>
            <a:ext cx="2185048" cy="1638787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41474" y="1004932"/>
            <a:ext cx="1670380" cy="210135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834188" y="4686300"/>
            <a:ext cx="1707316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i="0" kern="1200">
                <a:solidFill>
                  <a:schemeClr val="bg1">
                    <a:lumMod val="65000"/>
                  </a:schemeClr>
                </a:solidFill>
                <a:latin typeface="Helvetica Neue Medium"/>
                <a:ea typeface="+mn-ea"/>
                <a:cs typeface="Helvetica Neue Medium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78D3ABA1-EA94-43C0-B992-7CBCC31144F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824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227" y="2857500"/>
            <a:ext cx="10363200" cy="571500"/>
          </a:xfrm>
        </p:spPr>
        <p:txBody>
          <a:bodyPr/>
          <a:lstStyle/>
          <a:p>
            <a:pPr algn="ctr"/>
            <a:r>
              <a: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Introduction</a:t>
            </a:r>
            <a:endParaRPr lang="en-US" sz="40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792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DCCE62-E4E6-48EB-BC8C-CDD88B1456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172" y="1393541"/>
            <a:ext cx="7520674" cy="40709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46" name="Slide Number Placeholder 3">
            <a:extLst>
              <a:ext uri="{FF2B5EF4-FFF2-40B4-BE49-F238E27FC236}">
                <a16:creationId xmlns:a16="http://schemas.microsoft.com/office/drawing/2014/main" id="{3E1ADF7F-6063-4AB9-ADE1-50BE935430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BFFD12-2468-48AB-A160-866DCFE8D807}" type="slidenum">
              <a:rPr lang="en-US" altLang="en-US" sz="1400" b="0">
                <a:solidFill>
                  <a:schemeClr val="bg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b="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0B557F1-F291-4047-9F1F-BB680C1476C7}"/>
              </a:ext>
            </a:extLst>
          </p:cNvPr>
          <p:cNvSpPr txBox="1">
            <a:spLocks/>
          </p:cNvSpPr>
          <p:nvPr/>
        </p:nvSpPr>
        <p:spPr>
          <a:xfrm>
            <a:off x="562622" y="301625"/>
            <a:ext cx="11296651" cy="6096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9pPr>
          </a:lstStyle>
          <a:p>
            <a:pPr algn="ctr"/>
            <a:r>
              <a:rPr lang="en-US" sz="36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BAKFAA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D6CDD45-38DD-4ADA-96F6-EB2039F2B31F}"/>
              </a:ext>
            </a:extLst>
          </p:cNvPr>
          <p:cNvSpPr txBox="1">
            <a:spLocks/>
          </p:cNvSpPr>
          <p:nvPr/>
        </p:nvSpPr>
        <p:spPr>
          <a:xfrm>
            <a:off x="172342" y="1237461"/>
            <a:ext cx="4422444" cy="472088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program developed by the FAA for backcalculation of pavement layer modulus values using HWD/FWD data.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Publicly available and free to use (source code available).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Descriptions of use included in FAA AC 150/5370-11B ‘Use of Nondestructive Testing in the Evaluation of Airport Pavements’.</a:t>
            </a:r>
          </a:p>
          <a:p>
            <a:pPr>
              <a:lnSpc>
                <a:spcPct val="80000"/>
              </a:lnSpc>
            </a:pPr>
            <a:endParaRPr lang="en-US" altLang="en-US" sz="24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227" y="2857500"/>
            <a:ext cx="10363200" cy="571500"/>
          </a:xfrm>
        </p:spPr>
        <p:txBody>
          <a:bodyPr/>
          <a:lstStyle/>
          <a:p>
            <a:pPr algn="ctr"/>
            <a:r>
              <a: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Main Features</a:t>
            </a:r>
            <a:endParaRPr lang="en-US" sz="40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118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7729D-E3EB-47D8-AAA2-85A4DED0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2" y="301625"/>
            <a:ext cx="11296651" cy="609600"/>
          </a:xfrm>
        </p:spPr>
        <p:txBody>
          <a:bodyPr/>
          <a:lstStyle/>
          <a:p>
            <a:pPr algn="ctr"/>
            <a:r>
              <a:rPr lang="en-US" sz="36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Main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4BAD4-3397-4C1D-9C5D-AF2997E67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177" y="911225"/>
            <a:ext cx="9800947" cy="4699461"/>
          </a:xfrm>
        </p:spPr>
        <p:txBody>
          <a:bodyPr>
            <a:normAutofit/>
          </a:bodyPr>
          <a:lstStyle/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as a Visual Basic .Net application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switch between English and Metric units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 library of FAA standard pavement material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import different FWD file formats from leading FWD manufacturers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a proprietary manufacturer’s FWD file into PDDX format file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File Parser: file processing class to read proprietary manufacturer’s file 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identify and flag FWD drops with anomalies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for editing FWD data and deleting FWD test points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perform backcalculation analysis in single analysis or batch analysis modes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graphs of backcalculated modulus values and measured and calculated deflections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and displays Load Transfer Efficiency (LTE)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analysis to calculate pavement responses under aircraft gear or FWD load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21280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227" y="2857500"/>
            <a:ext cx="10363200" cy="571500"/>
          </a:xfrm>
        </p:spPr>
        <p:txBody>
          <a:bodyPr/>
          <a:lstStyle/>
          <a:p>
            <a:pPr algn="ctr"/>
            <a:r>
              <a: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Modular Interface</a:t>
            </a:r>
            <a:endParaRPr lang="en-US" sz="40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193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992003-E6E7-407E-B53E-56B0A3C74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177" y="911225"/>
            <a:ext cx="9800947" cy="4699461"/>
          </a:xfrm>
        </p:spPr>
        <p:txBody>
          <a:bodyPr>
            <a:normAutofit/>
          </a:bodyPr>
          <a:lstStyle/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user interface </a:t>
            </a:r>
            <a:r>
              <a:rPr 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was overhauled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functions are divided into ‘modules’ that serve a specific purpose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are user-configurable: resize, reposition, or remove as desired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program controls relocated and organized in a toolbar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Modules:</a:t>
            </a:r>
          </a:p>
          <a:p>
            <a:pPr lvl="1"/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</a:p>
          <a:p>
            <a:pPr lvl="1"/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Drops/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Load</a:t>
            </a:r>
            <a:endParaRPr lang="en-US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Options</a:t>
            </a:r>
          </a:p>
          <a:p>
            <a:pPr lvl="1"/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LTE Calculation</a:t>
            </a:r>
          </a:p>
          <a:p>
            <a:pPr lvl="1"/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(FWD) Explorer</a:t>
            </a:r>
          </a:p>
          <a:p>
            <a:pPr lvl="1"/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</a:p>
          <a:p>
            <a:pPr lvl="1"/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 Details</a:t>
            </a:r>
          </a:p>
          <a:p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672216-9DCC-41CA-8D67-A46C477E210B}"/>
              </a:ext>
            </a:extLst>
          </p:cNvPr>
          <p:cNvSpPr txBox="1">
            <a:spLocks/>
          </p:cNvSpPr>
          <p:nvPr/>
        </p:nvSpPr>
        <p:spPr bwMode="auto">
          <a:xfrm>
            <a:off x="562622" y="301625"/>
            <a:ext cx="11296651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9pPr>
          </a:lstStyle>
          <a:p>
            <a:pPr algn="ctr"/>
            <a:r>
              <a:rPr lang="en-US" sz="36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Modular Interface</a:t>
            </a:r>
          </a:p>
        </p:txBody>
      </p:sp>
    </p:spTree>
    <p:extLst>
      <p:ext uri="{BB962C8B-B14F-4D97-AF65-F5344CB8AC3E}">
        <p14:creationId xmlns:p14="http://schemas.microsoft.com/office/powerpoint/2010/main" val="1698912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B53C58-0741-4F77-B59F-B41A1CCB0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185" y="724264"/>
            <a:ext cx="9687629" cy="52700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C533F5-668C-4143-B957-12F2D9A3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62" y="114664"/>
            <a:ext cx="11296651" cy="609600"/>
          </a:xfrm>
        </p:spPr>
        <p:txBody>
          <a:bodyPr/>
          <a:lstStyle/>
          <a:p>
            <a:pPr algn="ctr"/>
            <a:r>
              <a:rPr lang="en-US" sz="36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Modular Interface</a:t>
            </a:r>
          </a:p>
        </p:txBody>
      </p:sp>
    </p:spTree>
    <p:extLst>
      <p:ext uri="{BB962C8B-B14F-4D97-AF65-F5344CB8AC3E}">
        <p14:creationId xmlns:p14="http://schemas.microsoft.com/office/powerpoint/2010/main" val="3935588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533F5-668C-4143-B957-12F2D9A3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62" y="114664"/>
            <a:ext cx="11296651" cy="609600"/>
          </a:xfrm>
        </p:spPr>
        <p:txBody>
          <a:bodyPr/>
          <a:lstStyle/>
          <a:p>
            <a:pPr algn="ctr"/>
            <a:r>
              <a:rPr lang="en-US" sz="36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Modular Interface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A2E2290-B4E5-4E95-81FC-5E9F74F5DFB6}"/>
              </a:ext>
            </a:extLst>
          </p:cNvPr>
          <p:cNvSpPr txBox="1">
            <a:spLocks/>
          </p:cNvSpPr>
          <p:nvPr/>
        </p:nvSpPr>
        <p:spPr bwMode="auto">
          <a:xfrm>
            <a:off x="726839" y="742395"/>
            <a:ext cx="103632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9pPr>
          </a:lstStyle>
          <a:p>
            <a:pPr algn="ctr"/>
            <a:b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Adjustment</a:t>
            </a:r>
            <a:br>
              <a:rPr lang="en-US" kern="0" dirty="0"/>
            </a:br>
            <a:endParaRPr lang="en-US" kern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F9B6D5-5C0B-4DDA-A6F5-3B8EDCE27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231260"/>
            <a:ext cx="5943600" cy="46672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6915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533F5-668C-4143-B957-12F2D9A3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62" y="114664"/>
            <a:ext cx="11296651" cy="609600"/>
          </a:xfrm>
        </p:spPr>
        <p:txBody>
          <a:bodyPr/>
          <a:lstStyle/>
          <a:p>
            <a:pPr algn="ctr"/>
            <a:r>
              <a:rPr lang="en-US" sz="36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Modular Interface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A2E2290-B4E5-4E95-81FC-5E9F74F5DFB6}"/>
              </a:ext>
            </a:extLst>
          </p:cNvPr>
          <p:cNvSpPr txBox="1">
            <a:spLocks/>
          </p:cNvSpPr>
          <p:nvPr/>
        </p:nvSpPr>
        <p:spPr bwMode="auto">
          <a:xfrm>
            <a:off x="726839" y="742395"/>
            <a:ext cx="103632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9pPr>
          </a:lstStyle>
          <a:p>
            <a:pPr algn="ctr"/>
            <a:b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Adjustment</a:t>
            </a:r>
            <a:br>
              <a:rPr lang="en-US" kern="0" dirty="0"/>
            </a:br>
            <a:endParaRPr lang="en-US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4C9F24-7AE7-45A6-81AC-43E785225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133" y="1332026"/>
            <a:ext cx="5113734" cy="46247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5568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A98132-F6CE-4996-A138-826075ED7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735" y="1313895"/>
            <a:ext cx="5216529" cy="47210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C533F5-668C-4143-B957-12F2D9A3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62" y="114664"/>
            <a:ext cx="11296651" cy="609600"/>
          </a:xfrm>
        </p:spPr>
        <p:txBody>
          <a:bodyPr/>
          <a:lstStyle/>
          <a:p>
            <a:pPr algn="ctr"/>
            <a:r>
              <a:rPr lang="en-US" sz="36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Modular Interface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A2E2290-B4E5-4E95-81FC-5E9F74F5DFB6}"/>
              </a:ext>
            </a:extLst>
          </p:cNvPr>
          <p:cNvSpPr txBox="1">
            <a:spLocks/>
          </p:cNvSpPr>
          <p:nvPr/>
        </p:nvSpPr>
        <p:spPr bwMode="auto">
          <a:xfrm>
            <a:off x="726839" y="742395"/>
            <a:ext cx="103632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9pPr>
          </a:lstStyle>
          <a:p>
            <a:pPr algn="ctr"/>
            <a:b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Adjustment</a:t>
            </a:r>
            <a:br>
              <a:rPr lang="en-US" kern="0" dirty="0"/>
            </a:b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625604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FD156F-9BE0-44E3-9A20-A73EFDFD7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359" y="1285614"/>
            <a:ext cx="6160008" cy="4718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C533F5-668C-4143-B957-12F2D9A3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62" y="114664"/>
            <a:ext cx="11296651" cy="609600"/>
          </a:xfrm>
        </p:spPr>
        <p:txBody>
          <a:bodyPr/>
          <a:lstStyle/>
          <a:p>
            <a:pPr algn="ctr"/>
            <a:r>
              <a:rPr lang="en-US" sz="36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Modular Interface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A2E2290-B4E5-4E95-81FC-5E9F74F5DFB6}"/>
              </a:ext>
            </a:extLst>
          </p:cNvPr>
          <p:cNvSpPr txBox="1">
            <a:spLocks/>
          </p:cNvSpPr>
          <p:nvPr/>
        </p:nvSpPr>
        <p:spPr bwMode="auto">
          <a:xfrm>
            <a:off x="726839" y="742395"/>
            <a:ext cx="103632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9pPr>
          </a:lstStyle>
          <a:p>
            <a:pPr algn="ctr"/>
            <a:b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Adjustment</a:t>
            </a:r>
            <a:br>
              <a:rPr lang="en-US" kern="0" dirty="0"/>
            </a:b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612783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DF0820-8419-46FF-934D-E5844ACED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172" y="1311893"/>
            <a:ext cx="9593656" cy="47245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C533F5-668C-4143-B957-12F2D9A3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62" y="114664"/>
            <a:ext cx="11296651" cy="609600"/>
          </a:xfrm>
        </p:spPr>
        <p:txBody>
          <a:bodyPr/>
          <a:lstStyle/>
          <a:p>
            <a:pPr algn="ctr"/>
            <a:r>
              <a:rPr lang="en-US" sz="36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Modular Interface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A2E2290-B4E5-4E95-81FC-5E9F74F5DFB6}"/>
              </a:ext>
            </a:extLst>
          </p:cNvPr>
          <p:cNvSpPr txBox="1">
            <a:spLocks/>
          </p:cNvSpPr>
          <p:nvPr/>
        </p:nvSpPr>
        <p:spPr bwMode="auto">
          <a:xfrm>
            <a:off x="726839" y="742395"/>
            <a:ext cx="103632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9pPr>
          </a:lstStyle>
          <a:p>
            <a:pPr algn="ctr"/>
            <a:b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Module</a:t>
            </a:r>
            <a:br>
              <a:rPr lang="en-US" kern="0" dirty="0"/>
            </a:br>
            <a:endParaRPr lang="en-US" kern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56AFA71-C9BC-452A-B2D4-3A1EF42623FC}"/>
              </a:ext>
            </a:extLst>
          </p:cNvPr>
          <p:cNvGrpSpPr/>
          <p:nvPr/>
        </p:nvGrpSpPr>
        <p:grpSpPr>
          <a:xfrm>
            <a:off x="717786" y="2805808"/>
            <a:ext cx="1078602" cy="715188"/>
            <a:chOff x="935424" y="956201"/>
            <a:chExt cx="1191527" cy="888209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1A88CE9A-F638-4452-9035-D13E6237FBBD}"/>
                </a:ext>
              </a:extLst>
            </p:cNvPr>
            <p:cNvSpPr/>
            <p:nvPr/>
          </p:nvSpPr>
          <p:spPr bwMode="auto">
            <a:xfrm>
              <a:off x="935424" y="956201"/>
              <a:ext cx="1131926" cy="888209"/>
            </a:xfrm>
            <a:prstGeom prst="rightArrow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bg1"/>
                </a:buClr>
                <a:buSzPct val="100000"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F8F24CD-CF3B-42E7-BF29-56E185596EE9}"/>
                </a:ext>
              </a:extLst>
            </p:cNvPr>
            <p:cNvSpPr txBox="1"/>
            <p:nvPr/>
          </p:nvSpPr>
          <p:spPr>
            <a:xfrm>
              <a:off x="935426" y="1143833"/>
              <a:ext cx="1191525" cy="5351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Pavement Structure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D92DFF2-1C55-4E02-8860-569C76D3840E}"/>
              </a:ext>
            </a:extLst>
          </p:cNvPr>
          <p:cNvGrpSpPr/>
          <p:nvPr/>
        </p:nvGrpSpPr>
        <p:grpSpPr>
          <a:xfrm>
            <a:off x="6144646" y="4112397"/>
            <a:ext cx="1105893" cy="715188"/>
            <a:chOff x="6099511" y="4136815"/>
            <a:chExt cx="1105893" cy="715188"/>
          </a:xfrm>
        </p:grpSpPr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74450D19-7C64-4793-A47F-8826ADFBCC4E}"/>
                </a:ext>
              </a:extLst>
            </p:cNvPr>
            <p:cNvSpPr/>
            <p:nvPr/>
          </p:nvSpPr>
          <p:spPr bwMode="auto">
            <a:xfrm>
              <a:off x="6099511" y="4136815"/>
              <a:ext cx="1024649" cy="715188"/>
            </a:xfrm>
            <a:prstGeom prst="rightArrow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bg1"/>
                </a:buClr>
                <a:buSzPct val="100000"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6B00311-D8AB-4A0F-A673-FE5E9CA93A05}"/>
                </a:ext>
              </a:extLst>
            </p:cNvPr>
            <p:cNvSpPr txBox="1"/>
            <p:nvPr/>
          </p:nvSpPr>
          <p:spPr>
            <a:xfrm>
              <a:off x="6126804" y="4278965"/>
              <a:ext cx="1078600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Sensor </a:t>
              </a:r>
              <a:br>
                <a:rPr lang="en-US" sz="1100" dirty="0"/>
              </a:br>
              <a:r>
                <a:rPr lang="en-US" sz="1100" dirty="0"/>
                <a:t>Table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55F1163-69A5-4C83-9437-1A0A26F56B1C}"/>
              </a:ext>
            </a:extLst>
          </p:cNvPr>
          <p:cNvGrpSpPr/>
          <p:nvPr/>
        </p:nvGrpSpPr>
        <p:grpSpPr>
          <a:xfrm>
            <a:off x="1423756" y="4737780"/>
            <a:ext cx="1078601" cy="715188"/>
            <a:chOff x="935424" y="956201"/>
            <a:chExt cx="1191526" cy="888209"/>
          </a:xfrm>
        </p:grpSpPr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F2F340D7-EEDB-46F0-B167-DF896BD76726}"/>
                </a:ext>
              </a:extLst>
            </p:cNvPr>
            <p:cNvSpPr/>
            <p:nvPr/>
          </p:nvSpPr>
          <p:spPr bwMode="auto">
            <a:xfrm>
              <a:off x="935424" y="956201"/>
              <a:ext cx="1131926" cy="888209"/>
            </a:xfrm>
            <a:prstGeom prst="rightArrow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bg1"/>
                </a:buClr>
                <a:buSzPct val="100000"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14F6C4F-EC8F-40AB-A9EE-B707036E3670}"/>
                </a:ext>
              </a:extLst>
            </p:cNvPr>
            <p:cNvSpPr txBox="1"/>
            <p:nvPr/>
          </p:nvSpPr>
          <p:spPr>
            <a:xfrm>
              <a:off x="935425" y="1143833"/>
              <a:ext cx="1191525" cy="5351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Deflection Graph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F400AAF-C337-4B98-9A69-CEE19199E598}"/>
              </a:ext>
            </a:extLst>
          </p:cNvPr>
          <p:cNvGrpSpPr/>
          <p:nvPr/>
        </p:nvGrpSpPr>
        <p:grpSpPr>
          <a:xfrm>
            <a:off x="4611710" y="1459976"/>
            <a:ext cx="1532936" cy="588887"/>
            <a:chOff x="6099253" y="1045973"/>
            <a:chExt cx="1532936" cy="588887"/>
          </a:xfrm>
        </p:grpSpPr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4D00736F-9159-4554-BE20-B7E85A8CDB4E}"/>
                </a:ext>
              </a:extLst>
            </p:cNvPr>
            <p:cNvSpPr/>
            <p:nvPr/>
          </p:nvSpPr>
          <p:spPr bwMode="auto">
            <a:xfrm>
              <a:off x="6173664" y="1045973"/>
              <a:ext cx="1234555" cy="588887"/>
            </a:xfrm>
            <a:prstGeom prst="rightArrow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bg1"/>
                </a:buClr>
                <a:buSzPct val="100000"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BA4B9FD-0507-4666-B58E-5BF585DE4107}"/>
                </a:ext>
              </a:extLst>
            </p:cNvPr>
            <p:cNvSpPr txBox="1"/>
            <p:nvPr/>
          </p:nvSpPr>
          <p:spPr>
            <a:xfrm>
              <a:off x="6099253" y="1209611"/>
              <a:ext cx="15329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Backcalculation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3193220-78B0-42E7-BAA9-957F00F45682}"/>
              </a:ext>
            </a:extLst>
          </p:cNvPr>
          <p:cNvGrpSpPr/>
          <p:nvPr/>
        </p:nvGrpSpPr>
        <p:grpSpPr>
          <a:xfrm>
            <a:off x="7870254" y="1623614"/>
            <a:ext cx="1296965" cy="529273"/>
            <a:chOff x="8660473" y="1859085"/>
            <a:chExt cx="1296965" cy="529273"/>
          </a:xfrm>
        </p:grpSpPr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CECDB96F-A652-4957-87C5-7EE5E3CCB216}"/>
                </a:ext>
              </a:extLst>
            </p:cNvPr>
            <p:cNvSpPr/>
            <p:nvPr/>
          </p:nvSpPr>
          <p:spPr bwMode="auto">
            <a:xfrm rot="10800000">
              <a:off x="8660473" y="1859085"/>
              <a:ext cx="879312" cy="529273"/>
            </a:xfrm>
            <a:prstGeom prst="rightArrow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bg1"/>
                </a:buClr>
                <a:buSzPct val="100000"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AAE3F25-8047-4FCD-99B0-0E2B97E6725A}"/>
                </a:ext>
              </a:extLst>
            </p:cNvPr>
            <p:cNvSpPr txBox="1"/>
            <p:nvPr/>
          </p:nvSpPr>
          <p:spPr>
            <a:xfrm>
              <a:off x="8878838" y="1992916"/>
              <a:ext cx="1078600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Status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AEA0566-7191-4CCA-BE44-24946F8A0761}"/>
              </a:ext>
            </a:extLst>
          </p:cNvPr>
          <p:cNvSpPr/>
          <p:nvPr/>
        </p:nvSpPr>
        <p:spPr>
          <a:xfrm>
            <a:off x="2104864" y="3945590"/>
            <a:ext cx="448056" cy="20116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642C35-AE97-4336-9A03-815EAAD05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818" y="3962349"/>
            <a:ext cx="4609637" cy="1583758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3AF1DEDC-10CF-4D77-BDD1-C2BF557C0756}"/>
              </a:ext>
            </a:extLst>
          </p:cNvPr>
          <p:cNvSpPr/>
          <p:nvPr/>
        </p:nvSpPr>
        <p:spPr>
          <a:xfrm>
            <a:off x="7196587" y="3945590"/>
            <a:ext cx="4632606" cy="160051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123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227" y="2857500"/>
            <a:ext cx="10363200" cy="571500"/>
          </a:xfrm>
        </p:spPr>
        <p:txBody>
          <a:bodyPr/>
          <a:lstStyle/>
          <a:p>
            <a:pPr algn="ctr"/>
            <a:r>
              <a:rPr lang="en-US" sz="40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Data</a:t>
            </a:r>
          </a:p>
        </p:txBody>
      </p:sp>
    </p:spTree>
    <p:extLst>
      <p:ext uri="{BB962C8B-B14F-4D97-AF65-F5344CB8AC3E}">
        <p14:creationId xmlns:p14="http://schemas.microsoft.com/office/powerpoint/2010/main" val="1810135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Test Information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342" y="1237461"/>
            <a:ext cx="6208794" cy="4720887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sensor number </a:t>
            </a:r>
          </a:p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sensor offset from FWD load plate</a:t>
            </a:r>
          </a:p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Defln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FWD sensor deflection</a:t>
            </a: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07C11E-C16E-40AD-922E-132BC2EC5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068" y="2959617"/>
            <a:ext cx="8011067" cy="257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99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Information updates after Backcalculation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342" y="1237461"/>
            <a:ext cx="6208794" cy="4720887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 Sensor at Offset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allows user to exclude any of the sensors in backcalculation analysis.</a:t>
            </a:r>
          </a:p>
          <a:p>
            <a:pPr marL="0" indent="0">
              <a:buNone/>
            </a:pP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C9AFD-4FF2-41D4-8CB8-9D4009AFA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106" y="2753657"/>
            <a:ext cx="7014060" cy="286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04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Information updates after Backcalculation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55" y="1759974"/>
            <a:ext cx="5450536" cy="2058851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Deflection Graph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plot of measured and calculated deflections.</a:t>
            </a: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99184F-717B-46A6-ABFB-2E547236F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870" y="3164578"/>
            <a:ext cx="6338004" cy="2163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A46777-4670-4AB8-BDBA-1636C58E6E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266"/>
          <a:stretch/>
        </p:blipFill>
        <p:spPr>
          <a:xfrm>
            <a:off x="419105" y="3164577"/>
            <a:ext cx="4951941" cy="2163823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45CA80E-4D5E-4B87-9DD0-04FFD91D7F7B}"/>
              </a:ext>
            </a:extLst>
          </p:cNvPr>
          <p:cNvSpPr txBox="1">
            <a:spLocks/>
          </p:cNvSpPr>
          <p:nvPr/>
        </p:nvSpPr>
        <p:spPr bwMode="auto">
          <a:xfrm>
            <a:off x="5667563" y="1759974"/>
            <a:ext cx="6208794" cy="2040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b="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</a:t>
            </a:r>
            <a:r>
              <a:rPr lang="en-US" sz="24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calculated deflections. Will update after the backcalculation is done.</a:t>
            </a:r>
          </a:p>
          <a:p>
            <a:endParaRPr lang="en-US" b="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800735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Load/View FWD File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96C1C4-A172-48D1-B343-9FF166633F84}"/>
              </a:ext>
            </a:extLst>
          </p:cNvPr>
          <p:cNvSpPr txBox="1">
            <a:spLocks/>
          </p:cNvSpPr>
          <p:nvPr/>
        </p:nvSpPr>
        <p:spPr bwMode="auto">
          <a:xfrm>
            <a:off x="172342" y="1237462"/>
            <a:ext cx="6208794" cy="1397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FWD File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import FWD file</a:t>
            </a:r>
          </a:p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FWD File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open FWD file viewer</a:t>
            </a:r>
          </a:p>
          <a:p>
            <a:pPr marL="0" indent="0">
              <a:buNone/>
            </a:pPr>
            <a:endParaRPr lang="en-US" sz="2400" b="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B516A4-8E23-44D5-82F3-D169DBF6F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572" y="2635046"/>
            <a:ext cx="6841733" cy="201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97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File Formats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342" y="1237462"/>
            <a:ext cx="6208794" cy="1397584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File Formats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0CB9E5-F6F4-4DBD-AE2A-ECCAF663BA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631806"/>
              </p:ext>
            </p:extLst>
          </p:nvPr>
        </p:nvGraphicFramePr>
        <p:xfrm>
          <a:off x="2242016" y="1936254"/>
          <a:ext cx="7137958" cy="3347724"/>
        </p:xfrm>
        <a:graphic>
          <a:graphicData uri="http://schemas.openxmlformats.org/drawingml/2006/table">
            <a:tbl>
              <a:tblPr firstRow="1" firstCol="1" bandRow="1"/>
              <a:tblGrid>
                <a:gridCol w="2534058">
                  <a:extLst>
                    <a:ext uri="{9D8B030D-6E8A-4147-A177-3AD203B41FA5}">
                      <a16:colId xmlns:a16="http://schemas.microsoft.com/office/drawing/2014/main" val="3530986970"/>
                    </a:ext>
                  </a:extLst>
                </a:gridCol>
                <a:gridCol w="2534058">
                  <a:extLst>
                    <a:ext uri="{9D8B030D-6E8A-4147-A177-3AD203B41FA5}">
                      <a16:colId xmlns:a16="http://schemas.microsoft.com/office/drawing/2014/main" val="1614291571"/>
                    </a:ext>
                  </a:extLst>
                </a:gridCol>
                <a:gridCol w="2069842">
                  <a:extLst>
                    <a:ext uri="{9D8B030D-6E8A-4147-A177-3AD203B41FA5}">
                      <a16:colId xmlns:a16="http://schemas.microsoft.com/office/drawing/2014/main" val="1963924845"/>
                    </a:ext>
                  </a:extLst>
                </a:gridCol>
              </a:tblGrid>
              <a:tr h="3743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Equipment Manufacturer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Associated Data Format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File Extensions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0879807"/>
                  </a:ext>
                </a:extLst>
              </a:tr>
              <a:tr h="275218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Dynatest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R80, R32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.fwd, .hwd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5452199"/>
                  </a:ext>
                </a:extLst>
              </a:tr>
              <a:tr h="2752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F20, F25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.fwd, .F20, .F25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70086"/>
                  </a:ext>
                </a:extLst>
              </a:tr>
              <a:tr h="2752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PDDX, XML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.ddx, .xml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399838"/>
                  </a:ext>
                </a:extLst>
              </a:tr>
              <a:tr h="275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KUAB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KUAB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.fwd, .hwd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68822"/>
                  </a:ext>
                </a:extLst>
              </a:tr>
              <a:tr h="275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JILS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M3, M5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.fwd, .hwd, .dat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239353"/>
                  </a:ext>
                </a:extLst>
              </a:tr>
              <a:tr h="275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PaveTest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PaveTest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.csv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0872030"/>
                  </a:ext>
                </a:extLst>
              </a:tr>
              <a:tr h="275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CarlBro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CarlBro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.fwd, .txt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031648"/>
                  </a:ext>
                </a:extLst>
              </a:tr>
              <a:tr h="275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AASHTO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Pavement Deflection Data Exchange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.ddx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143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64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File Information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09" y="1237461"/>
            <a:ext cx="5933491" cy="4632396"/>
          </a:xfrm>
        </p:spPr>
        <p:txBody>
          <a:bodyPr>
            <a:no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Check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FWD drops are flagged if anomalies are identified.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Load levels are flagged if FWD plate load is smaller than 9,900 lbs. or larger than 60,000 lbs. (44 kN – 267 kN)</a:t>
            </a:r>
          </a:p>
          <a:p>
            <a:pPr marR="0"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Deflection basins are flagged if the recorded deflections are one of the following: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Showing a non-decreasing sequence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Larger than 100 mils (2540 mc) 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Zero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050A7B-23E0-49A4-9DBC-5404C74E9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5667"/>
            <a:ext cx="6037257" cy="376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13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File Information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09" y="1237461"/>
            <a:ext cx="5933491" cy="4171949"/>
          </a:xfrm>
        </p:spPr>
        <p:txBody>
          <a:bodyPr>
            <a:no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No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FWD drops at each test point.</a:t>
            </a:r>
          </a:p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DMI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station or location of each FWD test point.</a:t>
            </a:r>
          </a:p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applied FWD load at each drop.</a:t>
            </a:r>
          </a:p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Deflections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measured deflections by each FWD sensor.</a:t>
            </a:r>
          </a:p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Station: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comments are identified and replaced with a station number.</a:t>
            </a:r>
            <a:endParaRPr lang="en-US" sz="2400" b="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36008-BAF1-463E-9E6C-1A878B534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5667"/>
            <a:ext cx="6037257" cy="376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85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File Information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09" y="1237461"/>
            <a:ext cx="5933491" cy="4171949"/>
          </a:xfrm>
        </p:spPr>
        <p:txBody>
          <a:bodyPr>
            <a:no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Deflection information, deflection graph and sensor table will update as the user clicks on an FWD drop.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D044E3-6C13-49AF-9D63-0D65B2E4E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943" y="1313894"/>
            <a:ext cx="6116548" cy="455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08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FWD File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09" y="1237461"/>
            <a:ext cx="5933491" cy="4171949"/>
          </a:xfrm>
        </p:spPr>
        <p:txBody>
          <a:bodyPr>
            <a:no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sensor data</a:t>
            </a: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FFA8F6-E09B-480F-995B-E8DF7C0A1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015" y="1183911"/>
            <a:ext cx="6803726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821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29C0CB1-E0C3-4434-A811-703BF50B1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343" y="1200221"/>
            <a:ext cx="7830300" cy="47943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FWD File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09" y="1237461"/>
            <a:ext cx="5933491" cy="4171949"/>
          </a:xfrm>
        </p:spPr>
        <p:txBody>
          <a:bodyPr>
            <a:no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drops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91654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FWD File to PDDX Format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760" y="1343025"/>
            <a:ext cx="5933491" cy="4171949"/>
          </a:xfrm>
        </p:spPr>
        <p:txBody>
          <a:bodyPr>
            <a:no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FWD file format supported by BAKFAA to Pavement Deflection Data Exchange (PDDX) format file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PDDX format specification has a modular structure in which data elements of similar characteristics are grouped in individual sections.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PDDX files can be loaded to BAKFAA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936EC-2732-408E-91AD-1184E2B1DF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76338" b="85498"/>
          <a:stretch/>
        </p:blipFill>
        <p:spPr>
          <a:xfrm>
            <a:off x="6225057" y="1992818"/>
            <a:ext cx="5833183" cy="19363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5E3E1C1-609F-431E-8A97-3496DDB159C9}"/>
              </a:ext>
            </a:extLst>
          </p:cNvPr>
          <p:cNvSpPr/>
          <p:nvPr/>
        </p:nvSpPr>
        <p:spPr>
          <a:xfrm>
            <a:off x="8068806" y="3438052"/>
            <a:ext cx="1618402" cy="45493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14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FWD File Parser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760" y="1343025"/>
            <a:ext cx="11586292" cy="4171949"/>
          </a:xfrm>
        </p:spPr>
        <p:txBody>
          <a:bodyPr>
            <a:no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file processing class used to read FWD files.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class uses the file format specifications from FWD manufacturers and generates a set of properties to retrieve data required for functions in the backcalculation and LEAF analysis.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advantage of this design is that when a new data format is introduced by a manufacturer, only a file specification needs to be created for the new layout.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will read the specification and parses the file without requiring any reprograming in the source code.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88305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760" y="1343025"/>
            <a:ext cx="5933491" cy="4171949"/>
          </a:xfrm>
        </p:spPr>
        <p:txBody>
          <a:bodyPr>
            <a:no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can display values in English or metric units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button under Design Options toggles between the options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updates all FWD and pavement information, and dictates the units used in the output file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BCC16A-F1F9-4C45-838A-80F91F070B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864" b="20563"/>
          <a:stretch/>
        </p:blipFill>
        <p:spPr bwMode="auto">
          <a:xfrm>
            <a:off x="7018459" y="1028145"/>
            <a:ext cx="4071580" cy="40146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D93F928-84F5-4963-B55D-F1C44FD634DB}"/>
              </a:ext>
            </a:extLst>
          </p:cNvPr>
          <p:cNvSpPr/>
          <p:nvPr/>
        </p:nvSpPr>
        <p:spPr>
          <a:xfrm>
            <a:off x="7143514" y="2271712"/>
            <a:ext cx="3702537" cy="66161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660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A3BE9D-045E-4350-96A7-1A59D289BC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381412"/>
              </p:ext>
            </p:extLst>
          </p:nvPr>
        </p:nvGraphicFramePr>
        <p:xfrm>
          <a:off x="2671386" y="1011725"/>
          <a:ext cx="6577637" cy="4834549"/>
        </p:xfrm>
        <a:graphic>
          <a:graphicData uri="http://schemas.openxmlformats.org/drawingml/2006/table">
            <a:tbl>
              <a:tblPr firstRow="1" firstCol="1" bandRow="1"/>
              <a:tblGrid>
                <a:gridCol w="2447493">
                  <a:extLst>
                    <a:ext uri="{9D8B030D-6E8A-4147-A177-3AD203B41FA5}">
                      <a16:colId xmlns:a16="http://schemas.microsoft.com/office/drawing/2014/main" val="2154574153"/>
                    </a:ext>
                  </a:extLst>
                </a:gridCol>
                <a:gridCol w="2065072">
                  <a:extLst>
                    <a:ext uri="{9D8B030D-6E8A-4147-A177-3AD203B41FA5}">
                      <a16:colId xmlns:a16="http://schemas.microsoft.com/office/drawing/2014/main" val="364691580"/>
                    </a:ext>
                  </a:extLst>
                </a:gridCol>
                <a:gridCol w="2065072">
                  <a:extLst>
                    <a:ext uri="{9D8B030D-6E8A-4147-A177-3AD203B41FA5}">
                      <a16:colId xmlns:a16="http://schemas.microsoft.com/office/drawing/2014/main" val="1595007353"/>
                    </a:ext>
                  </a:extLst>
                </a:gridCol>
              </a:tblGrid>
              <a:tr h="385439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Entity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Unit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969961"/>
                  </a:ext>
                </a:extLst>
              </a:tr>
              <a:tr h="3854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English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Metric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46766"/>
                  </a:ext>
                </a:extLst>
              </a:tr>
              <a:tr h="350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Pavement Layer Thickness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Inch (in.)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Millimeter (mm)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01782"/>
                  </a:ext>
                </a:extLst>
              </a:tr>
              <a:tr h="350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Distance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Feet (ft.)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Meter (m)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774147"/>
                  </a:ext>
                </a:extLst>
              </a:tr>
              <a:tr h="350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FWD Sensor Offset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Inch (in.)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Millimeter (mm)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768422"/>
                  </a:ext>
                </a:extLst>
              </a:tr>
              <a:tr h="350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FWD Sensor Deflection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Mil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Micron (mc)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54049"/>
                  </a:ext>
                </a:extLst>
              </a:tr>
              <a:tr h="350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FWD Plate Radius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Inch (in.)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Millimeter (mm)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211235"/>
                  </a:ext>
                </a:extLst>
              </a:tr>
              <a:tr h="6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FWD Plate Contact Area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Square inch (in</a:t>
                      </a:r>
                      <a:r>
                        <a:rPr lang="en-US" sz="14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Square millimeter (mm</a:t>
                      </a:r>
                      <a:r>
                        <a:rPr lang="en-US" sz="1400" baseline="30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638134"/>
                  </a:ext>
                </a:extLst>
              </a:tr>
              <a:tr h="6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FWD Plate Contact Pressure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Pound per square inch (psi)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Megapascal (MPa)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340610"/>
                  </a:ext>
                </a:extLst>
              </a:tr>
              <a:tr h="350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Load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Pound (lbs.)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Kilonewton (kN)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9995600"/>
                  </a:ext>
                </a:extLst>
              </a:tr>
              <a:tr h="6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Modulus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Pound per square inch (psi)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Megapascal (MPa)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1578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591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F682C1-E4B9-4D9C-A809-8625A619A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67" y="1367087"/>
            <a:ext cx="5700336" cy="4318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21F5B0-A477-447E-B12F-5DD6C8AA00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6057" b="2394"/>
          <a:stretch/>
        </p:blipFill>
        <p:spPr bwMode="auto">
          <a:xfrm>
            <a:off x="5996412" y="1359156"/>
            <a:ext cx="5775356" cy="43705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05195C-F101-4EF0-AD93-AE052B45C8A9}"/>
              </a:ext>
            </a:extLst>
          </p:cNvPr>
          <p:cNvSpPr txBox="1"/>
          <p:nvPr/>
        </p:nvSpPr>
        <p:spPr>
          <a:xfrm>
            <a:off x="142167" y="874858"/>
            <a:ext cx="5700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1D2F68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English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726660-E585-4ED4-903C-3E3427588DF5}"/>
              </a:ext>
            </a:extLst>
          </p:cNvPr>
          <p:cNvSpPr txBox="1"/>
          <p:nvPr/>
        </p:nvSpPr>
        <p:spPr>
          <a:xfrm>
            <a:off x="5996412" y="874857"/>
            <a:ext cx="5700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1D2F68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Metric</a:t>
            </a:r>
          </a:p>
        </p:txBody>
      </p:sp>
    </p:spTree>
    <p:extLst>
      <p:ext uri="{BB962C8B-B14F-4D97-AF65-F5344CB8AC3E}">
        <p14:creationId xmlns:p14="http://schemas.microsoft.com/office/powerpoint/2010/main" val="1489469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05195C-F101-4EF0-AD93-AE052B45C8A9}"/>
              </a:ext>
            </a:extLst>
          </p:cNvPr>
          <p:cNvSpPr txBox="1"/>
          <p:nvPr/>
        </p:nvSpPr>
        <p:spPr>
          <a:xfrm>
            <a:off x="142167" y="874858"/>
            <a:ext cx="5700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1D2F68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English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726660-E585-4ED4-903C-3E3427588DF5}"/>
              </a:ext>
            </a:extLst>
          </p:cNvPr>
          <p:cNvSpPr txBox="1"/>
          <p:nvPr/>
        </p:nvSpPr>
        <p:spPr>
          <a:xfrm>
            <a:off x="5996412" y="874857"/>
            <a:ext cx="5700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1D2F68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Metric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C3188F-7058-42F1-9C39-29F3174FD1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638"/>
          <a:stretch/>
        </p:blipFill>
        <p:spPr>
          <a:xfrm>
            <a:off x="436694" y="2511361"/>
            <a:ext cx="5372839" cy="18352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444AA3-7C25-46CC-B6B5-3BA0E19494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60" b="15192"/>
          <a:stretch/>
        </p:blipFill>
        <p:spPr bwMode="auto">
          <a:xfrm>
            <a:off x="6249908" y="2535621"/>
            <a:ext cx="5296839" cy="17867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9824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05195C-F101-4EF0-AD93-AE052B45C8A9}"/>
              </a:ext>
            </a:extLst>
          </p:cNvPr>
          <p:cNvSpPr txBox="1"/>
          <p:nvPr/>
        </p:nvSpPr>
        <p:spPr>
          <a:xfrm>
            <a:off x="142167" y="874858"/>
            <a:ext cx="5700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1D2F68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English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726660-E585-4ED4-903C-3E3427588DF5}"/>
              </a:ext>
            </a:extLst>
          </p:cNvPr>
          <p:cNvSpPr txBox="1"/>
          <p:nvPr/>
        </p:nvSpPr>
        <p:spPr>
          <a:xfrm>
            <a:off x="5996412" y="874857"/>
            <a:ext cx="5700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1D2F68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Metric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5111B-8F9E-420A-ADC2-742193F4E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67" y="1468984"/>
            <a:ext cx="5700336" cy="4046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B60394-88AA-4B83-BFC5-D2BF0587E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412" y="1446357"/>
            <a:ext cx="5700336" cy="40468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42221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227" y="2857500"/>
            <a:ext cx="10363200" cy="571500"/>
          </a:xfrm>
        </p:spPr>
        <p:txBody>
          <a:bodyPr/>
          <a:lstStyle/>
          <a:p>
            <a:pPr algn="ctr"/>
            <a:r>
              <a:rPr lang="en-US" sz="40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Inputs</a:t>
            </a:r>
          </a:p>
        </p:txBody>
      </p:sp>
    </p:spTree>
    <p:extLst>
      <p:ext uri="{BB962C8B-B14F-4D97-AF65-F5344CB8AC3E}">
        <p14:creationId xmlns:p14="http://schemas.microsoft.com/office/powerpoint/2010/main" val="16116055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INPUTS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Pavement Layer Properties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324" y="1201008"/>
            <a:ext cx="6356278" cy="4639353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Pavement Layer Type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Minimum 3 layers and maximum 6 layers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Select layer type from drop down menu.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Library of standard FAA materials (AC 150/5370-10)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Four subgrade types with different strengths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“User Defined” layer type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Add or remove a layer from any location in the structure.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Last layer is a semi-infinite layer</a:t>
            </a: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65A41-0596-4C95-9D66-819C80B38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892" y="116232"/>
            <a:ext cx="3805100" cy="29248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BC2C60-522A-4986-9829-5639FB700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891" y="3110593"/>
            <a:ext cx="3805099" cy="292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4330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CF7C84-D625-463C-85DE-92E6F5D19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124" y="1885698"/>
            <a:ext cx="5529739" cy="24840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INPUTS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Pavement Layer Properties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30" y="1208199"/>
            <a:ext cx="6208794" cy="4118427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 Modulus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Initial modulus value used in backcalculation iterative procedure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BAKFAA has default seed modulus values for FAA standard materials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Default seed modulus values are editable, but BAKFAA will automatically change the pavement type to “User Defined” </a:t>
            </a: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93FCC8-5733-4492-B94F-A20DFA037338}"/>
              </a:ext>
            </a:extLst>
          </p:cNvPr>
          <p:cNvSpPr/>
          <p:nvPr/>
        </p:nvSpPr>
        <p:spPr>
          <a:xfrm>
            <a:off x="8358475" y="2496923"/>
            <a:ext cx="713097" cy="119689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7694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190541-B3C5-4DA3-B650-872E3CAF0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124" y="1885698"/>
            <a:ext cx="5529739" cy="24840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INPUTS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Pavement Layer Properties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30" y="1208199"/>
            <a:ext cx="6208794" cy="4118427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Poisson’s Ratio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BAKFAA has default Poisson’s ratio values for FAA standard materials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Numerical value between 0.0 to 0.5</a:t>
            </a:r>
          </a:p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Parameter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Accepts values of 0 or 1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 indicates no bond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indicates fully bonded layers</a:t>
            </a:r>
          </a:p>
          <a:p>
            <a:pPr marL="0" indent="0">
              <a:buNone/>
            </a:pP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76CE1C-B4A7-4D21-83A7-59898E4B2507}"/>
              </a:ext>
            </a:extLst>
          </p:cNvPr>
          <p:cNvSpPr/>
          <p:nvPr/>
        </p:nvSpPr>
        <p:spPr>
          <a:xfrm>
            <a:off x="9800790" y="2495742"/>
            <a:ext cx="515707" cy="117825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6A4715-07D9-4B64-AD72-B14D1AF3A368}"/>
              </a:ext>
            </a:extLst>
          </p:cNvPr>
          <p:cNvSpPr/>
          <p:nvPr/>
        </p:nvSpPr>
        <p:spPr>
          <a:xfrm>
            <a:off x="10314522" y="2493285"/>
            <a:ext cx="557784" cy="117825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0184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C69EAC7-FA75-494A-B072-FF5914B51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124" y="1885698"/>
            <a:ext cx="5529739" cy="24840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INPUTS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Pavement Layer Properties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30" y="1208199"/>
            <a:ext cx="6208794" cy="4907406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Thickness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BAKFAA requires a non-zero thickness for each pavement layer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thickness of the last layer in a pavement structure must be zero to represent a semi-infinite layer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Moduli Changeable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Determines whether the layer modulus will change in the backcalculation analysis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Checkbox toggled off indicates the layer modulus will remain fixed in the backcalculation analysis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80906D-426B-4DCE-AD26-560DB471826A}"/>
              </a:ext>
            </a:extLst>
          </p:cNvPr>
          <p:cNvSpPr/>
          <p:nvPr/>
        </p:nvSpPr>
        <p:spPr>
          <a:xfrm>
            <a:off x="10855105" y="2488566"/>
            <a:ext cx="521597" cy="118239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544060-0F27-49EE-A28D-F9F6E502ACC4}"/>
              </a:ext>
            </a:extLst>
          </p:cNvPr>
          <p:cNvSpPr/>
          <p:nvPr/>
        </p:nvSpPr>
        <p:spPr>
          <a:xfrm>
            <a:off x="11380839" y="2488565"/>
            <a:ext cx="620865" cy="117825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5835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39CFFD-FCAA-4BB4-9B39-18901335C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591" y="1245071"/>
            <a:ext cx="9742817" cy="4808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INPUTS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Pavement Layer Structure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BC9008-FD99-43BC-97FF-B26178B270F2}"/>
              </a:ext>
            </a:extLst>
          </p:cNvPr>
          <p:cNvSpPr/>
          <p:nvPr/>
        </p:nvSpPr>
        <p:spPr>
          <a:xfrm>
            <a:off x="7439934" y="1741509"/>
            <a:ext cx="3080193" cy="419756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1568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INPUTS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 Input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29" y="1208199"/>
            <a:ext cx="11616535" cy="4907406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Tolerance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Dimensionless parameter that controls the stoppage criteria in the iterative process of backcalculation analysis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At the end of each iteration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BAKFAA stops backcalculation when the </a:t>
            </a:r>
            <a:r>
              <a:rPr lang="en-US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rtol</a:t>
            </a: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less than the user defined Iteration Tolerance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range is 0.001-0.1. Iterate through this range to achieve desired accuracy.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0AFC5-80A0-4F8B-9B09-29CE6678BA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98" t="1233" r="53972"/>
          <a:stretch/>
        </p:blipFill>
        <p:spPr>
          <a:xfrm>
            <a:off x="1111046" y="2894524"/>
            <a:ext cx="2123768" cy="8391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0D3623-A1D5-454B-8B2F-3C98D383A7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30" r="48510"/>
          <a:stretch/>
        </p:blipFill>
        <p:spPr>
          <a:xfrm>
            <a:off x="959178" y="3596444"/>
            <a:ext cx="2427503" cy="6925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B8A1B9-35DC-405E-BD14-52E7282AC2B8}"/>
              </a:ext>
            </a:extLst>
          </p:cNvPr>
          <p:cNvSpPr txBox="1"/>
          <p:nvPr/>
        </p:nvSpPr>
        <p:spPr>
          <a:xfrm>
            <a:off x="4492593" y="3068418"/>
            <a:ext cx="5288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Arial" panose="020B0604020202020204" pitchFamily="34" charset="0"/>
              </a:rPr>
              <a:t>MD</a:t>
            </a:r>
            <a:r>
              <a:rPr lang="en-US" sz="1600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Arial" panose="020B0604020202020204" pitchFamily="34" charset="0"/>
              </a:rPr>
              <a:t> and </a:t>
            </a:r>
            <a:r>
              <a:rPr lang="en-US" sz="1600" i="1" dirty="0">
                <a:latin typeface="Times New Roman" panose="02020603050405020304" pitchFamily="18" charset="0"/>
                <a:cs typeface="Arial" panose="020B0604020202020204" pitchFamily="34" charset="0"/>
              </a:rPr>
              <a:t>CD</a:t>
            </a:r>
            <a:r>
              <a:rPr lang="en-US" sz="1600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Arial" panose="020B0604020202020204" pitchFamily="34" charset="0"/>
              </a:rPr>
              <a:t> :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measured and calculated deflections at sensor </a:t>
            </a:r>
            <a:r>
              <a:rPr lang="en-US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: the number of FWD sensors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D6BA65-706E-42E4-BA9D-14AE60DDAFDC}"/>
              </a:ext>
            </a:extLst>
          </p:cNvPr>
          <p:cNvSpPr txBox="1"/>
          <p:nvPr/>
        </p:nvSpPr>
        <p:spPr>
          <a:xfrm>
            <a:off x="4492593" y="3743475"/>
            <a:ext cx="75574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600" i="1" dirty="0">
                <a:latin typeface="Times New Roman" panose="02020603050405020304" pitchFamily="18" charset="0"/>
                <a:cs typeface="Arial" panose="020B0604020202020204" pitchFamily="34" charset="0"/>
              </a:rPr>
              <a:t>Err</a:t>
            </a:r>
            <a:r>
              <a:rPr lang="en-US" sz="1600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sz="1600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j</a:t>
            </a:r>
            <a:r>
              <a:rPr lang="en-US" sz="1600" dirty="0">
                <a:latin typeface="Times New Roman" panose="02020603050405020304" pitchFamily="18" charset="0"/>
                <a:cs typeface="Arial" panose="020B0604020202020204" pitchFamily="34" charset="0"/>
              </a:rPr>
              <a:t> and (</a:t>
            </a:r>
            <a:r>
              <a:rPr lang="en-US" sz="1600" i="1" dirty="0">
                <a:latin typeface="Times New Roman" panose="02020603050405020304" pitchFamily="18" charset="0"/>
                <a:cs typeface="Arial" panose="020B0604020202020204" pitchFamily="34" charset="0"/>
              </a:rPr>
              <a:t>Err</a:t>
            </a:r>
            <a:r>
              <a:rPr lang="en-US" sz="1600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sz="1600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j+1</a:t>
            </a:r>
            <a:r>
              <a:rPr lang="en-US" sz="1600" dirty="0">
                <a:latin typeface="Times New Roman" panose="02020603050405020304" pitchFamily="18" charset="0"/>
                <a:cs typeface="Arial" panose="020B0604020202020204" pitchFamily="34" charset="0"/>
              </a:rPr>
              <a:t> are the errors at two consecutive iterations </a:t>
            </a:r>
            <a:r>
              <a:rPr lang="en-US" sz="1600" i="1" dirty="0">
                <a:latin typeface="Times New Roman" panose="02020603050405020304" pitchFamily="18" charset="0"/>
                <a:cs typeface="Arial" panose="020B0604020202020204" pitchFamily="34" charset="0"/>
              </a:rPr>
              <a:t>j</a:t>
            </a:r>
            <a:r>
              <a:rPr lang="en-US" sz="1600" dirty="0">
                <a:latin typeface="Times New Roman" panose="02020603050405020304" pitchFamily="18" charset="0"/>
                <a:cs typeface="Arial" panose="020B0604020202020204" pitchFamily="34" charset="0"/>
              </a:rPr>
              <a:t> and </a:t>
            </a:r>
            <a:r>
              <a:rPr lang="en-US" sz="1600" i="1" dirty="0">
                <a:latin typeface="Times New Roman" panose="02020603050405020304" pitchFamily="18" charset="0"/>
                <a:cs typeface="Arial" panose="020B0604020202020204" pitchFamily="34" charset="0"/>
              </a:rPr>
              <a:t>j+1</a:t>
            </a:r>
          </a:p>
        </p:txBody>
      </p:sp>
    </p:spTree>
    <p:extLst>
      <p:ext uri="{BB962C8B-B14F-4D97-AF65-F5344CB8AC3E}">
        <p14:creationId xmlns:p14="http://schemas.microsoft.com/office/powerpoint/2010/main" val="13771075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227" y="2857500"/>
            <a:ext cx="10363200" cy="571500"/>
          </a:xfrm>
        </p:spPr>
        <p:txBody>
          <a:bodyPr/>
          <a:lstStyle/>
          <a:p>
            <a:pPr algn="ctr"/>
            <a:r>
              <a:rPr lang="en-US" sz="40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 Analysis</a:t>
            </a:r>
          </a:p>
        </p:txBody>
      </p:sp>
    </p:spTree>
    <p:extLst>
      <p:ext uri="{BB962C8B-B14F-4D97-AF65-F5344CB8AC3E}">
        <p14:creationId xmlns:p14="http://schemas.microsoft.com/office/powerpoint/2010/main" val="17101796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92B9DB2-E998-4874-ABE8-07E59D2E0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066" y="1635044"/>
            <a:ext cx="6690693" cy="3631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Mode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30" y="1208199"/>
            <a:ext cx="5148303" cy="4907406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Analysis Mode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when a single FWD drop is selected. Results will be shown in the program.</a:t>
            </a:r>
          </a:p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Analysis Mode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when more than one drop is selected. Results will be saved in .csv file.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2555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05BB9C-92F9-41EE-8AF5-9E9CB4D2F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852" y="2152650"/>
            <a:ext cx="8459624" cy="3572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FWD File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09" y="1237461"/>
            <a:ext cx="5933491" cy="4171949"/>
          </a:xfrm>
        </p:spPr>
        <p:txBody>
          <a:bodyPr>
            <a:no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individual drops</a:t>
            </a: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5C33549C-1560-42BF-A3DA-6942CEC6B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3072" y="3798153"/>
            <a:ext cx="1101982" cy="47364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 marL="0" marR="0" algn="l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Click on FWD drops to select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CA948E-972F-44F8-B265-E8821DAAF3CE}"/>
              </a:ext>
            </a:extLst>
          </p:cNvPr>
          <p:cNvCxnSpPr>
            <a:cxnSpLocks/>
          </p:cNvCxnSpPr>
          <p:nvPr/>
        </p:nvCxnSpPr>
        <p:spPr>
          <a:xfrm flipV="1">
            <a:off x="3054448" y="3868729"/>
            <a:ext cx="582732" cy="117085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E24454-605F-4ACC-89D4-2A5075400338}"/>
              </a:ext>
            </a:extLst>
          </p:cNvPr>
          <p:cNvCxnSpPr>
            <a:cxnSpLocks/>
          </p:cNvCxnSpPr>
          <p:nvPr/>
        </p:nvCxnSpPr>
        <p:spPr>
          <a:xfrm>
            <a:off x="3043343" y="3985814"/>
            <a:ext cx="594497" cy="760195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6887AD-E709-446F-9AE8-A95388B986BC}"/>
              </a:ext>
            </a:extLst>
          </p:cNvPr>
          <p:cNvCxnSpPr>
            <a:cxnSpLocks/>
          </p:cNvCxnSpPr>
          <p:nvPr/>
        </p:nvCxnSpPr>
        <p:spPr>
          <a:xfrm>
            <a:off x="3054448" y="3985814"/>
            <a:ext cx="582732" cy="1634725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3431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FWD File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09" y="1237461"/>
            <a:ext cx="5933491" cy="4171949"/>
          </a:xfrm>
        </p:spPr>
        <p:txBody>
          <a:bodyPr>
            <a:no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All button</a:t>
            </a: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09BCD5-072B-40A1-BB59-8E93E54AA5AF}"/>
              </a:ext>
            </a:extLst>
          </p:cNvPr>
          <p:cNvCxnSpPr>
            <a:cxnSpLocks/>
          </p:cNvCxnSpPr>
          <p:nvPr/>
        </p:nvCxnSpPr>
        <p:spPr>
          <a:xfrm flipV="1">
            <a:off x="9762772" y="1848465"/>
            <a:ext cx="0" cy="36379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62622C5-23CF-4ADC-B290-FE6414F4D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578" y="1237461"/>
            <a:ext cx="7870290" cy="472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194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3DC502-FA21-4387-93D4-74FA2C106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1234440"/>
            <a:ext cx="7922611" cy="47274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FWD File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09" y="1237461"/>
            <a:ext cx="5933491" cy="4171949"/>
          </a:xfrm>
        </p:spPr>
        <p:txBody>
          <a:bodyPr>
            <a:no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Drops button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FBE926-1189-42D4-9922-0108137D3975}"/>
              </a:ext>
            </a:extLst>
          </p:cNvPr>
          <p:cNvCxnSpPr>
            <a:cxnSpLocks/>
          </p:cNvCxnSpPr>
          <p:nvPr/>
        </p:nvCxnSpPr>
        <p:spPr>
          <a:xfrm flipV="1">
            <a:off x="9541394" y="1584920"/>
            <a:ext cx="0" cy="36379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0376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FWD File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09" y="1237461"/>
            <a:ext cx="5933491" cy="4171949"/>
          </a:xfrm>
        </p:spPr>
        <p:txBody>
          <a:bodyPr>
            <a:no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Drops button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menu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5D59E-9938-44CA-8ACD-064D55858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1237461"/>
            <a:ext cx="7760332" cy="472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3272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1F4C45-0EE9-4246-A503-8C3B65D2B3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69"/>
          <a:stretch/>
        </p:blipFill>
        <p:spPr>
          <a:xfrm>
            <a:off x="5279626" y="1387143"/>
            <a:ext cx="6902837" cy="35498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Output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30" y="1208199"/>
            <a:ext cx="5003565" cy="4907406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Backcalculated Moduli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batch mode: geometric mean (“Geo. Mean”)</a:t>
            </a:r>
          </a:p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Deflections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batch mode: displayed only for the last drop selected</a:t>
            </a:r>
          </a:p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Number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batch mode: displayed only for the last drop selected</a:t>
            </a:r>
          </a:p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6612579-DDEF-4DEF-B817-35A813B86C41}"/>
              </a:ext>
            </a:extLst>
          </p:cNvPr>
          <p:cNvGrpSpPr/>
          <p:nvPr/>
        </p:nvGrpSpPr>
        <p:grpSpPr>
          <a:xfrm>
            <a:off x="6498426" y="4511921"/>
            <a:ext cx="1827744" cy="588389"/>
            <a:chOff x="3891528" y="3684247"/>
            <a:chExt cx="1827744" cy="588389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89C0E5B-FB23-4564-A24F-C22B9DFCE19B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flipV="1">
              <a:off x="4805400" y="3684247"/>
              <a:ext cx="0" cy="28061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82BA6F1-6B69-485F-9CAD-738C3F24D17A}"/>
                </a:ext>
              </a:extLst>
            </p:cNvPr>
            <p:cNvSpPr/>
            <p:nvPr/>
          </p:nvSpPr>
          <p:spPr>
            <a:xfrm>
              <a:off x="3891528" y="3964859"/>
              <a:ext cx="1827744" cy="307777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Calculated Deflections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398B497-8144-4B01-AA6C-6484F857CBA4}"/>
              </a:ext>
            </a:extLst>
          </p:cNvPr>
          <p:cNvSpPr/>
          <p:nvPr/>
        </p:nvSpPr>
        <p:spPr>
          <a:xfrm>
            <a:off x="5610930" y="4344470"/>
            <a:ext cx="3602736" cy="15437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5D88F0-BAC6-43EA-9BEF-16684C2EA36D}"/>
              </a:ext>
            </a:extLst>
          </p:cNvPr>
          <p:cNvSpPr/>
          <p:nvPr/>
        </p:nvSpPr>
        <p:spPr>
          <a:xfrm>
            <a:off x="9941528" y="2088494"/>
            <a:ext cx="1598199" cy="24322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B06D3-9B42-488C-A340-FE49953CE4D6}"/>
              </a:ext>
            </a:extLst>
          </p:cNvPr>
          <p:cNvSpPr/>
          <p:nvPr/>
        </p:nvSpPr>
        <p:spPr>
          <a:xfrm>
            <a:off x="9941528" y="2779567"/>
            <a:ext cx="1425390" cy="30777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Number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AA42679-F9A4-4CC0-ADAA-C36F4F1CDD79}"/>
              </a:ext>
            </a:extLst>
          </p:cNvPr>
          <p:cNvCxnSpPr>
            <a:cxnSpLocks/>
          </p:cNvCxnSpPr>
          <p:nvPr/>
        </p:nvCxnSpPr>
        <p:spPr>
          <a:xfrm flipV="1">
            <a:off x="10003664" y="2345032"/>
            <a:ext cx="0" cy="43453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2">
            <a:extLst>
              <a:ext uri="{FF2B5EF4-FFF2-40B4-BE49-F238E27FC236}">
                <a16:creationId xmlns:a16="http://schemas.microsoft.com/office/drawing/2014/main" id="{5694B195-FA86-42B3-A214-3CAD1CC77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2360" y="1210723"/>
            <a:ext cx="1533525" cy="42616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45720" tIns="0" rIns="0" bIns="0" anchor="t" anchorCtr="0">
            <a:noAutofit/>
          </a:bodyPr>
          <a:lstStyle/>
          <a:p>
            <a:pPr marL="0" marR="0" algn="l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Geometric mean of backcalculated moduli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DA5863-6404-4425-9EF0-C0AB48198E94}"/>
              </a:ext>
            </a:extLst>
          </p:cNvPr>
          <p:cNvSpPr/>
          <p:nvPr/>
        </p:nvSpPr>
        <p:spPr>
          <a:xfrm>
            <a:off x="7404301" y="1907292"/>
            <a:ext cx="624131" cy="95617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C83DD5-4F03-4979-A4D4-DBB672BC6494}"/>
              </a:ext>
            </a:extLst>
          </p:cNvPr>
          <p:cNvCxnSpPr>
            <a:cxnSpLocks/>
          </p:cNvCxnSpPr>
          <p:nvPr/>
        </p:nvCxnSpPr>
        <p:spPr>
          <a:xfrm>
            <a:off x="7716366" y="1636890"/>
            <a:ext cx="0" cy="27040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4389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55E9011-48E4-40E7-B43E-F69AC0077C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69"/>
          <a:stretch/>
        </p:blipFill>
        <p:spPr>
          <a:xfrm>
            <a:off x="5575089" y="1539089"/>
            <a:ext cx="6607374" cy="33979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Output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30" y="1208199"/>
            <a:ext cx="4999425" cy="4907406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Mean Square Error (RMSE)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between measured and calculated deflections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87D2F7-DAE0-425B-BF29-4B0325C0C4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79" t="-2162" r="45723"/>
          <a:stretch/>
        </p:blipFill>
        <p:spPr>
          <a:xfrm>
            <a:off x="152678" y="2383654"/>
            <a:ext cx="4776936" cy="11509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0DF80B-C587-42DA-85AF-4D72F6A579B1}"/>
                  </a:ext>
                </a:extLst>
              </p:cNvPr>
              <p:cNvSpPr txBox="1"/>
              <p:nvPr/>
            </p:nvSpPr>
            <p:spPr>
              <a:xfrm>
                <a:off x="471438" y="3661902"/>
                <a:ext cx="5437001" cy="15195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where:</a:t>
                </a:r>
              </a:p>
              <a:p>
                <a:pPr marL="45720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lang="en-US" sz="2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: Calculated deflection for i</a:t>
                </a:r>
                <a:r>
                  <a:rPr lang="en-US" sz="2200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sensor</a:t>
                </a:r>
                <a:endParaRPr lang="en-US" sz="22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45720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US" sz="2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: Measured deflection for i</a:t>
                </a:r>
                <a:r>
                  <a:rPr lang="en-US" sz="2200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sensor</a:t>
                </a:r>
                <a:endParaRPr lang="en-US" sz="22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45720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: Number of sensors</a:t>
                </a:r>
                <a:endParaRPr lang="en-US" sz="22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0DF80B-C587-42DA-85AF-4D72F6A57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38" y="3661902"/>
                <a:ext cx="5437001" cy="1519519"/>
              </a:xfrm>
              <a:prstGeom prst="rect">
                <a:avLst/>
              </a:prstGeom>
              <a:blipFill>
                <a:blip r:embed="rId4"/>
                <a:stretch>
                  <a:fillRect l="-1457" t="-2811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6F3BE50F-9817-4AA1-9E2C-109637F7C89E}"/>
              </a:ext>
            </a:extLst>
          </p:cNvPr>
          <p:cNvSpPr/>
          <p:nvPr/>
        </p:nvSpPr>
        <p:spPr>
          <a:xfrm>
            <a:off x="10093211" y="2509950"/>
            <a:ext cx="1486172" cy="18798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6153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Output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30" y="1208199"/>
            <a:ext cx="9187967" cy="4907406"/>
          </a:xfrm>
        </p:spPr>
        <p:txBody>
          <a:bodyPr>
            <a:normAutofit lnSpcReduction="10000"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.CSV Output File content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R="0"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Pavement structure (pavement type, seed modulus, Poisson’s ratio, interface parameter, thickness, and moduli changeable)</a:t>
            </a:r>
          </a:p>
          <a:p>
            <a:pPr marR="0"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FWD (DMI, drop no., load, and operator comments or remarks)</a:t>
            </a:r>
          </a:p>
          <a:p>
            <a:pPr marR="0"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Iteration tolerance</a:t>
            </a:r>
          </a:p>
          <a:p>
            <a:pPr marR="0"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Backcalculated modulus</a:t>
            </a:r>
          </a:p>
          <a:p>
            <a:pPr marR="0"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RMSE</a:t>
            </a:r>
          </a:p>
          <a:p>
            <a:pPr marR="0"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Number of iterations completed</a:t>
            </a:r>
          </a:p>
          <a:p>
            <a:pPr marR="0"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LTE values based on the user selection</a:t>
            </a:r>
          </a:p>
          <a:p>
            <a:pPr marR="0"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Measured deflections for each selected FWD drop</a:t>
            </a:r>
          </a:p>
          <a:p>
            <a:pPr marR="0"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Calculated deflections for each selected FWD drop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1840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B0834C-A146-4B36-82F7-7B906704C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901" y="1533832"/>
            <a:ext cx="5471267" cy="43755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25CCA7-273A-4046-BCBF-97E30FC35E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124" b="5321"/>
          <a:stretch/>
        </p:blipFill>
        <p:spPr>
          <a:xfrm>
            <a:off x="7940028" y="101154"/>
            <a:ext cx="3847973" cy="1249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Output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30" y="1208199"/>
            <a:ext cx="5068251" cy="3717762"/>
          </a:xfrm>
        </p:spPr>
        <p:txBody>
          <a:bodyPr>
            <a:normAutofit fontScale="92500"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Output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Single Analysis  Mode 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backcalculation results for that drop, including: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Calculated deflections</a:t>
            </a:r>
          </a:p>
          <a:p>
            <a:pPr marR="0"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RMSE</a:t>
            </a:r>
          </a:p>
          <a:p>
            <a:pPr marR="0"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Iteration number</a:t>
            </a:r>
          </a:p>
          <a:p>
            <a:pPr marR="0"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FWD information</a:t>
            </a:r>
          </a:p>
          <a:p>
            <a:pPr marR="0"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Impulse Stiffness Modulus (</a:t>
            </a:r>
            <a:r>
              <a:rPr lang="en-US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ISM</a:t>
            </a: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=</a:t>
            </a:r>
            <a:r>
              <a:rPr lang="en-US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</a:t>
            </a: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D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1A7CF-0D6B-4E3E-90ED-26BE3DA058B1}"/>
              </a:ext>
            </a:extLst>
          </p:cNvPr>
          <p:cNvSpPr txBox="1"/>
          <p:nvPr/>
        </p:nvSpPr>
        <p:spPr>
          <a:xfrm>
            <a:off x="1409005" y="4513006"/>
            <a:ext cx="2830899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is the applied FWD load;</a:t>
            </a:r>
          </a:p>
          <a:p>
            <a:r>
              <a:rPr lang="en-US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lang="en-US" sz="16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is the deflection under FWD load plate.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568897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AF9277-03AC-47E9-84E1-AFF884F79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0" y="1531997"/>
            <a:ext cx="5494937" cy="43997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5C5A8E-FA3A-4CEE-BD1E-688300B0A8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6386" b="85335"/>
          <a:stretch/>
        </p:blipFill>
        <p:spPr>
          <a:xfrm>
            <a:off x="7940027" y="72797"/>
            <a:ext cx="3845583" cy="12936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Output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30" y="1208198"/>
            <a:ext cx="5196070" cy="4799311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Output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Batch Analysis Mode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Backcalculation outputs, FWD information, and ISM are displayed for the last drop selected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Arithmetic and geometric means of backcalculated modulus of each layer</a:t>
            </a:r>
          </a:p>
          <a:p>
            <a:pPr lvl="1">
              <a:lnSpc>
                <a:spcPct val="107000"/>
              </a:lnSpc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1AA95E-C75D-4FFB-A75A-22F9D9FA965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753" t="1" r="32318" b="1"/>
          <a:stretch/>
        </p:blipFill>
        <p:spPr>
          <a:xfrm>
            <a:off x="1130711" y="3655334"/>
            <a:ext cx="3757021" cy="5886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4F4735-C7F9-481B-BD86-8E6877D3573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2930" t="-764" r="31134" b="-1"/>
          <a:stretch/>
        </p:blipFill>
        <p:spPr>
          <a:xfrm>
            <a:off x="1135078" y="4243951"/>
            <a:ext cx="3757021" cy="4357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F52910-1DA3-4E76-A95B-F8089F9AB3B5}"/>
              </a:ext>
            </a:extLst>
          </p:cNvPr>
          <p:cNvSpPr txBox="1"/>
          <p:nvPr/>
        </p:nvSpPr>
        <p:spPr>
          <a:xfrm>
            <a:off x="1106556" y="4709754"/>
            <a:ext cx="49894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is the number of test points selected for backcalculation;</a:t>
            </a:r>
          </a:p>
          <a:p>
            <a:r>
              <a:rPr lang="en-US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16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11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16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12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and </a:t>
            </a:r>
            <a:r>
              <a:rPr lang="en-US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16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1n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are the backcalculated modulus of layer 1 at test points 1, 2 and </a:t>
            </a:r>
            <a:r>
              <a:rPr lang="en-US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257759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6E0FD7-25B8-43B2-9A55-EE9CF6569A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24" t="5540" r="17890" b="28728"/>
          <a:stretch/>
        </p:blipFill>
        <p:spPr>
          <a:xfrm>
            <a:off x="5908439" y="1690272"/>
            <a:ext cx="6259616" cy="32167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Backcalculation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30" y="1208198"/>
            <a:ext cx="5668018" cy="4799311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Backcalculation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Aborts in-progress backcalculation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 results can still be found up to the point of termination: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“Show Output” for single mode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the .csv file for batch mode</a:t>
            </a:r>
          </a:p>
          <a:p>
            <a:pPr lvl="1">
              <a:lnSpc>
                <a:spcPct val="107000"/>
              </a:lnSpc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3321E4-568B-4502-8AB9-CB5C15EBE8A9}"/>
              </a:ext>
            </a:extLst>
          </p:cNvPr>
          <p:cNvSpPr/>
          <p:nvPr/>
        </p:nvSpPr>
        <p:spPr>
          <a:xfrm>
            <a:off x="9065406" y="1917493"/>
            <a:ext cx="839085" cy="18291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6577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ED0BDD-960B-400F-933B-183E8362F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192" y="2761489"/>
            <a:ext cx="6070293" cy="3171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20D7AB-D1DA-4E69-8560-574505CFAA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381" b="85335"/>
          <a:stretch/>
        </p:blipFill>
        <p:spPr>
          <a:xfrm>
            <a:off x="7228220" y="1313895"/>
            <a:ext cx="3979969" cy="1234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Graph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29" y="1208198"/>
            <a:ext cx="5948045" cy="4799311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Graph</a:t>
            </a:r>
          </a:p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Deflections tab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graphs measured and calculated deflections for two sensors: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Sensor under the FWD load plate (D</a:t>
            </a:r>
            <a:r>
              <a:rPr lang="en-US" sz="22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outermost sensor (D</a:t>
            </a:r>
            <a:r>
              <a:rPr lang="en-US" sz="22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72</a:t>
            </a: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342900" lvl="1" indent="-342900">
              <a:lnSpc>
                <a:spcPct val="107000"/>
              </a:lnSpc>
              <a:buChar char="•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“Show Measured” displays measured deflections.</a:t>
            </a:r>
          </a:p>
          <a:p>
            <a:pPr marL="342900" lvl="1" indent="-342900">
              <a:lnSpc>
                <a:spcPct val="107000"/>
              </a:lnSpc>
              <a:buChar char="•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“Show Calculated” displays backcalculated deflections.</a:t>
            </a:r>
          </a:p>
          <a:p>
            <a:pPr marL="342900" lvl="1" indent="-342900">
              <a:lnSpc>
                <a:spcPct val="107000"/>
              </a:lnSpc>
              <a:buChar char="•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X-axis is DMI location of selected FWD test points.</a:t>
            </a:r>
          </a:p>
          <a:p>
            <a:pPr lvl="1">
              <a:lnSpc>
                <a:spcPct val="107000"/>
              </a:lnSpc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2437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DCBFA3-CD63-43CB-9628-3EE9E79BD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98" y="2752435"/>
            <a:ext cx="6077075" cy="31774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Backcalculation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Graph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29" y="1208198"/>
            <a:ext cx="5948045" cy="4799311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Graph</a:t>
            </a:r>
          </a:p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Modulus tab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displays backcalculated modulus values in logarithmic scale.</a:t>
            </a:r>
          </a:p>
          <a:p>
            <a:pPr marL="342900" lvl="1" indent="-342900">
              <a:lnSpc>
                <a:spcPct val="107000"/>
              </a:lnSpc>
              <a:buChar char="•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X-axis is DMI location of selected FWD test points.</a:t>
            </a:r>
          </a:p>
          <a:p>
            <a:pPr marL="342900" lvl="1" indent="-342900">
              <a:lnSpc>
                <a:spcPct val="107000"/>
              </a:lnSpc>
              <a:buChar char="•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User can toggle off any layer of pavement in the backcalculated modulus graph.</a:t>
            </a:r>
          </a:p>
          <a:p>
            <a:pPr lvl="1">
              <a:lnSpc>
                <a:spcPct val="107000"/>
              </a:lnSpc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5186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227" y="2857500"/>
            <a:ext cx="10363200" cy="571500"/>
          </a:xfrm>
        </p:spPr>
        <p:txBody>
          <a:bodyPr/>
          <a:lstStyle/>
          <a:p>
            <a:pPr algn="ctr"/>
            <a:r>
              <a:rPr lang="en-US" sz="40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Transfer Efficiency (LTE) Calculation</a:t>
            </a:r>
          </a:p>
        </p:txBody>
      </p:sp>
    </p:spTree>
    <p:extLst>
      <p:ext uri="{BB962C8B-B14F-4D97-AF65-F5344CB8AC3E}">
        <p14:creationId xmlns:p14="http://schemas.microsoft.com/office/powerpoint/2010/main" val="13903148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71A8D7-5188-481F-A615-C81750765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750" y="1569381"/>
            <a:ext cx="5948045" cy="41801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LTE Calculation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LTE between Two Jointed Concrete Slabs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29" y="1208198"/>
            <a:ext cx="5948045" cy="4799311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07000"/>
              </a:lnSpc>
              <a:buChar char="•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Select between case 1, 2, or 3 based on FWD sensor configuration and FWD test layout at slab joints.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BAKFAA disables case 1 and 2 for FWD tests with no negative offset sensor (-12 in. offset) or when the user excludes the negative offset sensor.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BAKFAA disables case 3 for FWD tests with a negative offset sensor.</a:t>
            </a:r>
          </a:p>
          <a:p>
            <a:pPr lvl="1">
              <a:lnSpc>
                <a:spcPct val="107000"/>
              </a:lnSpc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4381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60C9846-6E3B-4B06-9AF4-92812E2305E8}"/>
              </a:ext>
            </a:extLst>
          </p:cNvPr>
          <p:cNvSpPr txBox="1">
            <a:spLocks/>
          </p:cNvSpPr>
          <p:nvPr/>
        </p:nvSpPr>
        <p:spPr bwMode="auto">
          <a:xfrm>
            <a:off x="771227" y="2857500"/>
            <a:ext cx="103632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1D2F68"/>
                </a:solidFill>
                <a:latin typeface="Arial" charset="0"/>
              </a:defRPr>
            </a:lvl9pPr>
          </a:lstStyle>
          <a:p>
            <a:pPr algn="ctr"/>
            <a:r>
              <a: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Elastic Analysis Program (LEAF)</a:t>
            </a:r>
          </a:p>
        </p:txBody>
      </p:sp>
    </p:spTree>
    <p:extLst>
      <p:ext uri="{BB962C8B-B14F-4D97-AF65-F5344CB8AC3E}">
        <p14:creationId xmlns:p14="http://schemas.microsoft.com/office/powerpoint/2010/main" val="26366186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LEAF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AA504-78DE-4974-AEB4-20321A503FAB}"/>
              </a:ext>
            </a:extLst>
          </p:cNvPr>
          <p:cNvSpPr txBox="1">
            <a:spLocks/>
          </p:cNvSpPr>
          <p:nvPr/>
        </p:nvSpPr>
        <p:spPr bwMode="auto">
          <a:xfrm>
            <a:off x="1003177" y="911225"/>
            <a:ext cx="9800947" cy="4699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is built into BAKFAA.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pavement responses (stress, strain, and deflection) under defined load types at different evaluation points within the pavement structure. 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is based on the layered elastic model.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based on the Boussinesq mathematical model which assumes: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Pavement layers extend infinitely in the horizontal direction.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Bottom layer extends infinitely downward.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Materials are not stressed beyond their elastic ranges.</a:t>
            </a:r>
            <a:endPara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3624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03C82D-B84F-4D51-81FD-1EEB85D29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140" y="2086897"/>
            <a:ext cx="6813754" cy="26334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LEAF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Required for LEAF Analysis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B0A7EAD-37EE-4592-B966-61E8CC88EEDF}"/>
              </a:ext>
            </a:extLst>
          </p:cNvPr>
          <p:cNvSpPr txBox="1">
            <a:spLocks/>
          </p:cNvSpPr>
          <p:nvPr/>
        </p:nvSpPr>
        <p:spPr bwMode="auto">
          <a:xfrm>
            <a:off x="290330" y="1208198"/>
            <a:ext cx="5087916" cy="4799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required for LEAF analysis: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Modulus of elasticity (either seed modulus or backcalculated modulus)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Poisson’s ratio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Layer thickness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Layer interface condition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Depth of evaluation point</a:t>
            </a:r>
          </a:p>
          <a:p>
            <a:pPr marL="342900" lvl="1" indent="-342900">
              <a:lnSpc>
                <a:spcPct val="107000"/>
              </a:lnSpc>
              <a:buChar char="•"/>
            </a:pPr>
            <a:r>
              <a:rPr 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Continuity in responses across pavement layers depends on their interface condition.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Depth of evaluation must represent the target layer</a:t>
            </a:r>
          </a:p>
          <a:p>
            <a:pPr lvl="1">
              <a:lnSpc>
                <a:spcPct val="107000"/>
              </a:lnSpc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367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5D97F4-5BCA-4B5B-A5A2-EFF843186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668" y="1434529"/>
            <a:ext cx="5743377" cy="45580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F76F08-E511-4014-8C99-9B0816403A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7276" b="85609"/>
          <a:stretch/>
        </p:blipFill>
        <p:spPr>
          <a:xfrm>
            <a:off x="8672982" y="143017"/>
            <a:ext cx="3371063" cy="11564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LEAF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Load and Gear Configuration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955" y="1313895"/>
            <a:ext cx="5948045" cy="4799311"/>
          </a:xfrm>
        </p:spPr>
        <p:txBody>
          <a:bodyPr>
            <a:norm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load from library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Generic gear geometry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Defined aircraft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Defined FWD loading configurations</a:t>
            </a:r>
          </a:p>
          <a:p>
            <a:pPr lvl="1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Library information is in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LEAFAircraft.Ext file located in BAKFAA directory (C:\Program Files\FAA\BAKFAA)</a:t>
            </a:r>
            <a:endParaRPr lang="en-US" sz="2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07000"/>
              </a:lnSpc>
              <a:buChar char="•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User can modify LEAFAircraft.Ext file or add user-defined landing gear geometry or FWD configuration.</a:t>
            </a:r>
          </a:p>
          <a:p>
            <a:pPr marL="342900" lvl="1" indent="-342900">
              <a:lnSpc>
                <a:spcPct val="107000"/>
              </a:lnSpc>
              <a:buChar char="•"/>
            </a:pPr>
            <a:r>
              <a:rPr lang="en-US" sz="2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User can modify coordinates of evaluation points </a:t>
            </a:r>
          </a:p>
          <a:p>
            <a:pPr lvl="1">
              <a:lnSpc>
                <a:spcPct val="107000"/>
              </a:lnSpc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93509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LEAF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Example (B-747-400)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AEAAB5-EE59-4D86-A403-B6E9173B7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582" y="1204312"/>
            <a:ext cx="4125714" cy="47771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39269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0F2C36-0271-4D45-8CB2-717631ED66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6386" b="85335"/>
          <a:stretch/>
        </p:blipFill>
        <p:spPr>
          <a:xfrm>
            <a:off x="8283921" y="80088"/>
            <a:ext cx="3538053" cy="11901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9" y="742395"/>
            <a:ext cx="10363200" cy="5715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LEAF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Outputs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955" y="1313895"/>
            <a:ext cx="5948045" cy="4799311"/>
          </a:xfrm>
        </p:spPr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Output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LEAF Output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Pavement layer structure table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Aircraft table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Tires data table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Pavement responses at evaluation points including eval point no., layer no. (determined by evaluation depth), X-coord, Y-coord, and Z-depth</a:t>
            </a:r>
          </a:p>
          <a:p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B1BB3-3B66-4B08-AF5B-61A3A4E19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84" y="1320684"/>
            <a:ext cx="5607990" cy="450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774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B9DF-26CC-44D3-A5E2-0BEBCAD67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795" y="2857500"/>
            <a:ext cx="10363200" cy="571500"/>
          </a:xfrm>
        </p:spPr>
        <p:txBody>
          <a:bodyPr/>
          <a:lstStyle/>
          <a:p>
            <a:pPr algn="ctr"/>
            <a:r>
              <a:rPr lang="en-US" sz="40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Demo</a:t>
            </a:r>
          </a:p>
        </p:txBody>
      </p:sp>
    </p:spTree>
    <p:extLst>
      <p:ext uri="{BB962C8B-B14F-4D97-AF65-F5344CB8AC3E}">
        <p14:creationId xmlns:p14="http://schemas.microsoft.com/office/powerpoint/2010/main" val="4681253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B9DF-26CC-44D3-A5E2-0BEBCAD67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795" y="2857500"/>
            <a:ext cx="10363200" cy="571500"/>
          </a:xfrm>
        </p:spPr>
        <p:txBody>
          <a:bodyPr/>
          <a:lstStyle/>
          <a:p>
            <a:pPr algn="ctr"/>
            <a:r>
              <a:rPr lang="en-US" sz="40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Pavement Example</a:t>
            </a:r>
          </a:p>
        </p:txBody>
      </p:sp>
    </p:spTree>
    <p:extLst>
      <p:ext uri="{BB962C8B-B14F-4D97-AF65-F5344CB8AC3E}">
        <p14:creationId xmlns:p14="http://schemas.microsoft.com/office/powerpoint/2010/main" val="15786125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BB5F39-B710-4045-9DD0-C289C9E60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45" name="Rectangle 44">
            <a:hlinkClick r:id="rId3" action="ppaction://hlinksldjump"/>
            <a:extLst>
              <a:ext uri="{FF2B5EF4-FFF2-40B4-BE49-F238E27FC236}">
                <a16:creationId xmlns:a16="http://schemas.microsoft.com/office/drawing/2014/main" id="{E8BF5761-195E-46C4-91AC-947A954D79A1}"/>
              </a:ext>
            </a:extLst>
          </p:cNvPr>
          <p:cNvSpPr/>
          <p:nvPr/>
        </p:nvSpPr>
        <p:spPr bwMode="auto">
          <a:xfrm>
            <a:off x="9000789" y="5144897"/>
            <a:ext cx="1326816" cy="648834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BC26836-914C-449B-B15B-B95122BE367C}"/>
              </a:ext>
            </a:extLst>
          </p:cNvPr>
          <p:cNvGrpSpPr/>
          <p:nvPr/>
        </p:nvGrpSpPr>
        <p:grpSpPr>
          <a:xfrm>
            <a:off x="2264340" y="159443"/>
            <a:ext cx="1164464" cy="519009"/>
            <a:chOff x="2281507" y="3612075"/>
            <a:chExt cx="1120023" cy="472599"/>
          </a:xfrm>
        </p:grpSpPr>
        <p:sp>
          <p:nvSpPr>
            <p:cNvPr id="25" name="Speech Bubble: Rectangle with Corners Rounded 24">
              <a:extLst>
                <a:ext uri="{FF2B5EF4-FFF2-40B4-BE49-F238E27FC236}">
                  <a16:creationId xmlns:a16="http://schemas.microsoft.com/office/drawing/2014/main" id="{BA39FF45-A704-4878-A469-3D710B9F2153}"/>
                </a:ext>
              </a:extLst>
            </p:cNvPr>
            <p:cNvSpPr/>
            <p:nvPr/>
          </p:nvSpPr>
          <p:spPr bwMode="auto">
            <a:xfrm rot="10800000">
              <a:off x="2281507" y="3612075"/>
              <a:ext cx="1036462" cy="472599"/>
            </a:xfrm>
            <a:prstGeom prst="wedgeRoundRectCallout">
              <a:avLst>
                <a:gd name="adj1" fmla="val 75628"/>
                <a:gd name="adj2" fmla="val 2261"/>
                <a:gd name="adj3" fmla="val 16667"/>
              </a:avLst>
            </a:prstGeom>
            <a:solidFill>
              <a:srgbClr val="FF9900"/>
            </a:solidFill>
            <a:ln>
              <a:solidFill>
                <a:srgbClr val="FF99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5D1A64A-D82C-4B36-A4C1-7B7850C23E54}"/>
                </a:ext>
              </a:extLst>
            </p:cNvPr>
            <p:cNvSpPr txBox="1"/>
            <p:nvPr/>
          </p:nvSpPr>
          <p:spPr>
            <a:xfrm>
              <a:off x="2365070" y="3665130"/>
              <a:ext cx="1036460" cy="3923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Click to load FWD file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4FF3725-BAF2-4245-BC23-0E0BA23C2F34}"/>
              </a:ext>
            </a:extLst>
          </p:cNvPr>
          <p:cNvSpPr txBox="1"/>
          <p:nvPr/>
        </p:nvSpPr>
        <p:spPr>
          <a:xfrm>
            <a:off x="121242" y="4090220"/>
            <a:ext cx="1539797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Load FWD file</a:t>
            </a:r>
          </a:p>
        </p:txBody>
      </p:sp>
    </p:spTree>
    <p:extLst>
      <p:ext uri="{BB962C8B-B14F-4D97-AF65-F5344CB8AC3E}">
        <p14:creationId xmlns:p14="http://schemas.microsoft.com/office/powerpoint/2010/main" val="36530849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BCDF5-9230-4424-9A48-3B038DA6D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45" name="Rectangle 44">
            <a:hlinkClick r:id="rId3" action="ppaction://hlinksldjump"/>
            <a:extLst>
              <a:ext uri="{FF2B5EF4-FFF2-40B4-BE49-F238E27FC236}">
                <a16:creationId xmlns:a16="http://schemas.microsoft.com/office/drawing/2014/main" id="{E8BF5761-195E-46C4-91AC-947A954D79A1}"/>
              </a:ext>
            </a:extLst>
          </p:cNvPr>
          <p:cNvSpPr/>
          <p:nvPr/>
        </p:nvSpPr>
        <p:spPr bwMode="auto">
          <a:xfrm>
            <a:off x="9000789" y="5144897"/>
            <a:ext cx="1326816" cy="648834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9DD884B-36B7-47F9-AC66-FBD7B658242A}"/>
              </a:ext>
            </a:extLst>
          </p:cNvPr>
          <p:cNvSpPr/>
          <p:nvPr/>
        </p:nvSpPr>
        <p:spPr bwMode="auto">
          <a:xfrm>
            <a:off x="837113" y="872121"/>
            <a:ext cx="733189" cy="442375"/>
          </a:xfrm>
          <a:prstGeom prst="rightArrow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Select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4AD3D2-6AF2-408E-8839-447FC8CC1D03}"/>
              </a:ext>
            </a:extLst>
          </p:cNvPr>
          <p:cNvSpPr txBox="1"/>
          <p:nvPr/>
        </p:nvSpPr>
        <p:spPr>
          <a:xfrm>
            <a:off x="121242" y="4090220"/>
            <a:ext cx="1539797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Load FWD file</a:t>
            </a:r>
          </a:p>
        </p:txBody>
      </p:sp>
    </p:spTree>
    <p:extLst>
      <p:ext uri="{BB962C8B-B14F-4D97-AF65-F5344CB8AC3E}">
        <p14:creationId xmlns:p14="http://schemas.microsoft.com/office/powerpoint/2010/main" val="29557587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10ACE1-46AF-495A-BA8E-F08A52952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45" name="Rectangle 44">
            <a:hlinkClick r:id="rId3" action="ppaction://hlinksldjump"/>
            <a:extLst>
              <a:ext uri="{FF2B5EF4-FFF2-40B4-BE49-F238E27FC236}">
                <a16:creationId xmlns:a16="http://schemas.microsoft.com/office/drawing/2014/main" id="{E8BF5761-195E-46C4-91AC-947A954D79A1}"/>
              </a:ext>
            </a:extLst>
          </p:cNvPr>
          <p:cNvSpPr/>
          <p:nvPr/>
        </p:nvSpPr>
        <p:spPr bwMode="auto">
          <a:xfrm>
            <a:off x="9000789" y="5144897"/>
            <a:ext cx="1326816" cy="648834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0090A8-FEAB-413C-B5FE-76CEE957B63C}"/>
              </a:ext>
            </a:extLst>
          </p:cNvPr>
          <p:cNvSpPr txBox="1"/>
          <p:nvPr/>
        </p:nvSpPr>
        <p:spPr>
          <a:xfrm>
            <a:off x="121242" y="4090220"/>
            <a:ext cx="1539797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Load FWD file</a:t>
            </a:r>
          </a:p>
        </p:txBody>
      </p:sp>
    </p:spTree>
    <p:extLst>
      <p:ext uri="{BB962C8B-B14F-4D97-AF65-F5344CB8AC3E}">
        <p14:creationId xmlns:p14="http://schemas.microsoft.com/office/powerpoint/2010/main" val="33597047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7C232D-A97E-4477-9E5F-564900B30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236" y="1216152"/>
            <a:ext cx="8879526" cy="480974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D3A722-4B56-44B2-BF67-BE2FE410A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954674"/>
              </p:ext>
            </p:extLst>
          </p:nvPr>
        </p:nvGraphicFramePr>
        <p:xfrm>
          <a:off x="2842094" y="142812"/>
          <a:ext cx="3827511" cy="965708"/>
        </p:xfrm>
        <a:graphic>
          <a:graphicData uri="http://schemas.openxmlformats.org/drawingml/2006/table">
            <a:tbl>
              <a:tblPr firstRow="1" firstCol="1" bandRow="1"/>
              <a:tblGrid>
                <a:gridCol w="2439368">
                  <a:extLst>
                    <a:ext uri="{9D8B030D-6E8A-4147-A177-3AD203B41FA5}">
                      <a16:colId xmlns:a16="http://schemas.microsoft.com/office/drawing/2014/main" val="1138582753"/>
                    </a:ext>
                  </a:extLst>
                </a:gridCol>
                <a:gridCol w="1388143">
                  <a:extLst>
                    <a:ext uri="{9D8B030D-6E8A-4147-A177-3AD203B41FA5}">
                      <a16:colId xmlns:a16="http://schemas.microsoft.com/office/drawing/2014/main" val="186715166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Material Type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Thickness (in.)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8967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P-401/P-403 hot mix asphalt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081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P-209 crushed stone base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788779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Subgrade with a CBR of 10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174606"/>
                  </a:ext>
                </a:extLst>
              </a:tr>
            </a:tbl>
          </a:graphicData>
        </a:graphic>
      </p:graphicFrame>
      <p:sp>
        <p:nvSpPr>
          <p:cNvPr id="46" name="Arrow: Right 45">
            <a:extLst>
              <a:ext uri="{FF2B5EF4-FFF2-40B4-BE49-F238E27FC236}">
                <a16:creationId xmlns:a16="http://schemas.microsoft.com/office/drawing/2014/main" id="{B0310E5C-47A6-45FB-B6B1-17FBDB11A9BD}"/>
              </a:ext>
            </a:extLst>
          </p:cNvPr>
          <p:cNvSpPr/>
          <p:nvPr/>
        </p:nvSpPr>
        <p:spPr bwMode="auto">
          <a:xfrm>
            <a:off x="1727107" y="2764882"/>
            <a:ext cx="1509636" cy="664118"/>
          </a:xfrm>
          <a:prstGeom prst="rightArrow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Select layer type from menu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98969B-03BF-486E-A5AC-EEBB19A90654}"/>
              </a:ext>
            </a:extLst>
          </p:cNvPr>
          <p:cNvSpPr txBox="1"/>
          <p:nvPr/>
        </p:nvSpPr>
        <p:spPr>
          <a:xfrm>
            <a:off x="144351" y="142812"/>
            <a:ext cx="2149641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Assign pavement structure</a:t>
            </a:r>
          </a:p>
        </p:txBody>
      </p:sp>
    </p:spTree>
    <p:extLst>
      <p:ext uri="{BB962C8B-B14F-4D97-AF65-F5344CB8AC3E}">
        <p14:creationId xmlns:p14="http://schemas.microsoft.com/office/powerpoint/2010/main" val="26328865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AB6552-55C8-4E82-80E5-85376478E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236" y="1221300"/>
            <a:ext cx="8879527" cy="4809743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998969B-03BF-486E-A5AC-EEBB19A90654}"/>
              </a:ext>
            </a:extLst>
          </p:cNvPr>
          <p:cNvSpPr txBox="1"/>
          <p:nvPr/>
        </p:nvSpPr>
        <p:spPr>
          <a:xfrm>
            <a:off x="144351" y="142812"/>
            <a:ext cx="2149641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Assign pavement structure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D930884-4AC0-464A-A0E7-89E5A747ECCA}"/>
              </a:ext>
            </a:extLst>
          </p:cNvPr>
          <p:cNvSpPr/>
          <p:nvPr/>
        </p:nvSpPr>
        <p:spPr bwMode="auto">
          <a:xfrm>
            <a:off x="1298934" y="2528382"/>
            <a:ext cx="1935797" cy="664118"/>
          </a:xfrm>
          <a:prstGeom prst="rightArrow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tabLst/>
            </a:pPr>
            <a:r>
              <a:rPr lang="en-US" sz="1100" dirty="0"/>
              <a:t>Choose</a:t>
            </a: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subgrade by selecting “User Defined”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4B3D03-C3A1-4DDD-A19E-787DEFDD4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262841"/>
              </p:ext>
            </p:extLst>
          </p:nvPr>
        </p:nvGraphicFramePr>
        <p:xfrm>
          <a:off x="2842094" y="142812"/>
          <a:ext cx="3827511" cy="965708"/>
        </p:xfrm>
        <a:graphic>
          <a:graphicData uri="http://schemas.openxmlformats.org/drawingml/2006/table">
            <a:tbl>
              <a:tblPr firstRow="1" firstCol="1" bandRow="1"/>
              <a:tblGrid>
                <a:gridCol w="2439368">
                  <a:extLst>
                    <a:ext uri="{9D8B030D-6E8A-4147-A177-3AD203B41FA5}">
                      <a16:colId xmlns:a16="http://schemas.microsoft.com/office/drawing/2014/main" val="1138582753"/>
                    </a:ext>
                  </a:extLst>
                </a:gridCol>
                <a:gridCol w="1388143">
                  <a:extLst>
                    <a:ext uri="{9D8B030D-6E8A-4147-A177-3AD203B41FA5}">
                      <a16:colId xmlns:a16="http://schemas.microsoft.com/office/drawing/2014/main" val="186715166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Material Type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Thickness (in.)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8967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P-401/P-403 hot mix asphalt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081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P-209 crushed stone base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788779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Subgrade with a CBR of 10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174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24715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CAF622-1D71-4782-AC52-B990AFCFA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235" y="1218010"/>
            <a:ext cx="8879527" cy="480974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998969B-03BF-486E-A5AC-EEBB19A90654}"/>
              </a:ext>
            </a:extLst>
          </p:cNvPr>
          <p:cNvSpPr txBox="1"/>
          <p:nvPr/>
        </p:nvSpPr>
        <p:spPr>
          <a:xfrm>
            <a:off x="144351" y="142812"/>
            <a:ext cx="2149641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Assign pavement structure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62B68A7-22A5-420C-9C20-04374E27539F}"/>
              </a:ext>
            </a:extLst>
          </p:cNvPr>
          <p:cNvSpPr/>
          <p:nvPr/>
        </p:nvSpPr>
        <p:spPr bwMode="auto">
          <a:xfrm>
            <a:off x="1083970" y="2520791"/>
            <a:ext cx="2149641" cy="917262"/>
          </a:xfrm>
          <a:prstGeom prst="rightArrow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Add bedrock by selecting “User Defined”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22A768E-CB73-4CBE-A923-84A152302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085657"/>
              </p:ext>
            </p:extLst>
          </p:nvPr>
        </p:nvGraphicFramePr>
        <p:xfrm>
          <a:off x="2842094" y="142812"/>
          <a:ext cx="3827511" cy="965708"/>
        </p:xfrm>
        <a:graphic>
          <a:graphicData uri="http://schemas.openxmlformats.org/drawingml/2006/table">
            <a:tbl>
              <a:tblPr firstRow="1" firstCol="1" bandRow="1"/>
              <a:tblGrid>
                <a:gridCol w="2439368">
                  <a:extLst>
                    <a:ext uri="{9D8B030D-6E8A-4147-A177-3AD203B41FA5}">
                      <a16:colId xmlns:a16="http://schemas.microsoft.com/office/drawing/2014/main" val="1138582753"/>
                    </a:ext>
                  </a:extLst>
                </a:gridCol>
                <a:gridCol w="1388143">
                  <a:extLst>
                    <a:ext uri="{9D8B030D-6E8A-4147-A177-3AD203B41FA5}">
                      <a16:colId xmlns:a16="http://schemas.microsoft.com/office/drawing/2014/main" val="186715166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Material Type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Thickness (in.)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8967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P-401/P-403 hot mix asphalt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081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P-209 crushed stone base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788779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Subgrade with a CBR of 10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174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5858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8FC241-DEB8-4DFB-B78B-499A286BD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3" y="0"/>
            <a:ext cx="11141612" cy="6035040"/>
          </a:xfrm>
          <a:prstGeom prst="rect">
            <a:avLst/>
          </a:prstGeom>
        </p:spPr>
      </p:pic>
      <p:sp>
        <p:nvSpPr>
          <p:cNvPr id="24" name="Callout: Bent Line 23">
            <a:extLst>
              <a:ext uri="{FF2B5EF4-FFF2-40B4-BE49-F238E27FC236}">
                <a16:creationId xmlns:a16="http://schemas.microsoft.com/office/drawing/2014/main" id="{AE56D104-66D4-4837-9E95-96A08C5A0BF3}"/>
              </a:ext>
            </a:extLst>
          </p:cNvPr>
          <p:cNvSpPr/>
          <p:nvPr/>
        </p:nvSpPr>
        <p:spPr bwMode="auto">
          <a:xfrm>
            <a:off x="4525807" y="388454"/>
            <a:ext cx="963561" cy="461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17466"/>
              <a:gd name="adj6" fmla="val -29379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Enter seed </a:t>
            </a:r>
            <a:r>
              <a:rPr lang="en-US" sz="1200" dirty="0"/>
              <a:t>v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0243A5E-34C3-40B2-BB6F-A1EB51905678}"/>
                  </a:ext>
                </a:extLst>
              </p:cNvPr>
              <p:cNvSpPr txBox="1"/>
              <p:nvPr/>
            </p:nvSpPr>
            <p:spPr>
              <a:xfrm>
                <a:off x="102559" y="2919454"/>
                <a:ext cx="2589290" cy="2855975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sz="1600" dirty="0"/>
                  <a:t>Assigned seed modulus for asphalt based on test temperature of 60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°</a:t>
                </a:r>
                <a:r>
                  <a:rPr lang="en-US" sz="1600" dirty="0"/>
                  <a:t>F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1600" dirty="0"/>
                  <a:t>Assign seed modulus  for subgrade based on CBR:</a:t>
                </a:r>
              </a:p>
              <a:p>
                <a:r>
                  <a:rPr lang="en-US" sz="1600" dirty="0"/>
                  <a:t>   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=1,500×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𝐶𝐵𝑅</m:t>
                    </m:r>
                  </m:oMath>
                </a14:m>
                <a:endParaRPr lang="en-US" sz="1600" i="1" dirty="0">
                  <a:latin typeface="Cambria Math" panose="02040503050406030204" pitchFamily="18" charset="0"/>
                </a:endParaRPr>
              </a:p>
              <a:p>
                <a:r>
                  <a:rPr lang="en-US" sz="1600" dirty="0"/>
                  <a:t>      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=15,000</m:t>
                    </m:r>
                  </m:oMath>
                </a14:m>
                <a:r>
                  <a:rPr lang="en-US" sz="1600" dirty="0"/>
                  <a:t> psi</a:t>
                </a:r>
              </a:p>
              <a:p>
                <a:pPr marL="285750" indent="-285750">
                  <a:buFontTx/>
                  <a:buChar char="-"/>
                </a:pPr>
                <a:endParaRPr lang="en-US" sz="1600" dirty="0"/>
              </a:p>
              <a:p>
                <a:pPr marL="285750" indent="-285750">
                  <a:buFontTx/>
                  <a:buChar char="-"/>
                </a:pPr>
                <a:endParaRPr 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0243A5E-34C3-40B2-BB6F-A1EB51905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59" y="2919454"/>
                <a:ext cx="2589290" cy="2855975"/>
              </a:xfrm>
              <a:prstGeom prst="rect">
                <a:avLst/>
              </a:prstGeom>
              <a:blipFill>
                <a:blip r:embed="rId3"/>
                <a:stretch>
                  <a:fillRect l="-703" t="-4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8EB26C3D-A65A-4BFC-8542-02D6DF26835C}"/>
              </a:ext>
            </a:extLst>
          </p:cNvPr>
          <p:cNvSpPr txBox="1"/>
          <p:nvPr/>
        </p:nvSpPr>
        <p:spPr>
          <a:xfrm>
            <a:off x="146304" y="146304"/>
            <a:ext cx="2149641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Assign seed modulus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72BBE0B0-6F95-4FEB-91C1-89D174EB51C9}"/>
              </a:ext>
            </a:extLst>
          </p:cNvPr>
          <p:cNvSpPr/>
          <p:nvPr/>
        </p:nvSpPr>
        <p:spPr bwMode="auto">
          <a:xfrm>
            <a:off x="2691849" y="2006708"/>
            <a:ext cx="2589291" cy="1001915"/>
          </a:xfrm>
          <a:prstGeom prst="wedgeEllipseCallout">
            <a:avLst>
              <a:gd name="adj1" fmla="val -34832"/>
              <a:gd name="adj2" fmla="val -58499"/>
            </a:avLst>
          </a:prstGeom>
          <a:solidFill>
            <a:srgbClr val="92D050"/>
          </a:solidFill>
          <a:ln w="127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/>
              <a:t>BAKFAA changes layer type to “User Defined” if user change the default seed values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126137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5DED8A-586D-4DE5-9B65-9C0D515F0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235" y="1218010"/>
            <a:ext cx="8879527" cy="48097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045F29-7CBD-4D42-A320-E5C12EE9B357}"/>
              </a:ext>
            </a:extLst>
          </p:cNvPr>
          <p:cNvSpPr txBox="1"/>
          <p:nvPr/>
        </p:nvSpPr>
        <p:spPr>
          <a:xfrm>
            <a:off x="146304" y="142355"/>
            <a:ext cx="2581237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Assign layer thickness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3B66F25-E9A5-4942-BDF1-FF41D598C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121582"/>
              </p:ext>
            </p:extLst>
          </p:nvPr>
        </p:nvGraphicFramePr>
        <p:xfrm>
          <a:off x="2842094" y="142812"/>
          <a:ext cx="3827511" cy="965708"/>
        </p:xfrm>
        <a:graphic>
          <a:graphicData uri="http://schemas.openxmlformats.org/drawingml/2006/table">
            <a:tbl>
              <a:tblPr firstRow="1" firstCol="1" bandRow="1"/>
              <a:tblGrid>
                <a:gridCol w="2439368">
                  <a:extLst>
                    <a:ext uri="{9D8B030D-6E8A-4147-A177-3AD203B41FA5}">
                      <a16:colId xmlns:a16="http://schemas.microsoft.com/office/drawing/2014/main" val="1138582753"/>
                    </a:ext>
                  </a:extLst>
                </a:gridCol>
                <a:gridCol w="1388143">
                  <a:extLst>
                    <a:ext uri="{9D8B030D-6E8A-4147-A177-3AD203B41FA5}">
                      <a16:colId xmlns:a16="http://schemas.microsoft.com/office/drawing/2014/main" val="186715166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Material Type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Thickness (in.)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8967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P-401/P-403 hot mix asphalt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081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P-209 crushed stone base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788779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Subgrade with a CBR of 10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174606"/>
                  </a:ext>
                </a:extLst>
              </a:tr>
            </a:tbl>
          </a:graphicData>
        </a:graphic>
      </p:graphicFrame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2626AB85-CDE5-4E88-B41D-D6E3C0BE17AF}"/>
              </a:ext>
            </a:extLst>
          </p:cNvPr>
          <p:cNvSpPr/>
          <p:nvPr/>
        </p:nvSpPr>
        <p:spPr bwMode="auto">
          <a:xfrm>
            <a:off x="6784096" y="1810186"/>
            <a:ext cx="1155031" cy="461665"/>
          </a:xfrm>
          <a:prstGeom prst="borderCallout2">
            <a:avLst/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Click to enter thickness</a:t>
            </a:r>
          </a:p>
        </p:txBody>
      </p:sp>
    </p:spTree>
    <p:extLst>
      <p:ext uri="{BB962C8B-B14F-4D97-AF65-F5344CB8AC3E}">
        <p14:creationId xmlns:p14="http://schemas.microsoft.com/office/powerpoint/2010/main" val="39331519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345E7DE-6114-4469-AB24-BF784DD8F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235" y="1218011"/>
            <a:ext cx="8879526" cy="4809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045F29-7CBD-4D42-A320-E5C12EE9B357}"/>
              </a:ext>
            </a:extLst>
          </p:cNvPr>
          <p:cNvSpPr txBox="1"/>
          <p:nvPr/>
        </p:nvSpPr>
        <p:spPr>
          <a:xfrm>
            <a:off x="146304" y="142355"/>
            <a:ext cx="2581237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Assign layer thickness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3B66F25-E9A5-4942-BDF1-FF41D598C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026469"/>
              </p:ext>
            </p:extLst>
          </p:nvPr>
        </p:nvGraphicFramePr>
        <p:xfrm>
          <a:off x="2842094" y="142812"/>
          <a:ext cx="3827511" cy="965708"/>
        </p:xfrm>
        <a:graphic>
          <a:graphicData uri="http://schemas.openxmlformats.org/drawingml/2006/table">
            <a:tbl>
              <a:tblPr firstRow="1" firstCol="1" bandRow="1"/>
              <a:tblGrid>
                <a:gridCol w="2439368">
                  <a:extLst>
                    <a:ext uri="{9D8B030D-6E8A-4147-A177-3AD203B41FA5}">
                      <a16:colId xmlns:a16="http://schemas.microsoft.com/office/drawing/2014/main" val="1138582753"/>
                    </a:ext>
                  </a:extLst>
                </a:gridCol>
                <a:gridCol w="1388143">
                  <a:extLst>
                    <a:ext uri="{9D8B030D-6E8A-4147-A177-3AD203B41FA5}">
                      <a16:colId xmlns:a16="http://schemas.microsoft.com/office/drawing/2014/main" val="186715166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Material Type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Thickness (in.)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8967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P-401/P-403 hot mix asphalt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081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P-209 crushed stone base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788779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Subgrade with a CBR of 10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174606"/>
                  </a:ext>
                </a:extLst>
              </a:tr>
            </a:tbl>
          </a:graphicData>
        </a:graphic>
      </p:graphicFrame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CB6D21DD-B2B1-4CB7-8595-84B150010571}"/>
              </a:ext>
            </a:extLst>
          </p:cNvPr>
          <p:cNvSpPr/>
          <p:nvPr/>
        </p:nvSpPr>
        <p:spPr bwMode="auto">
          <a:xfrm>
            <a:off x="6857738" y="1462699"/>
            <a:ext cx="1183571" cy="47315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2110"/>
              <a:gd name="adj6" fmla="val -51652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Complete all thicknesses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21AA91-0B25-4084-8C8D-06D76EECC967}"/>
              </a:ext>
            </a:extLst>
          </p:cNvPr>
          <p:cNvSpPr/>
          <p:nvPr/>
        </p:nvSpPr>
        <p:spPr bwMode="auto">
          <a:xfrm>
            <a:off x="5993859" y="1935849"/>
            <a:ext cx="411480" cy="896112"/>
          </a:xfrm>
          <a:prstGeom prst="rect">
            <a:avLst/>
          </a:prstGeom>
          <a:noFill/>
          <a:ln w="28575">
            <a:solidFill>
              <a:srgbClr val="FFC0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02C011-A7A9-4BEA-B977-B9F37E8BD34A}"/>
              </a:ext>
            </a:extLst>
          </p:cNvPr>
          <p:cNvSpPr/>
          <p:nvPr/>
        </p:nvSpPr>
        <p:spPr bwMode="auto">
          <a:xfrm>
            <a:off x="5222806" y="1935849"/>
            <a:ext cx="411480" cy="896112"/>
          </a:xfrm>
          <a:prstGeom prst="rect">
            <a:avLst/>
          </a:prstGeom>
          <a:noFill/>
          <a:ln w="28575">
            <a:solidFill>
              <a:srgbClr val="FFC0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BC2D1548-21F5-426C-B88E-078C9838CFC6}"/>
              </a:ext>
            </a:extLst>
          </p:cNvPr>
          <p:cNvSpPr/>
          <p:nvPr/>
        </p:nvSpPr>
        <p:spPr bwMode="auto">
          <a:xfrm>
            <a:off x="3503693" y="1477148"/>
            <a:ext cx="1360844" cy="461665"/>
          </a:xfrm>
          <a:prstGeom prst="borderCallout2">
            <a:avLst>
              <a:gd name="adj1" fmla="val 26404"/>
              <a:gd name="adj2" fmla="val 104111"/>
              <a:gd name="adj3" fmla="val 26404"/>
              <a:gd name="adj4" fmla="val 112606"/>
              <a:gd name="adj5" fmla="val 98093"/>
              <a:gd name="adj6" fmla="val 140544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Complete all Poisson’s ratios</a:t>
            </a:r>
          </a:p>
        </p:txBody>
      </p:sp>
      <p:sp>
        <p:nvSpPr>
          <p:cNvPr id="16" name="Speech Bubble: Oval 15">
            <a:extLst>
              <a:ext uri="{FF2B5EF4-FFF2-40B4-BE49-F238E27FC236}">
                <a16:creationId xmlns:a16="http://schemas.microsoft.com/office/drawing/2014/main" id="{E4BA08FC-8F98-4872-9A1E-8534249A316F}"/>
              </a:ext>
            </a:extLst>
          </p:cNvPr>
          <p:cNvSpPr/>
          <p:nvPr/>
        </p:nvSpPr>
        <p:spPr bwMode="auto">
          <a:xfrm>
            <a:off x="6267968" y="3020604"/>
            <a:ext cx="2070274" cy="640798"/>
          </a:xfrm>
          <a:prstGeom prst="wedgeEllipseCallout">
            <a:avLst>
              <a:gd name="adj1" fmla="val -41829"/>
              <a:gd name="adj2" fmla="val -81104"/>
            </a:avLst>
          </a:prstGeom>
          <a:solidFill>
            <a:srgbClr val="92D050"/>
          </a:solidFill>
          <a:ln w="127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/>
              <a:t>Thickness of last layer must be zero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052128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9E59CB-D729-47C7-9BC1-E81A3B1C7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14" name="Callout: Bent Line 13">
            <a:extLst>
              <a:ext uri="{FF2B5EF4-FFF2-40B4-BE49-F238E27FC236}">
                <a16:creationId xmlns:a16="http://schemas.microsoft.com/office/drawing/2014/main" id="{6ED7E14F-F4F2-45A7-A5A5-512219D8E0D6}"/>
              </a:ext>
            </a:extLst>
          </p:cNvPr>
          <p:cNvSpPr/>
          <p:nvPr/>
        </p:nvSpPr>
        <p:spPr bwMode="auto">
          <a:xfrm>
            <a:off x="8072789" y="4782224"/>
            <a:ext cx="1213744" cy="46796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2695"/>
              <a:gd name="adj6" fmla="val -43376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Click to</a:t>
            </a:r>
            <a:r>
              <a:rPr kumimoji="0" lang="en-US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select FWD drop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B2B966-41B4-4A1B-84D2-21C3FAB442D2}"/>
              </a:ext>
            </a:extLst>
          </p:cNvPr>
          <p:cNvSpPr txBox="1"/>
          <p:nvPr/>
        </p:nvSpPr>
        <p:spPr>
          <a:xfrm>
            <a:off x="146304" y="146304"/>
            <a:ext cx="1747048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Select FWD drop</a:t>
            </a:r>
          </a:p>
        </p:txBody>
      </p:sp>
    </p:spTree>
    <p:extLst>
      <p:ext uri="{BB962C8B-B14F-4D97-AF65-F5344CB8AC3E}">
        <p14:creationId xmlns:p14="http://schemas.microsoft.com/office/powerpoint/2010/main" val="35976900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96CFAEC-0A67-4E61-A161-AF7894E9D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40582657-6145-4118-A350-EEDACD22A870}"/>
              </a:ext>
            </a:extLst>
          </p:cNvPr>
          <p:cNvSpPr/>
          <p:nvPr/>
        </p:nvSpPr>
        <p:spPr bwMode="auto">
          <a:xfrm>
            <a:off x="4360676" y="2350666"/>
            <a:ext cx="1855842" cy="461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7248"/>
              <a:gd name="adj6" fmla="val -46667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Click to exclude sensor at negative offset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B2B966-41B4-4A1B-84D2-21C3FAB442D2}"/>
              </a:ext>
            </a:extLst>
          </p:cNvPr>
          <p:cNvSpPr txBox="1"/>
          <p:nvPr/>
        </p:nvSpPr>
        <p:spPr>
          <a:xfrm>
            <a:off x="146304" y="146304"/>
            <a:ext cx="1747048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Exclude sensor at negative offset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0BA065FF-0839-41F4-A234-0E8993979919}"/>
              </a:ext>
            </a:extLst>
          </p:cNvPr>
          <p:cNvSpPr/>
          <p:nvPr/>
        </p:nvSpPr>
        <p:spPr bwMode="auto">
          <a:xfrm>
            <a:off x="2623201" y="2015212"/>
            <a:ext cx="1333163" cy="402063"/>
          </a:xfrm>
          <a:prstGeom prst="wedgeEllipseCallout">
            <a:avLst>
              <a:gd name="adj1" fmla="val -37811"/>
              <a:gd name="adj2" fmla="val 85045"/>
            </a:avLst>
          </a:prstGeom>
          <a:solidFill>
            <a:srgbClr val="92D050"/>
          </a:solidFill>
          <a:ln w="127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/>
              <a:t>Sensor tab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7706291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1E0141-853F-4EAE-8B6B-9C19DEC32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10" name="Callout: Bent Line 9">
            <a:extLst>
              <a:ext uri="{FF2B5EF4-FFF2-40B4-BE49-F238E27FC236}">
                <a16:creationId xmlns:a16="http://schemas.microsoft.com/office/drawing/2014/main" id="{DAD16965-BAC4-40AB-88EA-AAFA55E26F2F}"/>
              </a:ext>
            </a:extLst>
          </p:cNvPr>
          <p:cNvSpPr/>
          <p:nvPr/>
        </p:nvSpPr>
        <p:spPr bwMode="auto">
          <a:xfrm>
            <a:off x="6986825" y="3971913"/>
            <a:ext cx="1647921" cy="29837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2397"/>
              <a:gd name="adj6" fmla="val -46154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Click Yes to confirm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B2B966-41B4-4A1B-84D2-21C3FAB442D2}"/>
              </a:ext>
            </a:extLst>
          </p:cNvPr>
          <p:cNvSpPr txBox="1"/>
          <p:nvPr/>
        </p:nvSpPr>
        <p:spPr>
          <a:xfrm>
            <a:off x="146304" y="146304"/>
            <a:ext cx="1747048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Exclude sensor at negative offset</a:t>
            </a:r>
          </a:p>
        </p:txBody>
      </p:sp>
    </p:spTree>
    <p:extLst>
      <p:ext uri="{BB962C8B-B14F-4D97-AF65-F5344CB8AC3E}">
        <p14:creationId xmlns:p14="http://schemas.microsoft.com/office/powerpoint/2010/main" val="65959033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0E2610E-39D5-4D16-ABFC-442BEC835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16" name="Callout: Bent Line 15">
            <a:extLst>
              <a:ext uri="{FF2B5EF4-FFF2-40B4-BE49-F238E27FC236}">
                <a16:creationId xmlns:a16="http://schemas.microsoft.com/office/drawing/2014/main" id="{1A4A0C45-FDF5-4D55-A10A-5D40E4041AF9}"/>
              </a:ext>
            </a:extLst>
          </p:cNvPr>
          <p:cNvSpPr/>
          <p:nvPr/>
        </p:nvSpPr>
        <p:spPr bwMode="auto">
          <a:xfrm>
            <a:off x="7187287" y="2306142"/>
            <a:ext cx="1639842" cy="64633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3336"/>
              <a:gd name="adj6" fmla="val -26957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Toggled off to fix the bedrock modulus in backcalculation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8D7CD1-5E16-4C80-8430-F160E4A940EC}"/>
              </a:ext>
            </a:extLst>
          </p:cNvPr>
          <p:cNvSpPr txBox="1"/>
          <p:nvPr/>
        </p:nvSpPr>
        <p:spPr>
          <a:xfrm>
            <a:off x="146304" y="146304"/>
            <a:ext cx="2116015" cy="830997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Fix bedrock modulus value during backcalculation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B2C702A1-0205-4DB4-B133-EF76E9745DC8}"/>
              </a:ext>
            </a:extLst>
          </p:cNvPr>
          <p:cNvSpPr/>
          <p:nvPr/>
        </p:nvSpPr>
        <p:spPr bwMode="auto">
          <a:xfrm>
            <a:off x="7412484" y="4832377"/>
            <a:ext cx="1414645" cy="852475"/>
          </a:xfrm>
          <a:prstGeom prst="wedgeEllipseCallout">
            <a:avLst>
              <a:gd name="adj1" fmla="val -63841"/>
              <a:gd name="adj2" fmla="val 26231"/>
            </a:avLst>
          </a:prstGeom>
          <a:solidFill>
            <a:srgbClr val="92D050"/>
          </a:solidFill>
          <a:ln w="127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/>
              <a:t>Check that correct drop is selected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2523098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4D38DD-D8DC-4D8A-B630-5E0081230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19" name="Callout: Bent Line 18">
            <a:extLst>
              <a:ext uri="{FF2B5EF4-FFF2-40B4-BE49-F238E27FC236}">
                <a16:creationId xmlns:a16="http://schemas.microsoft.com/office/drawing/2014/main" id="{9C4B5E04-80E8-408C-923B-DD51617275BC}"/>
              </a:ext>
            </a:extLst>
          </p:cNvPr>
          <p:cNvSpPr/>
          <p:nvPr/>
        </p:nvSpPr>
        <p:spPr bwMode="auto">
          <a:xfrm>
            <a:off x="6752568" y="1039215"/>
            <a:ext cx="1323123" cy="461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0817"/>
              <a:gd name="adj6" fmla="val -32476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Click to start backcalculation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8D7CD1-5E16-4C80-8430-F160E4A940EC}"/>
              </a:ext>
            </a:extLst>
          </p:cNvPr>
          <p:cNvSpPr txBox="1"/>
          <p:nvPr/>
        </p:nvSpPr>
        <p:spPr>
          <a:xfrm>
            <a:off x="146304" y="146304"/>
            <a:ext cx="2116015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Start backcalculation</a:t>
            </a:r>
          </a:p>
        </p:txBody>
      </p:sp>
    </p:spTree>
    <p:extLst>
      <p:ext uri="{BB962C8B-B14F-4D97-AF65-F5344CB8AC3E}">
        <p14:creationId xmlns:p14="http://schemas.microsoft.com/office/powerpoint/2010/main" val="383258519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7BC164-1DF1-4E7E-A7F5-4C71D628B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296D808-C811-4192-9D1B-708583B9B5CB}"/>
              </a:ext>
            </a:extLst>
          </p:cNvPr>
          <p:cNvSpPr/>
          <p:nvPr/>
        </p:nvSpPr>
        <p:spPr bwMode="auto">
          <a:xfrm>
            <a:off x="4296315" y="891538"/>
            <a:ext cx="737412" cy="1124712"/>
          </a:xfrm>
          <a:prstGeom prst="rect">
            <a:avLst/>
          </a:prstGeom>
          <a:noFill/>
          <a:ln w="28575"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Callout: Bent Line 22">
            <a:extLst>
              <a:ext uri="{FF2B5EF4-FFF2-40B4-BE49-F238E27FC236}">
                <a16:creationId xmlns:a16="http://schemas.microsoft.com/office/drawing/2014/main" id="{47DC00E7-81D0-412F-AEC7-8DD7DA0BE7CE}"/>
              </a:ext>
            </a:extLst>
          </p:cNvPr>
          <p:cNvSpPr/>
          <p:nvPr/>
        </p:nvSpPr>
        <p:spPr bwMode="auto">
          <a:xfrm>
            <a:off x="4958179" y="2129574"/>
            <a:ext cx="1229031" cy="461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2522"/>
              <a:gd name="adj6" fmla="val -25655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Backcalculated moduli</a:t>
            </a:r>
          </a:p>
        </p:txBody>
      </p:sp>
      <p:sp>
        <p:nvSpPr>
          <p:cNvPr id="24" name="Callout: Bent Line 23">
            <a:extLst>
              <a:ext uri="{FF2B5EF4-FFF2-40B4-BE49-F238E27FC236}">
                <a16:creationId xmlns:a16="http://schemas.microsoft.com/office/drawing/2014/main" id="{71A79FFA-C483-490C-8DE1-D0A540D90C3F}"/>
              </a:ext>
            </a:extLst>
          </p:cNvPr>
          <p:cNvSpPr/>
          <p:nvPr/>
        </p:nvSpPr>
        <p:spPr bwMode="auto">
          <a:xfrm>
            <a:off x="8947444" y="2064375"/>
            <a:ext cx="677447" cy="29603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37682"/>
              <a:gd name="adj6" fmla="val -57197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RMSE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8D7CD1-5E16-4C80-8430-F160E4A940EC}"/>
              </a:ext>
            </a:extLst>
          </p:cNvPr>
          <p:cNvSpPr txBox="1"/>
          <p:nvPr/>
        </p:nvSpPr>
        <p:spPr>
          <a:xfrm>
            <a:off x="146304" y="146304"/>
            <a:ext cx="2116015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Backcalculation results</a:t>
            </a:r>
          </a:p>
        </p:txBody>
      </p:sp>
    </p:spTree>
    <p:extLst>
      <p:ext uri="{BB962C8B-B14F-4D97-AF65-F5344CB8AC3E}">
        <p14:creationId xmlns:p14="http://schemas.microsoft.com/office/powerpoint/2010/main" val="14888286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2AC2A8-E0A6-4B11-A3A1-D3167915F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0D4DB0D-5AC4-4C3C-9D3D-4E6FE2C08EBA}"/>
              </a:ext>
            </a:extLst>
          </p:cNvPr>
          <p:cNvGrpSpPr/>
          <p:nvPr/>
        </p:nvGrpSpPr>
        <p:grpSpPr>
          <a:xfrm>
            <a:off x="1838321" y="283985"/>
            <a:ext cx="2176336" cy="1823165"/>
            <a:chOff x="1716083" y="3490077"/>
            <a:chExt cx="1496923" cy="2389883"/>
          </a:xfrm>
        </p:grpSpPr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737ABB3E-7767-41F8-9560-7008B4B98EEA}"/>
                </a:ext>
              </a:extLst>
            </p:cNvPr>
            <p:cNvSpPr/>
            <p:nvPr/>
          </p:nvSpPr>
          <p:spPr bwMode="auto">
            <a:xfrm rot="10800000">
              <a:off x="1716083" y="3490077"/>
              <a:ext cx="1444783" cy="725448"/>
            </a:xfrm>
            <a:prstGeom prst="wedgeRoundRectCallout">
              <a:avLst>
                <a:gd name="adj1" fmla="val 63908"/>
                <a:gd name="adj2" fmla="val -458"/>
                <a:gd name="adj3" fmla="val 16667"/>
              </a:avLst>
            </a:prstGeom>
            <a:solidFill>
              <a:srgbClr val="FF9900"/>
            </a:solidFill>
            <a:ln>
              <a:solidFill>
                <a:srgbClr val="FF99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E40AFF4-72FC-46D6-9C6A-0625511D3BFC}"/>
                </a:ext>
              </a:extLst>
            </p:cNvPr>
            <p:cNvSpPr txBox="1"/>
            <p:nvPr/>
          </p:nvSpPr>
          <p:spPr>
            <a:xfrm>
              <a:off x="1768225" y="3616330"/>
              <a:ext cx="1444781" cy="22636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Click to save the pavement and FWD file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576561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A13D4F-E9CB-4A34-9454-D204DDC0D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B1397E7C-2A75-4B97-B4E2-E3FD8D2B8AF7}"/>
              </a:ext>
            </a:extLst>
          </p:cNvPr>
          <p:cNvSpPr/>
          <p:nvPr/>
        </p:nvSpPr>
        <p:spPr bwMode="auto">
          <a:xfrm>
            <a:off x="7047885" y="4313004"/>
            <a:ext cx="1927365" cy="69074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2397"/>
              <a:gd name="adj6" fmla="val -46154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Click Yes to confirm saving pavement section and FWD data</a:t>
            </a:r>
          </a:p>
        </p:txBody>
      </p:sp>
    </p:spTree>
    <p:extLst>
      <p:ext uri="{BB962C8B-B14F-4D97-AF65-F5344CB8AC3E}">
        <p14:creationId xmlns:p14="http://schemas.microsoft.com/office/powerpoint/2010/main" val="114661798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F0EF34-E487-4A83-89A1-5DD28C9CB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9053"/>
            <a:ext cx="11141612" cy="6035040"/>
          </a:xfrm>
          <a:prstGeom prst="rect">
            <a:avLst/>
          </a:prstGeom>
        </p:spPr>
      </p:pic>
      <p:sp>
        <p:nvSpPr>
          <p:cNvPr id="15" name="Callout: Bent Line 14">
            <a:extLst>
              <a:ext uri="{FF2B5EF4-FFF2-40B4-BE49-F238E27FC236}">
                <a16:creationId xmlns:a16="http://schemas.microsoft.com/office/drawing/2014/main" id="{EC950013-D294-46D8-AB92-8722F3251FC1}"/>
              </a:ext>
            </a:extLst>
          </p:cNvPr>
          <p:cNvSpPr/>
          <p:nvPr/>
        </p:nvSpPr>
        <p:spPr bwMode="auto">
          <a:xfrm>
            <a:off x="5757612" y="3524163"/>
            <a:ext cx="932420" cy="461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6449"/>
              <a:gd name="adj6" fmla="val -69352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Click to </a:t>
            </a:r>
            <a:r>
              <a:rPr lang="en-US" sz="1200" dirty="0"/>
              <a:t>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ave</a:t>
            </a:r>
          </a:p>
        </p:txBody>
      </p:sp>
    </p:spTree>
    <p:extLst>
      <p:ext uri="{BB962C8B-B14F-4D97-AF65-F5344CB8AC3E}">
        <p14:creationId xmlns:p14="http://schemas.microsoft.com/office/powerpoint/2010/main" val="216823997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B9DF-26CC-44D3-A5E2-0BEBCAD67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795" y="2857500"/>
            <a:ext cx="10363200" cy="571500"/>
          </a:xfrm>
        </p:spPr>
        <p:txBody>
          <a:bodyPr/>
          <a:lstStyle/>
          <a:p>
            <a:pPr algn="ctr"/>
            <a:r>
              <a:rPr lang="en-US" sz="40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Rigid Pavement Example</a:t>
            </a:r>
          </a:p>
        </p:txBody>
      </p:sp>
    </p:spTree>
    <p:extLst>
      <p:ext uri="{BB962C8B-B14F-4D97-AF65-F5344CB8AC3E}">
        <p14:creationId xmlns:p14="http://schemas.microsoft.com/office/powerpoint/2010/main" val="152721473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1A5661-9173-4245-B298-5E7A79B00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235" y="1225296"/>
            <a:ext cx="8879527" cy="480974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9A52D3-E4B5-4716-BFB5-FC43A4051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337336"/>
              </p:ext>
            </p:extLst>
          </p:nvPr>
        </p:nvGraphicFramePr>
        <p:xfrm>
          <a:off x="3497262" y="146304"/>
          <a:ext cx="3486275" cy="965708"/>
        </p:xfrm>
        <a:graphic>
          <a:graphicData uri="http://schemas.openxmlformats.org/drawingml/2006/table">
            <a:tbl>
              <a:tblPr firstRow="1" firstCol="1" bandRow="1"/>
              <a:tblGrid>
                <a:gridCol w="2340928">
                  <a:extLst>
                    <a:ext uri="{9D8B030D-6E8A-4147-A177-3AD203B41FA5}">
                      <a16:colId xmlns:a16="http://schemas.microsoft.com/office/drawing/2014/main" val="3141318612"/>
                    </a:ext>
                  </a:extLst>
                </a:gridCol>
                <a:gridCol w="1145347">
                  <a:extLst>
                    <a:ext uri="{9D8B030D-6E8A-4147-A177-3AD203B41FA5}">
                      <a16:colId xmlns:a16="http://schemas.microsoft.com/office/drawing/2014/main" val="128900181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Material Type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Thickness (in)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7752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P-501 cement concrete pavement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14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4347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P-156 cement treated subgrade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464301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Subgrade with a CBR of 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2868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E0F2298-F833-4972-84FC-04C275C4A5B7}"/>
              </a:ext>
            </a:extLst>
          </p:cNvPr>
          <p:cNvSpPr txBox="1"/>
          <p:nvPr/>
        </p:nvSpPr>
        <p:spPr>
          <a:xfrm>
            <a:off x="146304" y="146304"/>
            <a:ext cx="3181475" cy="1077218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Load pavement section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Load FWD file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Assign layers and thickness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Assign seed modulus </a:t>
            </a:r>
          </a:p>
        </p:txBody>
      </p:sp>
    </p:spTree>
    <p:extLst>
      <p:ext uri="{BB962C8B-B14F-4D97-AF65-F5344CB8AC3E}">
        <p14:creationId xmlns:p14="http://schemas.microsoft.com/office/powerpoint/2010/main" val="41277331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DE9A4D-7ACF-4B99-8D47-A1C90B056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6" name="Callout: Bent Line 5">
            <a:extLst>
              <a:ext uri="{FF2B5EF4-FFF2-40B4-BE49-F238E27FC236}">
                <a16:creationId xmlns:a16="http://schemas.microsoft.com/office/drawing/2014/main" id="{66F84709-5149-48B9-9180-39FEA3AC78B7}"/>
              </a:ext>
            </a:extLst>
          </p:cNvPr>
          <p:cNvSpPr/>
          <p:nvPr/>
        </p:nvSpPr>
        <p:spPr bwMode="auto">
          <a:xfrm>
            <a:off x="7783447" y="5198039"/>
            <a:ext cx="1362802" cy="49380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9396"/>
              <a:gd name="adj6" fmla="val -22011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Click to select FWD drops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4BA93B-DDD7-4E07-98F8-DD4381B6FD7E}"/>
              </a:ext>
            </a:extLst>
          </p:cNvPr>
          <p:cNvSpPr txBox="1"/>
          <p:nvPr/>
        </p:nvSpPr>
        <p:spPr>
          <a:xfrm>
            <a:off x="146304" y="146304"/>
            <a:ext cx="2116015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Select FWD drops</a:t>
            </a:r>
          </a:p>
        </p:txBody>
      </p:sp>
    </p:spTree>
    <p:extLst>
      <p:ext uri="{BB962C8B-B14F-4D97-AF65-F5344CB8AC3E}">
        <p14:creationId xmlns:p14="http://schemas.microsoft.com/office/powerpoint/2010/main" val="3755227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8243D8-09A4-47DC-939D-86917D55F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15" name="Callout: Bent Line 14">
            <a:extLst>
              <a:ext uri="{FF2B5EF4-FFF2-40B4-BE49-F238E27FC236}">
                <a16:creationId xmlns:a16="http://schemas.microsoft.com/office/drawing/2014/main" id="{C7433C50-05A4-43C5-80F0-9A091E94E569}"/>
              </a:ext>
            </a:extLst>
          </p:cNvPr>
          <p:cNvSpPr/>
          <p:nvPr/>
        </p:nvSpPr>
        <p:spPr bwMode="auto">
          <a:xfrm>
            <a:off x="6376414" y="4343162"/>
            <a:ext cx="1234554" cy="461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1342"/>
              <a:gd name="adj6" fmla="val -81052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Select drop </a:t>
            </a:r>
            <a:r>
              <a:rPr lang="en-US" sz="1200" dirty="0"/>
              <a:t>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o. 3 and click 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4BA93B-DDD7-4E07-98F8-DD4381B6FD7E}"/>
              </a:ext>
            </a:extLst>
          </p:cNvPr>
          <p:cNvSpPr txBox="1"/>
          <p:nvPr/>
        </p:nvSpPr>
        <p:spPr>
          <a:xfrm>
            <a:off x="146304" y="142354"/>
            <a:ext cx="2116015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Select FWD drops</a:t>
            </a:r>
          </a:p>
        </p:txBody>
      </p:sp>
    </p:spTree>
    <p:extLst>
      <p:ext uri="{BB962C8B-B14F-4D97-AF65-F5344CB8AC3E}">
        <p14:creationId xmlns:p14="http://schemas.microsoft.com/office/powerpoint/2010/main" val="199035577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40FA91-5A7E-4B3B-9264-EB8B2E47D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B4BE4A82-58A3-4AF5-B55F-D47B286EE950}"/>
              </a:ext>
            </a:extLst>
          </p:cNvPr>
          <p:cNvSpPr/>
          <p:nvPr/>
        </p:nvSpPr>
        <p:spPr bwMode="auto">
          <a:xfrm>
            <a:off x="7777350" y="4017269"/>
            <a:ext cx="2398746" cy="455143"/>
          </a:xfrm>
          <a:prstGeom prst="wedgeEllipseCallout">
            <a:avLst>
              <a:gd name="adj1" fmla="val -59259"/>
              <a:gd name="adj2" fmla="val -37833"/>
            </a:avLst>
          </a:prstGeom>
          <a:solidFill>
            <a:srgbClr val="92D050"/>
          </a:solidFill>
          <a:ln w="127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/>
              <a:t>All drop no. 3 selected</a:t>
            </a:r>
            <a:endParaRPr lang="en-US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4BA93B-DDD7-4E07-98F8-DD4381B6FD7E}"/>
              </a:ext>
            </a:extLst>
          </p:cNvPr>
          <p:cNvSpPr txBox="1"/>
          <p:nvPr/>
        </p:nvSpPr>
        <p:spPr>
          <a:xfrm>
            <a:off x="146304" y="142354"/>
            <a:ext cx="2116015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Select FWD drops</a:t>
            </a:r>
          </a:p>
        </p:txBody>
      </p:sp>
    </p:spTree>
    <p:extLst>
      <p:ext uri="{BB962C8B-B14F-4D97-AF65-F5344CB8AC3E}">
        <p14:creationId xmlns:p14="http://schemas.microsoft.com/office/powerpoint/2010/main" val="33222193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EDBAA2-FB8D-409B-B243-F659C92F4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5" name="Callout: Bent Line 4">
            <a:extLst>
              <a:ext uri="{FF2B5EF4-FFF2-40B4-BE49-F238E27FC236}">
                <a16:creationId xmlns:a16="http://schemas.microsoft.com/office/drawing/2014/main" id="{A3E59439-91DE-4F2A-85A9-41AF701CB63C}"/>
              </a:ext>
            </a:extLst>
          </p:cNvPr>
          <p:cNvSpPr/>
          <p:nvPr/>
        </p:nvSpPr>
        <p:spPr bwMode="auto">
          <a:xfrm>
            <a:off x="6886908" y="1047640"/>
            <a:ext cx="1623973" cy="461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0817"/>
              <a:gd name="adj6" fmla="val -32476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Click to start backcalculation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6E0E17-7933-42BD-B465-36C07D98F509}"/>
              </a:ext>
            </a:extLst>
          </p:cNvPr>
          <p:cNvSpPr txBox="1"/>
          <p:nvPr/>
        </p:nvSpPr>
        <p:spPr>
          <a:xfrm>
            <a:off x="146304" y="142354"/>
            <a:ext cx="2116015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Start backcalculation in batch mode</a:t>
            </a:r>
          </a:p>
        </p:txBody>
      </p:sp>
    </p:spTree>
    <p:extLst>
      <p:ext uri="{BB962C8B-B14F-4D97-AF65-F5344CB8AC3E}">
        <p14:creationId xmlns:p14="http://schemas.microsoft.com/office/powerpoint/2010/main" val="404051978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E14860-C245-4CE1-BA7D-4B6BEAD8B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C25AC0B6-6D9A-44B3-A987-4531DE83210D}"/>
              </a:ext>
            </a:extLst>
          </p:cNvPr>
          <p:cNvSpPr/>
          <p:nvPr/>
        </p:nvSpPr>
        <p:spPr bwMode="auto">
          <a:xfrm>
            <a:off x="7192457" y="3819155"/>
            <a:ext cx="1256158" cy="461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2116"/>
              <a:gd name="adj6" fmla="val -41457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Click to save .csv output file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6E0E17-7933-42BD-B465-36C07D98F509}"/>
              </a:ext>
            </a:extLst>
          </p:cNvPr>
          <p:cNvSpPr txBox="1"/>
          <p:nvPr/>
        </p:nvSpPr>
        <p:spPr>
          <a:xfrm>
            <a:off x="146304" y="142354"/>
            <a:ext cx="2116015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Start backcalculation in batch mode</a:t>
            </a:r>
          </a:p>
        </p:txBody>
      </p:sp>
    </p:spTree>
    <p:extLst>
      <p:ext uri="{BB962C8B-B14F-4D97-AF65-F5344CB8AC3E}">
        <p14:creationId xmlns:p14="http://schemas.microsoft.com/office/powerpoint/2010/main" val="324499351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2B085D-58BB-4C8F-AF46-8A48D0207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6120F2CF-D6FB-4EB4-B5E6-0775BD114218}"/>
              </a:ext>
            </a:extLst>
          </p:cNvPr>
          <p:cNvSpPr/>
          <p:nvPr/>
        </p:nvSpPr>
        <p:spPr bwMode="auto">
          <a:xfrm>
            <a:off x="5752403" y="3596206"/>
            <a:ext cx="1380939" cy="461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2397"/>
              <a:gd name="adj6" fmla="val -46154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Click to save .csv output file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6E0E17-7933-42BD-B465-36C07D98F509}"/>
              </a:ext>
            </a:extLst>
          </p:cNvPr>
          <p:cNvSpPr txBox="1"/>
          <p:nvPr/>
        </p:nvSpPr>
        <p:spPr>
          <a:xfrm>
            <a:off x="146304" y="4087368"/>
            <a:ext cx="2116015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Start backcalculation in batch mode</a:t>
            </a:r>
          </a:p>
        </p:txBody>
      </p:sp>
    </p:spTree>
    <p:extLst>
      <p:ext uri="{BB962C8B-B14F-4D97-AF65-F5344CB8AC3E}">
        <p14:creationId xmlns:p14="http://schemas.microsoft.com/office/powerpoint/2010/main" val="214417620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090841-6714-496A-B06B-FB995EDB8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9D9DDD8-02F5-4FC8-AEFD-6C540A6B1E6C}"/>
              </a:ext>
            </a:extLst>
          </p:cNvPr>
          <p:cNvSpPr/>
          <p:nvPr/>
        </p:nvSpPr>
        <p:spPr bwMode="auto">
          <a:xfrm>
            <a:off x="4302957" y="892999"/>
            <a:ext cx="721716" cy="1124712"/>
          </a:xfrm>
          <a:prstGeom prst="rect">
            <a:avLst/>
          </a:prstGeom>
          <a:noFill/>
          <a:ln w="28575">
            <a:solidFill>
              <a:srgbClr val="92D05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Callout: Bent Line 16">
            <a:extLst>
              <a:ext uri="{FF2B5EF4-FFF2-40B4-BE49-F238E27FC236}">
                <a16:creationId xmlns:a16="http://schemas.microsoft.com/office/drawing/2014/main" id="{94E373F0-0887-4586-A734-C84C8D60EA2A}"/>
              </a:ext>
            </a:extLst>
          </p:cNvPr>
          <p:cNvSpPr/>
          <p:nvPr/>
        </p:nvSpPr>
        <p:spPr bwMode="auto">
          <a:xfrm>
            <a:off x="5082493" y="2240841"/>
            <a:ext cx="1791556" cy="83099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2522"/>
              <a:gd name="adj6" fmla="val -25655"/>
            </a:avLst>
          </a:prstGeom>
          <a:solidFill>
            <a:srgbClr val="92D050"/>
          </a:solidFill>
          <a:ln>
            <a:solidFill>
              <a:srgbClr val="92D05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Geometric </a:t>
            </a:r>
            <a:r>
              <a:rPr lang="en-US" sz="1200" dirty="0"/>
              <a:t>m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ean of backcalculated moduli from all test points selected.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6E0E17-7933-42BD-B465-36C07D98F509}"/>
              </a:ext>
            </a:extLst>
          </p:cNvPr>
          <p:cNvSpPr txBox="1"/>
          <p:nvPr/>
        </p:nvSpPr>
        <p:spPr>
          <a:xfrm>
            <a:off x="146304" y="142354"/>
            <a:ext cx="2116015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Backcalculation results in batch mode</a:t>
            </a:r>
          </a:p>
        </p:txBody>
      </p:sp>
    </p:spTree>
    <p:extLst>
      <p:ext uri="{BB962C8B-B14F-4D97-AF65-F5344CB8AC3E}">
        <p14:creationId xmlns:p14="http://schemas.microsoft.com/office/powerpoint/2010/main" val="134274486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DD3DD0-A50A-4458-8A88-FC96D2F05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C4E6BE8-7597-4FF0-8A77-F632EF96A8BA}"/>
              </a:ext>
            </a:extLst>
          </p:cNvPr>
          <p:cNvGrpSpPr/>
          <p:nvPr/>
        </p:nvGrpSpPr>
        <p:grpSpPr>
          <a:xfrm flipH="1">
            <a:off x="2777206" y="124116"/>
            <a:ext cx="985117" cy="946129"/>
            <a:chOff x="1873187" y="3529779"/>
            <a:chExt cx="1444786" cy="1315061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772468D7-19F7-45E3-BAA4-CA7A43BB2116}"/>
                </a:ext>
              </a:extLst>
            </p:cNvPr>
            <p:cNvSpPr/>
            <p:nvPr/>
          </p:nvSpPr>
          <p:spPr bwMode="auto">
            <a:xfrm rot="10800000">
              <a:off x="1873187" y="3612076"/>
              <a:ext cx="1444783" cy="472599"/>
            </a:xfrm>
            <a:prstGeom prst="wedgeRoundRectCallout">
              <a:avLst>
                <a:gd name="adj1" fmla="val -67624"/>
                <a:gd name="adj2" fmla="val -12894"/>
                <a:gd name="adj3" fmla="val 16667"/>
              </a:avLst>
            </a:prstGeom>
            <a:solidFill>
              <a:srgbClr val="FF9900"/>
            </a:solidFill>
            <a:ln>
              <a:solidFill>
                <a:srgbClr val="FF99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CAF6BD-7E35-4F9D-BE2F-3EE0374FC5A6}"/>
                </a:ext>
              </a:extLst>
            </p:cNvPr>
            <p:cNvSpPr txBox="1"/>
            <p:nvPr/>
          </p:nvSpPr>
          <p:spPr>
            <a:xfrm>
              <a:off x="1873192" y="3529779"/>
              <a:ext cx="1444781" cy="13150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Click to view Output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 txBox="1"/>
          <p:nvPr/>
        </p:nvSpPr>
        <p:spPr>
          <a:xfrm>
            <a:off x="146304" y="4087368"/>
            <a:ext cx="1740103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Show Output</a:t>
            </a:r>
          </a:p>
        </p:txBody>
      </p:sp>
    </p:spTree>
    <p:extLst>
      <p:ext uri="{BB962C8B-B14F-4D97-AF65-F5344CB8AC3E}">
        <p14:creationId xmlns:p14="http://schemas.microsoft.com/office/powerpoint/2010/main" val="202048242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B0F914-E8A8-458E-9072-97726589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 txBox="1"/>
          <p:nvPr/>
        </p:nvSpPr>
        <p:spPr>
          <a:xfrm>
            <a:off x="146304" y="142354"/>
            <a:ext cx="1740103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Show Output</a:t>
            </a:r>
          </a:p>
        </p:txBody>
      </p:sp>
    </p:spTree>
    <p:extLst>
      <p:ext uri="{BB962C8B-B14F-4D97-AF65-F5344CB8AC3E}">
        <p14:creationId xmlns:p14="http://schemas.microsoft.com/office/powerpoint/2010/main" val="299089998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DD9B48-1E38-4EEF-9472-09C73D9CB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83FE68-BB18-42AC-8F2F-A4C07E233C9D}"/>
              </a:ext>
            </a:extLst>
          </p:cNvPr>
          <p:cNvSpPr txBox="1"/>
          <p:nvPr/>
        </p:nvSpPr>
        <p:spPr>
          <a:xfrm flipH="1">
            <a:off x="8743252" y="5111368"/>
            <a:ext cx="931913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Click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3E8C52-276D-4CE4-99B8-150CF09A29A8}"/>
              </a:ext>
            </a:extLst>
          </p:cNvPr>
          <p:cNvGrpSpPr/>
          <p:nvPr/>
        </p:nvGrpSpPr>
        <p:grpSpPr>
          <a:xfrm flipH="1">
            <a:off x="2860397" y="349202"/>
            <a:ext cx="581294" cy="337351"/>
            <a:chOff x="1873187" y="3612076"/>
            <a:chExt cx="1444786" cy="472599"/>
          </a:xfrm>
        </p:grpSpPr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71FBF3E4-1761-45A3-8A0B-37E7C25A4ED5}"/>
                </a:ext>
              </a:extLst>
            </p:cNvPr>
            <p:cNvSpPr/>
            <p:nvPr/>
          </p:nvSpPr>
          <p:spPr bwMode="auto">
            <a:xfrm rot="10800000">
              <a:off x="1873187" y="3612076"/>
              <a:ext cx="1444783" cy="472599"/>
            </a:xfrm>
            <a:prstGeom prst="wedgeRoundRectCallout">
              <a:avLst>
                <a:gd name="adj1" fmla="val -67624"/>
                <a:gd name="adj2" fmla="val -12894"/>
                <a:gd name="adj3" fmla="val 16667"/>
              </a:avLst>
            </a:prstGeom>
            <a:solidFill>
              <a:srgbClr val="FF9900"/>
            </a:solidFill>
            <a:ln>
              <a:solidFill>
                <a:srgbClr val="FF99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1EB4F80-5D3C-4914-BAEA-9688890750C2}"/>
                </a:ext>
              </a:extLst>
            </p:cNvPr>
            <p:cNvSpPr txBox="1"/>
            <p:nvPr/>
          </p:nvSpPr>
          <p:spPr>
            <a:xfrm>
              <a:off x="1873192" y="3685770"/>
              <a:ext cx="1444781" cy="3664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Click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E67460F-B529-4490-B865-A573758BA2BE}"/>
              </a:ext>
            </a:extLst>
          </p:cNvPr>
          <p:cNvSpPr txBox="1"/>
          <p:nvPr/>
        </p:nvSpPr>
        <p:spPr>
          <a:xfrm>
            <a:off x="146304" y="4087368"/>
            <a:ext cx="1740103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Batch Graph</a:t>
            </a:r>
          </a:p>
        </p:txBody>
      </p:sp>
    </p:spTree>
    <p:extLst>
      <p:ext uri="{BB962C8B-B14F-4D97-AF65-F5344CB8AC3E}">
        <p14:creationId xmlns:p14="http://schemas.microsoft.com/office/powerpoint/2010/main" val="374040412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7C34EC-B9BD-449A-8D39-AD67840D1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01" y="480908"/>
            <a:ext cx="10643997" cy="553739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7E95ABF-6EED-4414-A378-1F01DE2BE81D}"/>
              </a:ext>
            </a:extLst>
          </p:cNvPr>
          <p:cNvGrpSpPr/>
          <p:nvPr/>
        </p:nvGrpSpPr>
        <p:grpSpPr>
          <a:xfrm>
            <a:off x="8096112" y="1427390"/>
            <a:ext cx="1290869" cy="820461"/>
            <a:chOff x="7705097" y="1515291"/>
            <a:chExt cx="1290856" cy="886901"/>
          </a:xfrm>
          <a:solidFill>
            <a:srgbClr val="92D050"/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7AD8CD6-DA31-4F31-AFEF-4382EAFA37AC}"/>
                </a:ext>
              </a:extLst>
            </p:cNvPr>
            <p:cNvSpPr/>
            <p:nvPr/>
          </p:nvSpPr>
          <p:spPr>
            <a:xfrm>
              <a:off x="7705097" y="2059836"/>
              <a:ext cx="469446" cy="342356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51AA6762-CD52-439C-A482-6021D1B5C17F}"/>
                </a:ext>
              </a:extLst>
            </p:cNvPr>
            <p:cNvSpPr/>
            <p:nvPr/>
          </p:nvSpPr>
          <p:spPr>
            <a:xfrm>
              <a:off x="7763690" y="1515291"/>
              <a:ext cx="1232263" cy="455894"/>
            </a:xfrm>
            <a:prstGeom prst="wedgeEllipseCallout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Outlier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E67460F-B529-4490-B865-A573758BA2BE}"/>
              </a:ext>
            </a:extLst>
          </p:cNvPr>
          <p:cNvSpPr txBox="1"/>
          <p:nvPr/>
        </p:nvSpPr>
        <p:spPr>
          <a:xfrm>
            <a:off x="146304" y="142354"/>
            <a:ext cx="1740103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Batch Graph</a:t>
            </a:r>
          </a:p>
        </p:txBody>
      </p:sp>
    </p:spTree>
    <p:extLst>
      <p:ext uri="{BB962C8B-B14F-4D97-AF65-F5344CB8AC3E}">
        <p14:creationId xmlns:p14="http://schemas.microsoft.com/office/powerpoint/2010/main" val="150138701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83EB9-5153-4444-940F-C8E9EFBB9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14BA93B-DDD7-4E07-98F8-DD4381B6FD7E}"/>
              </a:ext>
            </a:extLst>
          </p:cNvPr>
          <p:cNvSpPr txBox="1"/>
          <p:nvPr/>
        </p:nvSpPr>
        <p:spPr>
          <a:xfrm>
            <a:off x="146305" y="4087368"/>
            <a:ext cx="1483320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Edit FWD File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433C46B-8EA8-4EF5-B819-F18D0630814B}"/>
              </a:ext>
            </a:extLst>
          </p:cNvPr>
          <p:cNvGrpSpPr/>
          <p:nvPr/>
        </p:nvGrpSpPr>
        <p:grpSpPr>
          <a:xfrm flipH="1">
            <a:off x="2134533" y="377483"/>
            <a:ext cx="581294" cy="337351"/>
            <a:chOff x="1873187" y="3612076"/>
            <a:chExt cx="1444786" cy="472599"/>
          </a:xfrm>
        </p:grpSpPr>
        <p:sp>
          <p:nvSpPr>
            <p:cNvPr id="10" name="Speech Bubble: Rectangle with Corners Rounded 9">
              <a:extLst>
                <a:ext uri="{FF2B5EF4-FFF2-40B4-BE49-F238E27FC236}">
                  <a16:creationId xmlns:a16="http://schemas.microsoft.com/office/drawing/2014/main" id="{D9D18D8C-8588-41AA-B3F3-66805E397D76}"/>
                </a:ext>
              </a:extLst>
            </p:cNvPr>
            <p:cNvSpPr/>
            <p:nvPr/>
          </p:nvSpPr>
          <p:spPr bwMode="auto">
            <a:xfrm rot="10800000">
              <a:off x="1873187" y="3612076"/>
              <a:ext cx="1444783" cy="472599"/>
            </a:xfrm>
            <a:prstGeom prst="wedgeRoundRectCallout">
              <a:avLst>
                <a:gd name="adj1" fmla="val -67624"/>
                <a:gd name="adj2" fmla="val -12894"/>
                <a:gd name="adj3" fmla="val 16667"/>
              </a:avLst>
            </a:prstGeom>
            <a:solidFill>
              <a:srgbClr val="FF9900"/>
            </a:solidFill>
            <a:ln>
              <a:solidFill>
                <a:srgbClr val="FF99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56AEDD-D12C-4F89-8C02-78B5E20D8A50}"/>
                </a:ext>
              </a:extLst>
            </p:cNvPr>
            <p:cNvSpPr txBox="1"/>
            <p:nvPr/>
          </p:nvSpPr>
          <p:spPr>
            <a:xfrm>
              <a:off x="1873192" y="3685770"/>
              <a:ext cx="1444781" cy="3664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Click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175744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786014-A160-448E-9A1E-E381F1851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44424" y="0"/>
            <a:ext cx="8503151" cy="6035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14BA93B-DDD7-4E07-98F8-DD4381B6FD7E}"/>
              </a:ext>
            </a:extLst>
          </p:cNvPr>
          <p:cNvSpPr txBox="1"/>
          <p:nvPr/>
        </p:nvSpPr>
        <p:spPr>
          <a:xfrm>
            <a:off x="146305" y="146304"/>
            <a:ext cx="1483320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Edit FWD File</a:t>
            </a:r>
          </a:p>
        </p:txBody>
      </p:sp>
      <p:sp>
        <p:nvSpPr>
          <p:cNvPr id="5" name="Callout: Bent Line 4">
            <a:extLst>
              <a:ext uri="{FF2B5EF4-FFF2-40B4-BE49-F238E27FC236}">
                <a16:creationId xmlns:a16="http://schemas.microsoft.com/office/drawing/2014/main" id="{0EA804B5-A186-421A-8CEE-7F169A06D383}"/>
              </a:ext>
            </a:extLst>
          </p:cNvPr>
          <p:cNvSpPr/>
          <p:nvPr/>
        </p:nvSpPr>
        <p:spPr bwMode="auto">
          <a:xfrm>
            <a:off x="259886" y="3922850"/>
            <a:ext cx="1256158" cy="461665"/>
          </a:xfrm>
          <a:prstGeom prst="borderCallout2">
            <a:avLst>
              <a:gd name="adj1" fmla="val 14666"/>
              <a:gd name="adj2" fmla="val 102733"/>
              <a:gd name="adj3" fmla="val 14666"/>
              <a:gd name="adj4" fmla="val 107908"/>
              <a:gd name="adj5" fmla="val -15781"/>
              <a:gd name="adj6" fmla="val 145404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Click to delete outlier drops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37FB13-922B-4439-91A9-598008B9F005}"/>
              </a:ext>
            </a:extLst>
          </p:cNvPr>
          <p:cNvGrpSpPr/>
          <p:nvPr/>
        </p:nvGrpSpPr>
        <p:grpSpPr>
          <a:xfrm flipH="1">
            <a:off x="3605116" y="466007"/>
            <a:ext cx="1127142" cy="652768"/>
            <a:chOff x="1873187" y="3612076"/>
            <a:chExt cx="1444786" cy="914469"/>
          </a:xfrm>
        </p:grpSpPr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DEECB64D-A8EE-41EF-B9BA-C1F2E2D27782}"/>
                </a:ext>
              </a:extLst>
            </p:cNvPr>
            <p:cNvSpPr/>
            <p:nvPr/>
          </p:nvSpPr>
          <p:spPr bwMode="auto">
            <a:xfrm rot="10800000">
              <a:off x="1873187" y="3612076"/>
              <a:ext cx="1444783" cy="472599"/>
            </a:xfrm>
            <a:prstGeom prst="wedgeRoundRectCallout">
              <a:avLst>
                <a:gd name="adj1" fmla="val -67624"/>
                <a:gd name="adj2" fmla="val -12894"/>
                <a:gd name="adj3" fmla="val 16667"/>
              </a:avLst>
            </a:prstGeom>
            <a:solidFill>
              <a:srgbClr val="FF9900"/>
            </a:solidFill>
            <a:ln>
              <a:solidFill>
                <a:srgbClr val="FF99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245511-60E8-4F98-98AB-A43A91D6E028}"/>
                </a:ext>
              </a:extLst>
            </p:cNvPr>
            <p:cNvSpPr txBox="1"/>
            <p:nvPr/>
          </p:nvSpPr>
          <p:spPr>
            <a:xfrm>
              <a:off x="1873192" y="3685769"/>
              <a:ext cx="1444781" cy="8407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Save changes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5167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B9DF-26CC-44D3-A5E2-0BEBCAD67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795" y="2857500"/>
            <a:ext cx="10363200" cy="571500"/>
          </a:xfrm>
        </p:spPr>
        <p:txBody>
          <a:bodyPr/>
          <a:lstStyle/>
          <a:p>
            <a:pPr algn="ctr"/>
            <a:r>
              <a: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Composite</a:t>
            </a:r>
            <a:r>
              <a:rPr lang="en-US" sz="40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Pavement Example</a:t>
            </a:r>
          </a:p>
        </p:txBody>
      </p:sp>
    </p:spTree>
    <p:extLst>
      <p:ext uri="{BB962C8B-B14F-4D97-AF65-F5344CB8AC3E}">
        <p14:creationId xmlns:p14="http://schemas.microsoft.com/office/powerpoint/2010/main" val="347084419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F700E7-15D3-4D7A-A3F6-377818E9A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235" y="1223523"/>
            <a:ext cx="8879527" cy="480974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9A52D3-E4B5-4716-BFB5-FC43A4051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397001"/>
              </p:ext>
            </p:extLst>
          </p:nvPr>
        </p:nvGraphicFramePr>
        <p:xfrm>
          <a:off x="3497262" y="146304"/>
          <a:ext cx="3486275" cy="965708"/>
        </p:xfrm>
        <a:graphic>
          <a:graphicData uri="http://schemas.openxmlformats.org/drawingml/2006/table">
            <a:tbl>
              <a:tblPr firstRow="1" firstCol="1" bandRow="1"/>
              <a:tblGrid>
                <a:gridCol w="2340928">
                  <a:extLst>
                    <a:ext uri="{9D8B030D-6E8A-4147-A177-3AD203B41FA5}">
                      <a16:colId xmlns:a16="http://schemas.microsoft.com/office/drawing/2014/main" val="3141318612"/>
                    </a:ext>
                  </a:extLst>
                </a:gridCol>
                <a:gridCol w="1145347">
                  <a:extLst>
                    <a:ext uri="{9D8B030D-6E8A-4147-A177-3AD203B41FA5}">
                      <a16:colId xmlns:a16="http://schemas.microsoft.com/office/drawing/2014/main" val="128900181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Material Type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Thickness (in.)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7752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P-401/P-403 hot mix asphalt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2.25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4347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P-501 Portland cement concrete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464301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Subgrade with a CBR of 15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2868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E0F2298-F833-4972-84FC-04C275C4A5B7}"/>
              </a:ext>
            </a:extLst>
          </p:cNvPr>
          <p:cNvSpPr txBox="1"/>
          <p:nvPr/>
        </p:nvSpPr>
        <p:spPr>
          <a:xfrm>
            <a:off x="146304" y="146304"/>
            <a:ext cx="3181475" cy="1077218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Load pavement section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Load FWD file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Assign layers and thickness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Assign seed modulus </a:t>
            </a: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7430CED0-28E2-4D4B-816B-A205F9EC763E}"/>
              </a:ext>
            </a:extLst>
          </p:cNvPr>
          <p:cNvSpPr/>
          <p:nvPr/>
        </p:nvSpPr>
        <p:spPr bwMode="auto">
          <a:xfrm>
            <a:off x="4243476" y="2820167"/>
            <a:ext cx="1852522" cy="808228"/>
          </a:xfrm>
          <a:prstGeom prst="wedgeEllipseCallout">
            <a:avLst>
              <a:gd name="adj1" fmla="val -25659"/>
              <a:gd name="adj2" fmla="val -97698"/>
            </a:avLst>
          </a:prstGeom>
          <a:solidFill>
            <a:srgbClr val="92D050"/>
          </a:solidFill>
          <a:ln w="127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/>
              <a:t>Asphalt modulus adjusted for temperature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8224885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00A209-3C58-4F76-B558-98BD58E26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 txBox="1"/>
          <p:nvPr/>
        </p:nvSpPr>
        <p:spPr>
          <a:xfrm>
            <a:off x="146305" y="142354"/>
            <a:ext cx="1718710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Adjust pavement structure</a:t>
            </a:r>
          </a:p>
        </p:txBody>
      </p:sp>
      <p:sp>
        <p:nvSpPr>
          <p:cNvPr id="6" name="Callout: Bent Line 5">
            <a:extLst>
              <a:ext uri="{FF2B5EF4-FFF2-40B4-BE49-F238E27FC236}">
                <a16:creationId xmlns:a16="http://schemas.microsoft.com/office/drawing/2014/main" id="{34AEB42A-D975-4DD2-B4FF-B24A3391D043}"/>
              </a:ext>
            </a:extLst>
          </p:cNvPr>
          <p:cNvSpPr/>
          <p:nvPr/>
        </p:nvSpPr>
        <p:spPr bwMode="auto">
          <a:xfrm>
            <a:off x="7367718" y="1932453"/>
            <a:ext cx="1694801" cy="64633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72981"/>
              <a:gd name="adj6" fmla="val -36539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Toggle off to fix asphalt modulus during backcalculation</a:t>
            </a:r>
          </a:p>
        </p:txBody>
      </p:sp>
    </p:spTree>
    <p:extLst>
      <p:ext uri="{BB962C8B-B14F-4D97-AF65-F5344CB8AC3E}">
        <p14:creationId xmlns:p14="http://schemas.microsoft.com/office/powerpoint/2010/main" val="162623037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EA8530-223A-4835-AB70-521B84CB7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 txBox="1"/>
          <p:nvPr/>
        </p:nvSpPr>
        <p:spPr>
          <a:xfrm>
            <a:off x="146305" y="142354"/>
            <a:ext cx="1863564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Select FWD drops</a:t>
            </a: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19F9515A-C45B-46D8-B445-7E2820BD9612}"/>
              </a:ext>
            </a:extLst>
          </p:cNvPr>
          <p:cNvSpPr/>
          <p:nvPr/>
        </p:nvSpPr>
        <p:spPr bwMode="auto">
          <a:xfrm>
            <a:off x="6389944" y="4929150"/>
            <a:ext cx="1350770" cy="27699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944"/>
              <a:gd name="adj6" fmla="val -50428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Select drop no. 2</a:t>
            </a: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56E79111-6D71-4712-8A6D-992718CBA97E}"/>
              </a:ext>
            </a:extLst>
          </p:cNvPr>
          <p:cNvSpPr/>
          <p:nvPr/>
        </p:nvSpPr>
        <p:spPr bwMode="auto">
          <a:xfrm>
            <a:off x="7197928" y="3953895"/>
            <a:ext cx="1529613" cy="455143"/>
          </a:xfrm>
          <a:prstGeom prst="wedgeEllipseCallout">
            <a:avLst>
              <a:gd name="adj1" fmla="val -26844"/>
              <a:gd name="adj2" fmla="val 85494"/>
            </a:avLst>
          </a:prstGeom>
          <a:solidFill>
            <a:srgbClr val="92D050"/>
          </a:solidFill>
          <a:ln w="127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/>
              <a:t>Select Drops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0759284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E0F99C-FA28-49A5-951C-181ECAFAB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1" cy="6035040"/>
          </a:xfrm>
          <a:prstGeom prst="rect">
            <a:avLst/>
          </a:prstGeom>
        </p:spPr>
      </p:pic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19F9515A-C45B-46D8-B445-7E2820BD9612}"/>
              </a:ext>
            </a:extLst>
          </p:cNvPr>
          <p:cNvSpPr/>
          <p:nvPr/>
        </p:nvSpPr>
        <p:spPr bwMode="auto">
          <a:xfrm>
            <a:off x="6943698" y="1162253"/>
            <a:ext cx="1649533" cy="27699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20607"/>
              <a:gd name="adj6" fmla="val -35313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Start backcalculation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7E25D6-BF04-4B68-A679-6BC42BE2FB2E}"/>
              </a:ext>
            </a:extLst>
          </p:cNvPr>
          <p:cNvSpPr txBox="1"/>
          <p:nvPr/>
        </p:nvSpPr>
        <p:spPr>
          <a:xfrm>
            <a:off x="146305" y="146304"/>
            <a:ext cx="2116015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Start backcalculation in batch mode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063CA78A-643E-473A-B203-5D9BFF975E1C}"/>
              </a:ext>
            </a:extLst>
          </p:cNvPr>
          <p:cNvSpPr/>
          <p:nvPr/>
        </p:nvSpPr>
        <p:spPr bwMode="auto">
          <a:xfrm>
            <a:off x="7201339" y="2147597"/>
            <a:ext cx="2304800" cy="907816"/>
          </a:xfrm>
          <a:prstGeom prst="wedgeEllipseCallout">
            <a:avLst>
              <a:gd name="adj1" fmla="val -13096"/>
              <a:gd name="adj2" fmla="val 41614"/>
            </a:avLst>
          </a:prstGeom>
          <a:solidFill>
            <a:srgbClr val="92D050"/>
          </a:solidFill>
          <a:ln w="127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/>
              <a:t>Click Ok to save .csv, and choose a file location and name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1720232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E20436-CC75-421C-A119-0C879055A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1" cy="6035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464A76-E357-4176-978F-F5A97F91D945}"/>
              </a:ext>
            </a:extLst>
          </p:cNvPr>
          <p:cNvSpPr txBox="1"/>
          <p:nvPr/>
        </p:nvSpPr>
        <p:spPr>
          <a:xfrm>
            <a:off x="146304" y="142354"/>
            <a:ext cx="2116015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Backcalculation results in batch mode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16546F-90F9-45CC-B0C2-1DBCE4485B8D}"/>
              </a:ext>
            </a:extLst>
          </p:cNvPr>
          <p:cNvSpPr/>
          <p:nvPr/>
        </p:nvSpPr>
        <p:spPr bwMode="auto">
          <a:xfrm>
            <a:off x="4312385" y="892999"/>
            <a:ext cx="721716" cy="978408"/>
          </a:xfrm>
          <a:prstGeom prst="rect">
            <a:avLst/>
          </a:prstGeom>
          <a:noFill/>
          <a:ln w="28575">
            <a:solidFill>
              <a:srgbClr val="92D05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01D728BD-DD06-4D55-8248-C979BA5E687D}"/>
              </a:ext>
            </a:extLst>
          </p:cNvPr>
          <p:cNvSpPr/>
          <p:nvPr/>
        </p:nvSpPr>
        <p:spPr bwMode="auto">
          <a:xfrm>
            <a:off x="5120203" y="2086937"/>
            <a:ext cx="1791556" cy="83099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2522"/>
              <a:gd name="adj6" fmla="val -25655"/>
            </a:avLst>
          </a:prstGeom>
          <a:solidFill>
            <a:srgbClr val="92D050"/>
          </a:solidFill>
          <a:ln>
            <a:solidFill>
              <a:srgbClr val="92D05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Geometric </a:t>
            </a:r>
            <a:r>
              <a:rPr lang="en-US" sz="1200" dirty="0"/>
              <a:t>m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ean of backcalculated moduli from all test points selected.</a:t>
            </a:r>
          </a:p>
        </p:txBody>
      </p:sp>
    </p:spTree>
    <p:extLst>
      <p:ext uri="{BB962C8B-B14F-4D97-AF65-F5344CB8AC3E}">
        <p14:creationId xmlns:p14="http://schemas.microsoft.com/office/powerpoint/2010/main" val="294229216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11CD36-3D62-4CB3-8A77-EB373DB09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1" cy="6035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464A76-E357-4176-978F-F5A97F91D945}"/>
              </a:ext>
            </a:extLst>
          </p:cNvPr>
          <p:cNvSpPr txBox="1"/>
          <p:nvPr/>
        </p:nvSpPr>
        <p:spPr>
          <a:xfrm>
            <a:off x="146304" y="4087368"/>
            <a:ext cx="2116015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Backcalculation results in batch mode</a:t>
            </a: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F8B408CC-194C-4326-94E3-7684631004E7}"/>
              </a:ext>
            </a:extLst>
          </p:cNvPr>
          <p:cNvSpPr/>
          <p:nvPr/>
        </p:nvSpPr>
        <p:spPr bwMode="auto">
          <a:xfrm>
            <a:off x="2984147" y="367817"/>
            <a:ext cx="1529613" cy="650278"/>
          </a:xfrm>
          <a:prstGeom prst="wedgeEllipseCallout">
            <a:avLst>
              <a:gd name="adj1" fmla="val -29310"/>
              <a:gd name="adj2" fmla="val 104743"/>
            </a:avLst>
          </a:prstGeom>
          <a:solidFill>
            <a:srgbClr val="92D050"/>
          </a:solidFill>
          <a:ln w="127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/>
              <a:t>Batch Graph Modulus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9816524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B9DF-26CC-44D3-A5E2-0BEBCAD67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795" y="2857500"/>
            <a:ext cx="10363200" cy="571500"/>
          </a:xfrm>
        </p:spPr>
        <p:txBody>
          <a:bodyPr/>
          <a:lstStyle/>
          <a:p>
            <a:pPr algn="ctr"/>
            <a:r>
              <a: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Transfer Efficiency (LTE) </a:t>
            </a:r>
            <a:r>
              <a:rPr lang="en-US" sz="40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70780376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985733-FCDF-41C8-90B7-C8503760A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 txBox="1"/>
          <p:nvPr/>
        </p:nvSpPr>
        <p:spPr>
          <a:xfrm>
            <a:off x="146305" y="4087368"/>
            <a:ext cx="1863564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Load FWD file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7EAD4CD-EAB7-4C7A-99DE-737063E01135}"/>
              </a:ext>
            </a:extLst>
          </p:cNvPr>
          <p:cNvGrpSpPr/>
          <p:nvPr/>
        </p:nvGrpSpPr>
        <p:grpSpPr>
          <a:xfrm flipH="1">
            <a:off x="2181669" y="179623"/>
            <a:ext cx="504970" cy="337352"/>
            <a:chOff x="1873187" y="3612076"/>
            <a:chExt cx="1444786" cy="472599"/>
          </a:xfrm>
        </p:grpSpPr>
        <p:sp>
          <p:nvSpPr>
            <p:cNvPr id="11" name="Speech Bubble: Rectangle with Corners Rounded 10">
              <a:extLst>
                <a:ext uri="{FF2B5EF4-FFF2-40B4-BE49-F238E27FC236}">
                  <a16:creationId xmlns:a16="http://schemas.microsoft.com/office/drawing/2014/main" id="{1203177C-3AC6-4FCD-8A82-10F11B716F67}"/>
                </a:ext>
              </a:extLst>
            </p:cNvPr>
            <p:cNvSpPr/>
            <p:nvPr/>
          </p:nvSpPr>
          <p:spPr bwMode="auto">
            <a:xfrm rot="10800000">
              <a:off x="1873187" y="3612076"/>
              <a:ext cx="1444783" cy="472599"/>
            </a:xfrm>
            <a:prstGeom prst="wedgeRoundRectCallout">
              <a:avLst>
                <a:gd name="adj1" fmla="val -67624"/>
                <a:gd name="adj2" fmla="val -12894"/>
                <a:gd name="adj3" fmla="val 16667"/>
              </a:avLst>
            </a:prstGeom>
            <a:solidFill>
              <a:srgbClr val="FF9900"/>
            </a:solidFill>
            <a:ln>
              <a:solidFill>
                <a:srgbClr val="FF99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6DC0C17-FB69-447A-905D-114F29F32A24}"/>
                </a:ext>
              </a:extLst>
            </p:cNvPr>
            <p:cNvSpPr txBox="1"/>
            <p:nvPr/>
          </p:nvSpPr>
          <p:spPr>
            <a:xfrm>
              <a:off x="1873192" y="3685769"/>
              <a:ext cx="1444781" cy="366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Click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740679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D074E0-A6D8-4DFC-87EA-7EA8F1681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-1"/>
            <a:ext cx="11141612" cy="60350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 txBox="1"/>
          <p:nvPr/>
        </p:nvSpPr>
        <p:spPr>
          <a:xfrm>
            <a:off x="146305" y="4087368"/>
            <a:ext cx="1863564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Load FWD file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7EAD4CD-EAB7-4C7A-99DE-737063E01135}"/>
              </a:ext>
            </a:extLst>
          </p:cNvPr>
          <p:cNvGrpSpPr/>
          <p:nvPr/>
        </p:nvGrpSpPr>
        <p:grpSpPr>
          <a:xfrm flipH="1">
            <a:off x="5490477" y="2848842"/>
            <a:ext cx="504970" cy="337352"/>
            <a:chOff x="1873187" y="3612076"/>
            <a:chExt cx="1444786" cy="472599"/>
          </a:xfrm>
        </p:grpSpPr>
        <p:sp>
          <p:nvSpPr>
            <p:cNvPr id="11" name="Speech Bubble: Rectangle with Corners Rounded 10">
              <a:extLst>
                <a:ext uri="{FF2B5EF4-FFF2-40B4-BE49-F238E27FC236}">
                  <a16:creationId xmlns:a16="http://schemas.microsoft.com/office/drawing/2014/main" id="{1203177C-3AC6-4FCD-8A82-10F11B716F67}"/>
                </a:ext>
              </a:extLst>
            </p:cNvPr>
            <p:cNvSpPr/>
            <p:nvPr/>
          </p:nvSpPr>
          <p:spPr bwMode="auto">
            <a:xfrm rot="10800000">
              <a:off x="1873187" y="3612076"/>
              <a:ext cx="1444783" cy="472599"/>
            </a:xfrm>
            <a:prstGeom prst="wedgeRoundRectCallout">
              <a:avLst>
                <a:gd name="adj1" fmla="val -67624"/>
                <a:gd name="adj2" fmla="val -12894"/>
                <a:gd name="adj3" fmla="val 16667"/>
              </a:avLst>
            </a:prstGeom>
            <a:solidFill>
              <a:srgbClr val="FF9900"/>
            </a:solidFill>
            <a:ln>
              <a:solidFill>
                <a:srgbClr val="FF99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6DC0C17-FB69-447A-905D-114F29F32A24}"/>
                </a:ext>
              </a:extLst>
            </p:cNvPr>
            <p:cNvSpPr txBox="1"/>
            <p:nvPr/>
          </p:nvSpPr>
          <p:spPr>
            <a:xfrm>
              <a:off x="1873192" y="3685769"/>
              <a:ext cx="1444781" cy="366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Click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532604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99CBEC-1C1B-48F6-8AA9-F6FE59688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4" y="0"/>
            <a:ext cx="11141612" cy="60350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 txBox="1"/>
          <p:nvPr/>
        </p:nvSpPr>
        <p:spPr>
          <a:xfrm>
            <a:off x="146305" y="146304"/>
            <a:ext cx="1863564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Select FWD drop</a:t>
            </a:r>
          </a:p>
        </p:txBody>
      </p: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0922A53A-2F32-4DDD-AA7A-B066A9A349BB}"/>
              </a:ext>
            </a:extLst>
          </p:cNvPr>
          <p:cNvSpPr/>
          <p:nvPr/>
        </p:nvSpPr>
        <p:spPr bwMode="auto">
          <a:xfrm>
            <a:off x="8866766" y="4857560"/>
            <a:ext cx="1794949" cy="461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0549"/>
              <a:gd name="adj6" fmla="val -34788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Select drop no. 3 at DMI location of 400 ft.</a:t>
            </a:r>
          </a:p>
        </p:txBody>
      </p:sp>
    </p:spTree>
    <p:extLst>
      <p:ext uri="{BB962C8B-B14F-4D97-AF65-F5344CB8AC3E}">
        <p14:creationId xmlns:p14="http://schemas.microsoft.com/office/powerpoint/2010/main" val="215785400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E54BBD-C818-42A9-8553-32634CF74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3" y="0"/>
            <a:ext cx="11141611" cy="6035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 txBox="1"/>
          <p:nvPr/>
        </p:nvSpPr>
        <p:spPr>
          <a:xfrm>
            <a:off x="146304" y="146304"/>
            <a:ext cx="1710775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Select LTE case</a:t>
            </a:r>
          </a:p>
        </p:txBody>
      </p:sp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67669542-753B-4191-B7D3-E70DD6B965DE}"/>
              </a:ext>
            </a:extLst>
          </p:cNvPr>
          <p:cNvSpPr/>
          <p:nvPr/>
        </p:nvSpPr>
        <p:spPr bwMode="auto">
          <a:xfrm>
            <a:off x="3964620" y="2480548"/>
            <a:ext cx="1256158" cy="461665"/>
          </a:xfrm>
          <a:prstGeom prst="borderCallout2">
            <a:avLst>
              <a:gd name="adj1" fmla="val 14666"/>
              <a:gd name="adj2" fmla="val 102733"/>
              <a:gd name="adj3" fmla="val 14666"/>
              <a:gd name="adj4" fmla="val 107908"/>
              <a:gd name="adj5" fmla="val -42326"/>
              <a:gd name="adj6" fmla="val 155910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Click to select Case 2</a:t>
            </a:r>
          </a:p>
        </p:txBody>
      </p:sp>
    </p:spTree>
    <p:extLst>
      <p:ext uri="{BB962C8B-B14F-4D97-AF65-F5344CB8AC3E}">
        <p14:creationId xmlns:p14="http://schemas.microsoft.com/office/powerpoint/2010/main" val="55968450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CBD0DFB-E182-4AA2-B3C6-05667CF9F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3" y="0"/>
            <a:ext cx="11141610" cy="60350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 txBox="1"/>
          <p:nvPr/>
        </p:nvSpPr>
        <p:spPr>
          <a:xfrm>
            <a:off x="146304" y="146304"/>
            <a:ext cx="1710775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Review results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498E63-82A3-4C80-BF9E-2BDEFACACECC}"/>
              </a:ext>
            </a:extLst>
          </p:cNvPr>
          <p:cNvSpPr/>
          <p:nvPr/>
        </p:nvSpPr>
        <p:spPr bwMode="auto">
          <a:xfrm>
            <a:off x="2012804" y="1028801"/>
            <a:ext cx="1717223" cy="1397528"/>
          </a:xfrm>
          <a:prstGeom prst="rect">
            <a:avLst/>
          </a:prstGeom>
          <a:noFill/>
          <a:ln w="28575">
            <a:solidFill>
              <a:srgbClr val="92D05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E176B09C-83CB-4C1C-A064-07642D73F750}"/>
              </a:ext>
            </a:extLst>
          </p:cNvPr>
          <p:cNvSpPr/>
          <p:nvPr/>
        </p:nvSpPr>
        <p:spPr bwMode="auto">
          <a:xfrm>
            <a:off x="2504314" y="2531595"/>
            <a:ext cx="926950" cy="347407"/>
          </a:xfrm>
          <a:prstGeom prst="wedgeEllipseCallout">
            <a:avLst>
              <a:gd name="adj1" fmla="val -60443"/>
              <a:gd name="adj2" fmla="val -133616"/>
            </a:avLst>
          </a:prstGeom>
          <a:solidFill>
            <a:srgbClr val="92D050"/>
          </a:solidFill>
          <a:ln w="127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/>
              <a:t>LTE %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1675628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FE625-3459-4FF8-A73B-EC8C9C392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4488"/>
            <a:ext cx="11013859" cy="6096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B27F4-741F-400F-9944-51FD214DC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207363"/>
            <a:ext cx="11182411" cy="4726714"/>
          </a:xfrm>
        </p:spPr>
        <p:txBody>
          <a:bodyPr/>
          <a:lstStyle/>
          <a:p>
            <a:r>
              <a:rPr lang="en-US" sz="2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Richard Ji, PhD: </a:t>
            </a:r>
            <a:r>
              <a:rPr lang="en-US" sz="2600" b="0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Richard.Ji@faa.gov</a:t>
            </a:r>
            <a:endParaRPr lang="en-US" sz="2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Matthew T. Brynick, PE: </a:t>
            </a:r>
            <a:r>
              <a:rPr lang="en-US" sz="26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Matthew.T.Brynick@faa.gov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59890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ARA NEW">
      <a:dk1>
        <a:srgbClr val="003E7E"/>
      </a:dk1>
      <a:lt1>
        <a:srgbClr val="FFFFFF"/>
      </a:lt1>
      <a:dk2>
        <a:srgbClr val="00133A"/>
      </a:dk2>
      <a:lt2>
        <a:srgbClr val="0090CB"/>
      </a:lt2>
      <a:accent1>
        <a:srgbClr val="003E7E"/>
      </a:accent1>
      <a:accent2>
        <a:srgbClr val="F15632"/>
      </a:accent2>
      <a:accent3>
        <a:srgbClr val="D2DE31"/>
      </a:accent3>
      <a:accent4>
        <a:srgbClr val="B1C0C9"/>
      </a:accent4>
      <a:accent5>
        <a:srgbClr val="2CBAF6"/>
      </a:accent5>
      <a:accent6>
        <a:srgbClr val="CBD5DF"/>
      </a:accent6>
      <a:hlink>
        <a:srgbClr val="22CBF2"/>
      </a:hlink>
      <a:folHlink>
        <a:srgbClr val="B1C0C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faa Presentation.pptx" id="{816CC324-300E-471B-B77B-B5A754880807}" vid="{2347A502-91AB-4BF3-A7F3-C81D208F9E8C}"/>
    </a:ext>
  </a:extLst>
</a:theme>
</file>

<file path=ppt/theme/theme2.xml><?xml version="1.0" encoding="utf-8"?>
<a:theme xmlns:a="http://schemas.openxmlformats.org/drawingml/2006/main" name="Theme1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EC82F44C-7860-4184-8D61-0E5066B3A81A}" vid="{AE718591-55AD-445C-8295-6657D84F38D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51637</TotalTime>
  <Words>3567</Words>
  <Application>Microsoft Office PowerPoint</Application>
  <PresentationFormat>Widescreen</PresentationFormat>
  <Paragraphs>668</Paragraphs>
  <Slides>118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118</vt:i4>
      </vt:variant>
    </vt:vector>
  </HeadingPairs>
  <TitlesOfParts>
    <vt:vector size="127" baseType="lpstr">
      <vt:lpstr>Arial</vt:lpstr>
      <vt:lpstr>Calibri</vt:lpstr>
      <vt:lpstr>Cambria Math</vt:lpstr>
      <vt:lpstr>Courier New</vt:lpstr>
      <vt:lpstr>Helvetica Neue Medium</vt:lpstr>
      <vt:lpstr>Times New Roman</vt:lpstr>
      <vt:lpstr>Wingdings</vt:lpstr>
      <vt:lpstr>Custom Design</vt:lpstr>
      <vt:lpstr>Theme1</vt:lpstr>
      <vt:lpstr>BAKFAA 3.4</vt:lpstr>
      <vt:lpstr>Presentation Outline</vt:lpstr>
      <vt:lpstr>FAA Airport Pavement R&amp;D Overview</vt:lpstr>
      <vt:lpstr>Who We Are</vt:lpstr>
      <vt:lpstr>What We Do</vt:lpstr>
      <vt:lpstr>ANG-E262 Airport Pavement R&amp;D</vt:lpstr>
      <vt:lpstr>Airport Pavement R&amp;D Section Facility Layout</vt:lpstr>
      <vt:lpstr>National Airport Pavement Test Facility (NAPTF)</vt:lpstr>
      <vt:lpstr>National Airport Pavement Materials Research Center (NAPMRC)</vt:lpstr>
      <vt:lpstr>FAA NextGen Pavement Materials Lab</vt:lpstr>
      <vt:lpstr>BAKFAA Introduction</vt:lpstr>
      <vt:lpstr>PowerPoint Presentation</vt:lpstr>
      <vt:lpstr>BAKFAA Main Features</vt:lpstr>
      <vt:lpstr>BAKFAA Main Features</vt:lpstr>
      <vt:lpstr>BAKFAA Modular Interface</vt:lpstr>
      <vt:lpstr>PowerPoint Presentation</vt:lpstr>
      <vt:lpstr>BAKFAA Modular Interface</vt:lpstr>
      <vt:lpstr>BAKFAA Modular Interface</vt:lpstr>
      <vt:lpstr>BAKFAA Modular Interface</vt:lpstr>
      <vt:lpstr>BAKFAA Modular Interface</vt:lpstr>
      <vt:lpstr>BAKFAA Modular Interface</vt:lpstr>
      <vt:lpstr>BAKFAA Modular Interface</vt:lpstr>
      <vt:lpstr>FWD Data</vt:lpstr>
      <vt:lpstr>FWD Data FWD Test Information </vt:lpstr>
      <vt:lpstr>FWD Data FWD Information updates after Backcalculation Analysis </vt:lpstr>
      <vt:lpstr>FWD Data FWD Information updates after Backcalculation Analysis </vt:lpstr>
      <vt:lpstr>FWD Data Load/View FWD File </vt:lpstr>
      <vt:lpstr>FWD Data FWD File Formats </vt:lpstr>
      <vt:lpstr>FWD Data FWD File Information </vt:lpstr>
      <vt:lpstr>FWD Data FWD File Information </vt:lpstr>
      <vt:lpstr>FWD Data FWD File Information </vt:lpstr>
      <vt:lpstr>FWD Data View FWD File </vt:lpstr>
      <vt:lpstr>FWD Data View FWD File </vt:lpstr>
      <vt:lpstr>FWD Data Convert FWD File to PDDX Format </vt:lpstr>
      <vt:lpstr>FWD Data FWD File Parser </vt:lpstr>
      <vt:lpstr>Units  </vt:lpstr>
      <vt:lpstr>Units  </vt:lpstr>
      <vt:lpstr>Units  </vt:lpstr>
      <vt:lpstr>Units  </vt:lpstr>
      <vt:lpstr>Units  </vt:lpstr>
      <vt:lpstr>BAKFAA Inputs</vt:lpstr>
      <vt:lpstr>BAKFAA INPUTS Pavement Layer Properties </vt:lpstr>
      <vt:lpstr>BAKFAA INPUTS Pavement Layer Properties </vt:lpstr>
      <vt:lpstr>BAKFAA INPUTS Pavement Layer Properties </vt:lpstr>
      <vt:lpstr>BAKFAA INPUTS Pavement Layer Properties </vt:lpstr>
      <vt:lpstr>BAKFAA INPUTS Pavement Layer Structure </vt:lpstr>
      <vt:lpstr>BAKFAA INPUTS Backcalculation Input </vt:lpstr>
      <vt:lpstr>Backcalculation Analysis</vt:lpstr>
      <vt:lpstr>Backcalculation Analysis Mode </vt:lpstr>
      <vt:lpstr>Backcalculation Select FWD File </vt:lpstr>
      <vt:lpstr>Backcalculation Select FWD File </vt:lpstr>
      <vt:lpstr>Backcalculation Select FWD File </vt:lpstr>
      <vt:lpstr>Backcalculation Select FWD File </vt:lpstr>
      <vt:lpstr>Backcalculation Analysis Output </vt:lpstr>
      <vt:lpstr>Backcalculation Analysis Output </vt:lpstr>
      <vt:lpstr>Backcalculation Analysis Output </vt:lpstr>
      <vt:lpstr>Backcalculation Show Output </vt:lpstr>
      <vt:lpstr>Backcalculation Show Output </vt:lpstr>
      <vt:lpstr>Backcalculation Stop Backcalculation </vt:lpstr>
      <vt:lpstr>Backcalculation Batch Graph </vt:lpstr>
      <vt:lpstr>Backcalculation Batch Graph </vt:lpstr>
      <vt:lpstr>Load Transfer Efficiency (LTE) Calculation</vt:lpstr>
      <vt:lpstr>LTE Calculation Calculate LTE between Two Jointed Concrete Slabs </vt:lpstr>
      <vt:lpstr>PowerPoint Presentation</vt:lpstr>
      <vt:lpstr>Run LEAF  </vt:lpstr>
      <vt:lpstr>Run LEAF Inputs Required for LEAF Analysis </vt:lpstr>
      <vt:lpstr>Run LEAF Select Load and Gear Configuration </vt:lpstr>
      <vt:lpstr>Run LEAF Library Example (B-747-400) </vt:lpstr>
      <vt:lpstr>Run LEAF LEAF Outputs </vt:lpstr>
      <vt:lpstr>Software Demo</vt:lpstr>
      <vt:lpstr>Flexible Pavement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Rigid Pavement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Composite Pavement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Load Transfer Efficiency (LTE)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 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Profile32 Reverse Engineering</dc:title>
  <dc:creator>Tim Parsons ARA/TRANS</dc:creator>
  <cp:lastModifiedBy>Chris Mazzotta</cp:lastModifiedBy>
  <cp:revision>482</cp:revision>
  <cp:lastPrinted>2022-11-21T21:55:43Z</cp:lastPrinted>
  <dcterms:created xsi:type="dcterms:W3CDTF">2016-04-20T15:47:41Z</dcterms:created>
  <dcterms:modified xsi:type="dcterms:W3CDTF">2023-03-03T20:22:57Z</dcterms:modified>
</cp:coreProperties>
</file>