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77122afcf94b16" /><Relationship Type="http://schemas.openxmlformats.org/officeDocument/2006/relationships/extended-properties" Target="/docProps/app.xml" Id="Rcac4e7e1c8a14afd" /><Relationship Type="http://schemas.openxmlformats.org/officeDocument/2006/relationships/officeDocument" Target="/ppt/presentation.xml" Id="Rced42e1ac1244b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cae4465ba94a75"/>
    <p:sldMasterId xmlns:r="http://schemas.openxmlformats.org/officeDocument/2006/relationships" id="2147483650" r:id="Ra470b2f8f12c449b"/>
  </p:sldMasterIdLst>
  <p:notesMasterIdLst>
    <p:notesMasterId xmlns:r="http://schemas.openxmlformats.org/officeDocument/2006/relationships" r:id="Re215fa42e4b04089"/>
  </p:notesMasterIdLst>
  <p:sldIdLst>
    <p:sldId xmlns:r="http://schemas.openxmlformats.org/officeDocument/2006/relationships" id="256" r:id="R7f9500d2d5344c0c"/>
    <p:sldId xmlns:r="http://schemas.openxmlformats.org/officeDocument/2006/relationships" id="257" r:id="Rf013e963f8304cae"/>
    <p:sldId xmlns:r="http://schemas.openxmlformats.org/officeDocument/2006/relationships" id="258" r:id="R62c17e03580a4c0b"/>
    <p:sldId xmlns:r="http://schemas.openxmlformats.org/officeDocument/2006/relationships" id="259" r:id="R6e02835a58744b86"/>
    <p:sldId xmlns:r="http://schemas.openxmlformats.org/officeDocument/2006/relationships" id="260" r:id="R919e537645c440e9"/>
    <p:sldId xmlns:r="http://schemas.openxmlformats.org/officeDocument/2006/relationships" id="261" r:id="Rbb3d49e115f14cd3"/>
    <p:sldId xmlns:r="http://schemas.openxmlformats.org/officeDocument/2006/relationships" id="262" r:id="Rae3deec17c4d49d2"/>
    <p:sldId xmlns:r="http://schemas.openxmlformats.org/officeDocument/2006/relationships" id="263" r:id="Rd28084e974194ce2"/>
    <p:sldId xmlns:r="http://schemas.openxmlformats.org/officeDocument/2006/relationships" id="264" r:id="R330306c9c3be41de"/>
    <p:sldId xmlns:r="http://schemas.openxmlformats.org/officeDocument/2006/relationships" id="265" r:id="R3f2495325cfe490f"/>
    <p:sldId xmlns:r="http://schemas.openxmlformats.org/officeDocument/2006/relationships" id="266" r:id="R999be36594e14b74"/>
    <p:sldId xmlns:r="http://schemas.openxmlformats.org/officeDocument/2006/relationships" id="267" r:id="Rdfa5bb04995449fc"/>
    <p:sldId xmlns:r="http://schemas.openxmlformats.org/officeDocument/2006/relationships" id="268" r:id="R01e9eedc3a53473f"/>
    <p:sldId xmlns:r="http://schemas.openxmlformats.org/officeDocument/2006/relationships" id="269" r:id="R2ec6510319164c8a"/>
    <p:sldId xmlns:r="http://schemas.openxmlformats.org/officeDocument/2006/relationships" id="270" r:id="Rf410d5052fd94116"/>
    <p:sldId xmlns:r="http://schemas.openxmlformats.org/officeDocument/2006/relationships" id="271" r:id="R83709d33d1db4dae"/>
    <p:sldId xmlns:r="http://schemas.openxmlformats.org/officeDocument/2006/relationships" id="272" r:id="R4c4b53d0e82040d8"/>
    <p:sldId xmlns:r="http://schemas.openxmlformats.org/officeDocument/2006/relationships" id="273" r:id="Rd639af348a734681"/>
    <p:sldId xmlns:r="http://schemas.openxmlformats.org/officeDocument/2006/relationships" id="274" r:id="R3fb0c493e4dd439a"/>
    <p:sldId xmlns:r="http://schemas.openxmlformats.org/officeDocument/2006/relationships" id="275" r:id="R91115cce7ccc4ec6"/>
    <p:sldId xmlns:r="http://schemas.openxmlformats.org/officeDocument/2006/relationships" id="276" r:id="Rd88d5b2799b847c5"/>
    <p:sldId xmlns:r="http://schemas.openxmlformats.org/officeDocument/2006/relationships" id="277" r:id="R9f8a56c2be9046d7"/>
    <p:sldId xmlns:r="http://schemas.openxmlformats.org/officeDocument/2006/relationships" id="278" r:id="R3ef73171444b4dfb"/>
    <p:sldId xmlns:r="http://schemas.openxmlformats.org/officeDocument/2006/relationships" id="279" r:id="Ra01d2659444b4016"/>
    <p:sldId xmlns:r="http://schemas.openxmlformats.org/officeDocument/2006/relationships" id="280" r:id="R7d237aa784e6451e"/>
    <p:sldId xmlns:r="http://schemas.openxmlformats.org/officeDocument/2006/relationships" id="281" r:id="Re514bc2efa774091"/>
    <p:sldId xmlns:r="http://schemas.openxmlformats.org/officeDocument/2006/relationships" id="282" r:id="R58d1d441119240b0"/>
    <p:sldId xmlns:r="http://schemas.openxmlformats.org/officeDocument/2006/relationships" id="283" r:id="R6ee635210e714b1e"/>
    <p:sldId xmlns:r="http://schemas.openxmlformats.org/officeDocument/2006/relationships" id="284" r:id="Rb628fecb4c80473d"/>
    <p:sldId xmlns:r="http://schemas.openxmlformats.org/officeDocument/2006/relationships" id="285" r:id="Rd9f7bc0b5bc24a04"/>
    <p:sldId xmlns:r="http://schemas.openxmlformats.org/officeDocument/2006/relationships" id="286" r:id="Rccaf0c493cae4d69"/>
    <p:sldId xmlns:r="http://schemas.openxmlformats.org/officeDocument/2006/relationships" id="287" r:id="R341bc2af790e4be1"/>
    <p:sldId xmlns:r="http://schemas.openxmlformats.org/officeDocument/2006/relationships" id="288" r:id="R99bb6c2189f24ba0"/>
    <p:sldId xmlns:r="http://schemas.openxmlformats.org/officeDocument/2006/relationships" id="289" r:id="R1b33834d16324aca"/>
    <p:sldId xmlns:r="http://schemas.openxmlformats.org/officeDocument/2006/relationships" id="290" r:id="R3c6fa4f2da884a48"/>
    <p:sldId xmlns:r="http://schemas.openxmlformats.org/officeDocument/2006/relationships" id="291" r:id="R32ee70f09c324106"/>
    <p:sldId xmlns:r="http://schemas.openxmlformats.org/officeDocument/2006/relationships" id="292" r:id="Rb60a65ff6cdc45d8"/>
    <p:sldId xmlns:r="http://schemas.openxmlformats.org/officeDocument/2006/relationships" id="293" r:id="R9964d4be3a364256"/>
    <p:sldId xmlns:r="http://schemas.openxmlformats.org/officeDocument/2006/relationships" id="294" r:id="Rd103e59d5baa489c"/>
    <p:sldId xmlns:r="http://schemas.openxmlformats.org/officeDocument/2006/relationships" id="295" r:id="Reaadc168103e4eb0"/>
    <p:sldId xmlns:r="http://schemas.openxmlformats.org/officeDocument/2006/relationships" id="296" r:id="R88c90ff96ada41e2"/>
    <p:sldId xmlns:r="http://schemas.openxmlformats.org/officeDocument/2006/relationships" id="297" r:id="Rcaec33c204eb47f2"/>
    <p:sldId xmlns:r="http://schemas.openxmlformats.org/officeDocument/2006/relationships" id="298" r:id="R4edbddaf92ab4853"/>
    <p:sldId xmlns:r="http://schemas.openxmlformats.org/officeDocument/2006/relationships" id="299" r:id="R5a0121e750f34659"/>
    <p:sldId xmlns:r="http://schemas.openxmlformats.org/officeDocument/2006/relationships" id="300" r:id="R627960e98ca4458f"/>
    <p:sldId xmlns:r="http://schemas.openxmlformats.org/officeDocument/2006/relationships" id="301" r:id="R88c97e5f6b7948f7"/>
    <p:sldId xmlns:r="http://schemas.openxmlformats.org/officeDocument/2006/relationships" id="302" r:id="R483c25221cff4d04"/>
    <p:sldId xmlns:r="http://schemas.openxmlformats.org/officeDocument/2006/relationships" id="303" r:id="Rfc11608cf72d43ca"/>
    <p:sldId xmlns:r="http://schemas.openxmlformats.org/officeDocument/2006/relationships" id="304" r:id="R2ff0bd3250484ae1"/>
    <p:sldId xmlns:r="http://schemas.openxmlformats.org/officeDocument/2006/relationships" id="305" r:id="Rc2592f10eb954da9"/>
    <p:sldId xmlns:r="http://schemas.openxmlformats.org/officeDocument/2006/relationships" id="306" r:id="R4fded5f8a8a54a89"/>
    <p:sldId xmlns:r="http://schemas.openxmlformats.org/officeDocument/2006/relationships" id="307" r:id="R315de5b2fafb4f06"/>
    <p:sldId xmlns:r="http://schemas.openxmlformats.org/officeDocument/2006/relationships" id="308" r:id="Rc30bf7bae77349ca"/>
    <p:sldId xmlns:r="http://schemas.openxmlformats.org/officeDocument/2006/relationships" id="309" r:id="Ra3600fc179284b39"/>
    <p:sldId xmlns:r="http://schemas.openxmlformats.org/officeDocument/2006/relationships" id="310" r:id="Ra981a2fa3a4e4e5c"/>
    <p:sldId xmlns:r="http://schemas.openxmlformats.org/officeDocument/2006/relationships" id="311" r:id="Re6638606802d4678"/>
    <p:sldId xmlns:r="http://schemas.openxmlformats.org/officeDocument/2006/relationships" id="312" r:id="Rf5ffbe44f03c47a5"/>
    <p:sldId xmlns:r="http://schemas.openxmlformats.org/officeDocument/2006/relationships" id="313" r:id="R56ed30cbd4ea497d"/>
    <p:sldId xmlns:r="http://schemas.openxmlformats.org/officeDocument/2006/relationships" id="314" r:id="R40bf53b0aa514ba2"/>
    <p:sldId xmlns:r="http://schemas.openxmlformats.org/officeDocument/2006/relationships" id="315" r:id="Rdc9622927e7b4a8e"/>
    <p:sldId xmlns:r="http://schemas.openxmlformats.org/officeDocument/2006/relationships" id="316" r:id="Re88836a5256348bf"/>
    <p:sldId xmlns:r="http://schemas.openxmlformats.org/officeDocument/2006/relationships" id="317" r:id="R97b7394bd3da477a"/>
    <p:sldId xmlns:r="http://schemas.openxmlformats.org/officeDocument/2006/relationships" id="318" r:id="Rb5dd3978b2fa49f4"/>
    <p:sldId xmlns:r="http://schemas.openxmlformats.org/officeDocument/2006/relationships" id="319" r:id="Rbcfb8241d38c45ca"/>
    <p:sldId xmlns:r="http://schemas.openxmlformats.org/officeDocument/2006/relationships" id="320" r:id="R8f790dde33304482"/>
    <p:sldId xmlns:r="http://schemas.openxmlformats.org/officeDocument/2006/relationships" id="321" r:id="R09490088ae6a49a2"/>
    <p:sldId xmlns:r="http://schemas.openxmlformats.org/officeDocument/2006/relationships" id="322" r:id="R6f6bca4152154ba1"/>
    <p:sldId xmlns:r="http://schemas.openxmlformats.org/officeDocument/2006/relationships" id="323" r:id="R5ea9ebe1eb194517"/>
    <p:sldId xmlns:r="http://schemas.openxmlformats.org/officeDocument/2006/relationships" id="324" r:id="R78946e4436064ae5"/>
    <p:sldId xmlns:r="http://schemas.openxmlformats.org/officeDocument/2006/relationships" id="325" r:id="R562c54232f17473a"/>
    <p:sldId xmlns:r="http://schemas.openxmlformats.org/officeDocument/2006/relationships" id="326" r:id="R44120886691844a5"/>
    <p:sldId xmlns:r="http://schemas.openxmlformats.org/officeDocument/2006/relationships" id="327" r:id="Re5b5165dd0c34ed4"/>
    <p:sldId xmlns:r="http://schemas.openxmlformats.org/officeDocument/2006/relationships" id="328" r:id="R55d25e8c7f4b4a2c"/>
    <p:sldId xmlns:r="http://schemas.openxmlformats.org/officeDocument/2006/relationships" id="329" r:id="Rd02405b6f0d94b67"/>
    <p:sldId xmlns:r="http://schemas.openxmlformats.org/officeDocument/2006/relationships" id="330" r:id="Rdaaa3213eff44fe0"/>
    <p:sldId xmlns:r="http://schemas.openxmlformats.org/officeDocument/2006/relationships" id="331" r:id="Red398c383f5a4e10"/>
    <p:sldId xmlns:r="http://schemas.openxmlformats.org/officeDocument/2006/relationships" id="332" r:id="R523ccf087c4c4f5a"/>
    <p:sldId xmlns:r="http://schemas.openxmlformats.org/officeDocument/2006/relationships" id="333" r:id="Rb9c63ab546574b0f"/>
    <p:sldId xmlns:r="http://schemas.openxmlformats.org/officeDocument/2006/relationships" id="334" r:id="Rb96818bf8bec41e6"/>
    <p:sldId xmlns:r="http://schemas.openxmlformats.org/officeDocument/2006/relationships" id="335" r:id="Rdcab679f3825425c"/>
    <p:sldId xmlns:r="http://schemas.openxmlformats.org/officeDocument/2006/relationships" id="336" r:id="R2f29b58d8b474a3a"/>
    <p:sldId xmlns:r="http://schemas.openxmlformats.org/officeDocument/2006/relationships" id="337" r:id="Rdd14c534e6d44c53"/>
    <p:sldId xmlns:r="http://schemas.openxmlformats.org/officeDocument/2006/relationships" id="338" r:id="Rc542c904021f4cf4"/>
    <p:sldId xmlns:r="http://schemas.openxmlformats.org/officeDocument/2006/relationships" id="339" r:id="R849a59abfa054549"/>
    <p:sldId xmlns:r="http://schemas.openxmlformats.org/officeDocument/2006/relationships" id="340" r:id="Rffc68925c8e24af7"/>
    <p:sldId xmlns:r="http://schemas.openxmlformats.org/officeDocument/2006/relationships" id="341" r:id="Rb0d145f12b8c405d"/>
    <p:sldId xmlns:r="http://schemas.openxmlformats.org/officeDocument/2006/relationships" id="342" r:id="R7aa2fe73512c4c7c"/>
    <p:sldId xmlns:r="http://schemas.openxmlformats.org/officeDocument/2006/relationships" id="343" r:id="R91cfdf3d85734a4f"/>
    <p:sldId xmlns:r="http://schemas.openxmlformats.org/officeDocument/2006/relationships" id="344" r:id="R811d3dc050104944"/>
    <p:sldId xmlns:r="http://schemas.openxmlformats.org/officeDocument/2006/relationships" id="345" r:id="R2cfe97ef517446fd"/>
    <p:sldId xmlns:r="http://schemas.openxmlformats.org/officeDocument/2006/relationships" id="346" r:id="R50be3764dce54a0c"/>
    <p:sldId xmlns:r="http://schemas.openxmlformats.org/officeDocument/2006/relationships" id="347" r:id="Rdccd137d790d47f0"/>
    <p:sldId xmlns:r="http://schemas.openxmlformats.org/officeDocument/2006/relationships" id="348" r:id="R26e4b10f711c4886"/>
    <p:sldId xmlns:r="http://schemas.openxmlformats.org/officeDocument/2006/relationships" id="349" r:id="Rfd0f34fad74f4c0b"/>
    <p:sldId xmlns:r="http://schemas.openxmlformats.org/officeDocument/2006/relationships" id="350" r:id="Rd1e8efa5b63c4a6d"/>
    <p:sldId xmlns:r="http://schemas.openxmlformats.org/officeDocument/2006/relationships" id="351" r:id="Rd17210ce22644c42"/>
    <p:sldId xmlns:r="http://schemas.openxmlformats.org/officeDocument/2006/relationships" id="352" r:id="R3cc2885272854440"/>
    <p:sldId xmlns:r="http://schemas.openxmlformats.org/officeDocument/2006/relationships" id="353" r:id="R34fae92766f94563"/>
    <p:sldId xmlns:r="http://schemas.openxmlformats.org/officeDocument/2006/relationships" id="354" r:id="R7ba7cddf8bea4ce9"/>
    <p:sldId xmlns:r="http://schemas.openxmlformats.org/officeDocument/2006/relationships" id="355" r:id="R4b7b8f0b55d441a2"/>
    <p:sldId xmlns:r="http://schemas.openxmlformats.org/officeDocument/2006/relationships" id="356" r:id="Ra01f8034e3de4dd0"/>
    <p:sldId xmlns:r="http://schemas.openxmlformats.org/officeDocument/2006/relationships" id="357" r:id="Rbfa8b057998740fc"/>
    <p:sldId xmlns:r="http://schemas.openxmlformats.org/officeDocument/2006/relationships" id="358" r:id="R5db1b8a5fa7d4761"/>
    <p:sldId xmlns:r="http://schemas.openxmlformats.org/officeDocument/2006/relationships" id="359" r:id="R1d7885de0ccd464d"/>
    <p:sldId xmlns:r="http://schemas.openxmlformats.org/officeDocument/2006/relationships" id="360" r:id="R852674b3f9f5446e"/>
    <p:sldId xmlns:r="http://schemas.openxmlformats.org/officeDocument/2006/relationships" id="361" r:id="R314850b252d345b0"/>
    <p:sldId xmlns:r="http://schemas.openxmlformats.org/officeDocument/2006/relationships" id="362" r:id="Raf6307736b3645a5"/>
    <p:sldId xmlns:r="http://schemas.openxmlformats.org/officeDocument/2006/relationships" id="363" r:id="R6856f33ca1d84e23"/>
    <p:sldId xmlns:r="http://schemas.openxmlformats.org/officeDocument/2006/relationships" id="364" r:id="R3a9808bc8f1f467d"/>
    <p:sldId xmlns:r="http://schemas.openxmlformats.org/officeDocument/2006/relationships" id="365" r:id="R3a05e1afefd04963"/>
    <p:sldId xmlns:r="http://schemas.openxmlformats.org/officeDocument/2006/relationships" id="366" r:id="R34092487a3814b7f"/>
    <p:sldId xmlns:r="http://schemas.openxmlformats.org/officeDocument/2006/relationships" id="367" r:id="R803fcf8c3f1a43cd"/>
    <p:sldId xmlns:r="http://schemas.openxmlformats.org/officeDocument/2006/relationships" id="368" r:id="R536f040a5b3940bf"/>
    <p:sldId xmlns:r="http://schemas.openxmlformats.org/officeDocument/2006/relationships" id="369" r:id="Re1abf6a69fba439d"/>
    <p:sldId xmlns:r="http://schemas.openxmlformats.org/officeDocument/2006/relationships" id="370" r:id="R06b0969ab0144141"/>
    <p:sldId xmlns:r="http://schemas.openxmlformats.org/officeDocument/2006/relationships" id="371" r:id="R0cb5264b28254f11"/>
    <p:sldId xmlns:r="http://schemas.openxmlformats.org/officeDocument/2006/relationships" id="372" r:id="R77235ae243624bfe"/>
    <p:sldId xmlns:r="http://schemas.openxmlformats.org/officeDocument/2006/relationships" id="373" r:id="Ra7500285ae4e417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>
      <a:spcBef>
        <a:spcPct val="0"/>
      </a:spcBef>
      <a:spcAft>
        <a:spcPct val="0"/>
      </a:spcAft>
      <a:buNone/>
      <a:defRPr sz="2400" kern="1200">
        <a:solidFill>
          <a:schemeClr val="tx1"/>
        </a:solidFill>
        <a:latin typeface="Arial"/>
        <a:ea typeface="Arial"/>
        <a:cs typeface="Arial"/>
      </a:defRPr>
    </a:lvl1pPr>
    <a:lvl2pPr xmlns:a="http://schemas.openxmlformats.org/drawingml/2006/main" marL="457200" algn="l">
      <a:spcBef>
        <a:spcPct val="0"/>
      </a:spcBef>
      <a:spcAft>
        <a:spcPct val="0"/>
      </a:spcAft>
      <a:buNone/>
      <a:defRPr sz="2400" kern="1200">
        <a:solidFill>
          <a:schemeClr val="tx1"/>
        </a:solidFill>
        <a:latin typeface="Arial"/>
        <a:ea typeface="Arial"/>
        <a:cs typeface="Arial"/>
      </a:defRPr>
    </a:lvl2pPr>
    <a:lvl3pPr xmlns:a="http://schemas.openxmlformats.org/drawingml/2006/main" marL="914400" algn="l">
      <a:spcBef>
        <a:spcPct val="0"/>
      </a:spcBef>
      <a:spcAft>
        <a:spcPct val="0"/>
      </a:spcAft>
      <a:buNone/>
      <a:defRPr sz="2400" kern="1200">
        <a:solidFill>
          <a:schemeClr val="tx1"/>
        </a:solidFill>
        <a:latin typeface="Arial"/>
        <a:ea typeface="Arial"/>
        <a:cs typeface="Arial"/>
      </a:defRPr>
    </a:lvl3pPr>
    <a:lvl4pPr xmlns:a="http://schemas.openxmlformats.org/drawingml/2006/main" marL="1371600" algn="l">
      <a:spcBef>
        <a:spcPct val="0"/>
      </a:spcBef>
      <a:spcAft>
        <a:spcPct val="0"/>
      </a:spcAft>
      <a:buNone/>
      <a:defRPr sz="2400" kern="1200">
        <a:solidFill>
          <a:schemeClr val="tx1"/>
        </a:solidFill>
        <a:latin typeface="Arial"/>
        <a:ea typeface="Arial"/>
        <a:cs typeface="Arial"/>
      </a:defRPr>
    </a:lvl4pPr>
    <a:lvl5pPr xmlns:a="http://schemas.openxmlformats.org/drawingml/2006/main" marL="1828800" algn="l">
      <a:spcBef>
        <a:spcPct val="0"/>
      </a:spcBef>
      <a:spcAft>
        <a:spcPct val="0"/>
      </a:spcAft>
      <a:buNone/>
      <a:defRPr sz="2400" kern="1200">
        <a:solidFill>
          <a:schemeClr val="tx1"/>
        </a:solidFill>
        <a:latin typeface="Arial"/>
        <a:ea typeface="Arial"/>
        <a:cs typeface="Arial"/>
      </a:defRPr>
    </a:lvl5pPr>
    <a:lvl6pPr xmlns:a="http://schemas.openxmlformats.org/drawingml/2006/main" marL="2286000" algn="l" defTabSz="457200">
      <a:buNone/>
      <a:defRPr sz="2400" kern="1200">
        <a:solidFill>
          <a:schemeClr val="tx1"/>
        </a:solidFill>
        <a:latin typeface="Arial"/>
        <a:ea typeface="Arial"/>
        <a:cs typeface="Arial"/>
      </a:defRPr>
    </a:lvl6pPr>
    <a:lvl7pPr xmlns:a="http://schemas.openxmlformats.org/drawingml/2006/main" marL="2743200" algn="l" defTabSz="457200">
      <a:buNone/>
      <a:defRPr sz="2400" kern="1200">
        <a:solidFill>
          <a:schemeClr val="tx1"/>
        </a:solidFill>
        <a:latin typeface="Arial"/>
        <a:ea typeface="Arial"/>
        <a:cs typeface="Arial"/>
      </a:defRPr>
    </a:lvl7pPr>
    <a:lvl8pPr xmlns:a="http://schemas.openxmlformats.org/drawingml/2006/main" marL="3200400" algn="l" defTabSz="457200">
      <a:buNone/>
      <a:defRPr sz="2400" kern="1200">
        <a:solidFill>
          <a:schemeClr val="tx1"/>
        </a:solidFill>
        <a:latin typeface="Arial"/>
        <a:ea typeface="Arial"/>
        <a:cs typeface="Arial"/>
      </a:defRPr>
    </a:lvl8pPr>
    <a:lvl9pPr xmlns:a="http://schemas.openxmlformats.org/drawingml/2006/main" marL="3657600" algn="l" defTabSz="457200">
      <a:buNone/>
      <a:defRPr sz="2400"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authors.xml><?xml version="1.0" encoding="utf-8"?>
<p188:authorLst xmlns:p188="http://schemas.microsoft.com/office/powerpoint/2018/8/main">
  <p188:author id="{5780D713-43C1-4C21-30DC-D803486EB7F0}" name="Chris Mazzotta" initials="CM" userId="S::cmazzotta@ara.com::e73ce995-5bf4-47ff-bd27-a641b71969a3" providerId="AD"/>
  <p188:author id="{54185E89-0295-861F-97A3-E1888062A713}" name="Gabriel Bazi" initials="GB" userId="S::gbazi@gbazi.com::38ffb131-a6fc-4e56-b6d7-b704a457bac0" providerId="AD"/>
  <p188:author id="{9928B8E8-07FC-6DC5-8874-9788D539218F}" name="Douglas Evans" initials="DE" userId="S::devans@ara.com::112373eb-62f7-401d-ae90-a638d7346e32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fecf9b9f1d4329" /><Relationship Type="http://schemas.openxmlformats.org/officeDocument/2006/relationships/slideMaster" Target="/ppt/slideMasters/slideMaster1.xml" Id="R11cae4465ba94a75" /><Relationship Type="http://schemas.openxmlformats.org/officeDocument/2006/relationships/slideMaster" Target="/ppt/slideMasters/slideMaster2.xml" Id="Ra470b2f8f12c449b" /><Relationship Type="http://schemas.openxmlformats.org/officeDocument/2006/relationships/notesMaster" Target="/ppt/notesMasters/notesMaster1.xml" Id="Re215fa42e4b04089" /><Relationship Type="http://schemas.openxmlformats.org/officeDocument/2006/relationships/presProps" Target="/ppt/presProps.xml" Id="Rfcb4824d4a3f4089" /><Relationship Type="http://schemas.openxmlformats.org/officeDocument/2006/relationships/viewProps" Target="/ppt/viewProps.xml" Id="R77f9828c1e8d4abb" /><Relationship Type="http://schemas.openxmlformats.org/officeDocument/2006/relationships/tableStyles" Target="/ppt/tableStyles.xml" Id="Re8a71686b57f4c1f" /><Relationship Type="http://schemas.microsoft.com/office/2018/10/relationships/authors" Target="/ppt/authors.xml" Id="R5611ec678742414e" /><Relationship Type="http://schemas.openxmlformats.org/officeDocument/2006/relationships/slide" Target="/ppt/slides/slide1.xml" Id="R7f9500d2d5344c0c" /><Relationship Type="http://schemas.openxmlformats.org/officeDocument/2006/relationships/slide" Target="/ppt/slides/slide2.xml" Id="Rf013e963f8304cae" /><Relationship Type="http://schemas.openxmlformats.org/officeDocument/2006/relationships/slide" Target="/ppt/slides/slide3.xml" Id="R62c17e03580a4c0b" /><Relationship Type="http://schemas.openxmlformats.org/officeDocument/2006/relationships/slide" Target="/ppt/slides/slide4.xml" Id="R6e02835a58744b86" /><Relationship Type="http://schemas.openxmlformats.org/officeDocument/2006/relationships/slide" Target="/ppt/slides/slide5.xml" Id="R919e537645c440e9" /><Relationship Type="http://schemas.openxmlformats.org/officeDocument/2006/relationships/slide" Target="/ppt/slides/slide6.xml" Id="Rbb3d49e115f14cd3" /><Relationship Type="http://schemas.openxmlformats.org/officeDocument/2006/relationships/slide" Target="/ppt/slides/slide7.xml" Id="Rae3deec17c4d49d2" /><Relationship Type="http://schemas.openxmlformats.org/officeDocument/2006/relationships/slide" Target="/ppt/slides/slide8.xml" Id="Rd28084e974194ce2" /><Relationship Type="http://schemas.openxmlformats.org/officeDocument/2006/relationships/slide" Target="/ppt/slides/slide9.xml" Id="R330306c9c3be41de" /><Relationship Type="http://schemas.openxmlformats.org/officeDocument/2006/relationships/slide" Target="/ppt/slides/slide10.xml" Id="R3f2495325cfe490f" /><Relationship Type="http://schemas.openxmlformats.org/officeDocument/2006/relationships/slide" Target="/ppt/slides/slide11.xml" Id="R999be36594e14b74" /><Relationship Type="http://schemas.openxmlformats.org/officeDocument/2006/relationships/slide" Target="/ppt/slides/slide12.xml" Id="Rdfa5bb04995449fc" /><Relationship Type="http://schemas.openxmlformats.org/officeDocument/2006/relationships/slide" Target="/ppt/slides/slide13.xml" Id="R01e9eedc3a53473f" /><Relationship Type="http://schemas.openxmlformats.org/officeDocument/2006/relationships/slide" Target="/ppt/slides/slide14.xml" Id="R2ec6510319164c8a" /><Relationship Type="http://schemas.openxmlformats.org/officeDocument/2006/relationships/slide" Target="/ppt/slides/slide15.xml" Id="Rf410d5052fd94116" /><Relationship Type="http://schemas.openxmlformats.org/officeDocument/2006/relationships/slide" Target="/ppt/slides/slide16.xml" Id="R83709d33d1db4dae" /><Relationship Type="http://schemas.openxmlformats.org/officeDocument/2006/relationships/slide" Target="/ppt/slides/slide17.xml" Id="R4c4b53d0e82040d8" /><Relationship Type="http://schemas.openxmlformats.org/officeDocument/2006/relationships/slide" Target="/ppt/slides/slide18.xml" Id="Rd639af348a734681" /><Relationship Type="http://schemas.openxmlformats.org/officeDocument/2006/relationships/slide" Target="/ppt/slides/slide19.xml" Id="R3fb0c493e4dd439a" /><Relationship Type="http://schemas.openxmlformats.org/officeDocument/2006/relationships/slide" Target="/ppt/slides/slide20.xml" Id="R91115cce7ccc4ec6" /><Relationship Type="http://schemas.openxmlformats.org/officeDocument/2006/relationships/slide" Target="/ppt/slides/slide21.xml" Id="Rd88d5b2799b847c5" /><Relationship Type="http://schemas.openxmlformats.org/officeDocument/2006/relationships/slide" Target="/ppt/slides/slide22.xml" Id="R9f8a56c2be9046d7" /><Relationship Type="http://schemas.openxmlformats.org/officeDocument/2006/relationships/slide" Target="/ppt/slides/slide23.xml" Id="R3ef73171444b4dfb" /><Relationship Type="http://schemas.openxmlformats.org/officeDocument/2006/relationships/slide" Target="/ppt/slides/slide24.xml" Id="Ra01d2659444b4016" /><Relationship Type="http://schemas.openxmlformats.org/officeDocument/2006/relationships/slide" Target="/ppt/slides/slide25.xml" Id="R7d237aa784e6451e" /><Relationship Type="http://schemas.openxmlformats.org/officeDocument/2006/relationships/slide" Target="/ppt/slides/slide26.xml" Id="Re514bc2efa774091" /><Relationship Type="http://schemas.openxmlformats.org/officeDocument/2006/relationships/slide" Target="/ppt/slides/slide27.xml" Id="R58d1d441119240b0" /><Relationship Type="http://schemas.openxmlformats.org/officeDocument/2006/relationships/slide" Target="/ppt/slides/slide28.xml" Id="R6ee635210e714b1e" /><Relationship Type="http://schemas.openxmlformats.org/officeDocument/2006/relationships/slide" Target="/ppt/slides/slide29.xml" Id="Rb628fecb4c80473d" /><Relationship Type="http://schemas.openxmlformats.org/officeDocument/2006/relationships/slide" Target="/ppt/slides/slide30.xml" Id="Rd9f7bc0b5bc24a04" /><Relationship Type="http://schemas.openxmlformats.org/officeDocument/2006/relationships/slide" Target="/ppt/slides/slide31.xml" Id="Rccaf0c493cae4d69" /><Relationship Type="http://schemas.openxmlformats.org/officeDocument/2006/relationships/slide" Target="/ppt/slides/slide32.xml" Id="R341bc2af790e4be1" /><Relationship Type="http://schemas.openxmlformats.org/officeDocument/2006/relationships/slide" Target="/ppt/slides/slide33.xml" Id="R99bb6c2189f24ba0" /><Relationship Type="http://schemas.openxmlformats.org/officeDocument/2006/relationships/slide" Target="/ppt/slides/slide34.xml" Id="R1b33834d16324aca" /><Relationship Type="http://schemas.openxmlformats.org/officeDocument/2006/relationships/slide" Target="/ppt/slides/slide35.xml" Id="R3c6fa4f2da884a48" /><Relationship Type="http://schemas.openxmlformats.org/officeDocument/2006/relationships/slide" Target="/ppt/slides/slide36.xml" Id="R32ee70f09c324106" /><Relationship Type="http://schemas.openxmlformats.org/officeDocument/2006/relationships/slide" Target="/ppt/slides/slide37.xml" Id="Rb60a65ff6cdc45d8" /><Relationship Type="http://schemas.openxmlformats.org/officeDocument/2006/relationships/slide" Target="/ppt/slides/slide38.xml" Id="R9964d4be3a364256" /><Relationship Type="http://schemas.openxmlformats.org/officeDocument/2006/relationships/slide" Target="/ppt/slides/slide39.xml" Id="Rd103e59d5baa489c" /><Relationship Type="http://schemas.openxmlformats.org/officeDocument/2006/relationships/slide" Target="/ppt/slides/slide40.xml" Id="Reaadc168103e4eb0" /><Relationship Type="http://schemas.openxmlformats.org/officeDocument/2006/relationships/slide" Target="/ppt/slides/slide41.xml" Id="R88c90ff96ada41e2" /><Relationship Type="http://schemas.openxmlformats.org/officeDocument/2006/relationships/slide" Target="/ppt/slides/slide42.xml" Id="Rcaec33c204eb47f2" /><Relationship Type="http://schemas.openxmlformats.org/officeDocument/2006/relationships/slide" Target="/ppt/slides/slide43.xml" Id="R4edbddaf92ab4853" /><Relationship Type="http://schemas.openxmlformats.org/officeDocument/2006/relationships/slide" Target="/ppt/slides/slide44.xml" Id="R5a0121e750f34659" /><Relationship Type="http://schemas.openxmlformats.org/officeDocument/2006/relationships/slide" Target="/ppt/slides/slide45.xml" Id="R627960e98ca4458f" /><Relationship Type="http://schemas.openxmlformats.org/officeDocument/2006/relationships/slide" Target="/ppt/slides/slide46.xml" Id="R88c97e5f6b7948f7" /><Relationship Type="http://schemas.openxmlformats.org/officeDocument/2006/relationships/slide" Target="/ppt/slides/slide47.xml" Id="R483c25221cff4d04" /><Relationship Type="http://schemas.openxmlformats.org/officeDocument/2006/relationships/slide" Target="/ppt/slides/slide48.xml" Id="Rfc11608cf72d43ca" /><Relationship Type="http://schemas.openxmlformats.org/officeDocument/2006/relationships/slide" Target="/ppt/slides/slide49.xml" Id="R2ff0bd3250484ae1" /><Relationship Type="http://schemas.openxmlformats.org/officeDocument/2006/relationships/slide" Target="/ppt/slides/slide50.xml" Id="Rc2592f10eb954da9" /><Relationship Type="http://schemas.openxmlformats.org/officeDocument/2006/relationships/slide" Target="/ppt/slides/slide51.xml" Id="R4fded5f8a8a54a89" /><Relationship Type="http://schemas.openxmlformats.org/officeDocument/2006/relationships/slide" Target="/ppt/slides/slide52.xml" Id="R315de5b2fafb4f06" /><Relationship Type="http://schemas.openxmlformats.org/officeDocument/2006/relationships/slide" Target="/ppt/slides/slide53.xml" Id="Rc30bf7bae77349ca" /><Relationship Type="http://schemas.openxmlformats.org/officeDocument/2006/relationships/slide" Target="/ppt/slides/slide54.xml" Id="Ra3600fc179284b39" /><Relationship Type="http://schemas.openxmlformats.org/officeDocument/2006/relationships/slide" Target="/ppt/slides/slide55.xml" Id="Ra981a2fa3a4e4e5c" /><Relationship Type="http://schemas.openxmlformats.org/officeDocument/2006/relationships/slide" Target="/ppt/slides/slide56.xml" Id="Re6638606802d4678" /><Relationship Type="http://schemas.openxmlformats.org/officeDocument/2006/relationships/slide" Target="/ppt/slides/slide57.xml" Id="Rf5ffbe44f03c47a5" /><Relationship Type="http://schemas.openxmlformats.org/officeDocument/2006/relationships/slide" Target="/ppt/slides/slide58.xml" Id="R56ed30cbd4ea497d" /><Relationship Type="http://schemas.openxmlformats.org/officeDocument/2006/relationships/slide" Target="/ppt/slides/slide59.xml" Id="R40bf53b0aa514ba2" /><Relationship Type="http://schemas.openxmlformats.org/officeDocument/2006/relationships/slide" Target="/ppt/slides/slide60.xml" Id="Rdc9622927e7b4a8e" /><Relationship Type="http://schemas.openxmlformats.org/officeDocument/2006/relationships/slide" Target="/ppt/slides/slide61.xml" Id="Re88836a5256348bf" /><Relationship Type="http://schemas.openxmlformats.org/officeDocument/2006/relationships/slide" Target="/ppt/slides/slide62.xml" Id="R97b7394bd3da477a" /><Relationship Type="http://schemas.openxmlformats.org/officeDocument/2006/relationships/slide" Target="/ppt/slides/slide63.xml" Id="Rb5dd3978b2fa49f4" /><Relationship Type="http://schemas.openxmlformats.org/officeDocument/2006/relationships/slide" Target="/ppt/slides/slide64.xml" Id="Rbcfb8241d38c45ca" /><Relationship Type="http://schemas.openxmlformats.org/officeDocument/2006/relationships/slide" Target="/ppt/slides/slide65.xml" Id="R8f790dde33304482" /><Relationship Type="http://schemas.openxmlformats.org/officeDocument/2006/relationships/slide" Target="/ppt/slides/slide66.xml" Id="R09490088ae6a49a2" /><Relationship Type="http://schemas.openxmlformats.org/officeDocument/2006/relationships/slide" Target="/ppt/slides/slide67.xml" Id="R6f6bca4152154ba1" /><Relationship Type="http://schemas.openxmlformats.org/officeDocument/2006/relationships/slide" Target="/ppt/slides/slide68.xml" Id="R5ea9ebe1eb194517" /><Relationship Type="http://schemas.openxmlformats.org/officeDocument/2006/relationships/slide" Target="/ppt/slides/slide69.xml" Id="R78946e4436064ae5" /><Relationship Type="http://schemas.openxmlformats.org/officeDocument/2006/relationships/slide" Target="/ppt/slides/slide70.xml" Id="R562c54232f17473a" /><Relationship Type="http://schemas.openxmlformats.org/officeDocument/2006/relationships/slide" Target="/ppt/slides/slide71.xml" Id="R44120886691844a5" /><Relationship Type="http://schemas.openxmlformats.org/officeDocument/2006/relationships/slide" Target="/ppt/slides/slide72.xml" Id="Re5b5165dd0c34ed4" /><Relationship Type="http://schemas.openxmlformats.org/officeDocument/2006/relationships/slide" Target="/ppt/slides/slide73.xml" Id="R55d25e8c7f4b4a2c" /><Relationship Type="http://schemas.openxmlformats.org/officeDocument/2006/relationships/slide" Target="/ppt/slides/slide74.xml" Id="Rd02405b6f0d94b67" /><Relationship Type="http://schemas.openxmlformats.org/officeDocument/2006/relationships/slide" Target="/ppt/slides/slide75.xml" Id="Rdaaa3213eff44fe0" /><Relationship Type="http://schemas.openxmlformats.org/officeDocument/2006/relationships/slide" Target="/ppt/slides/slide76.xml" Id="Red398c383f5a4e10" /><Relationship Type="http://schemas.openxmlformats.org/officeDocument/2006/relationships/slide" Target="/ppt/slides/slide77.xml" Id="R523ccf087c4c4f5a" /><Relationship Type="http://schemas.openxmlformats.org/officeDocument/2006/relationships/slide" Target="/ppt/slides/slide78.xml" Id="Rb9c63ab546574b0f" /><Relationship Type="http://schemas.openxmlformats.org/officeDocument/2006/relationships/slide" Target="/ppt/slides/slide79.xml" Id="Rb96818bf8bec41e6" /><Relationship Type="http://schemas.openxmlformats.org/officeDocument/2006/relationships/slide" Target="/ppt/slides/slide80.xml" Id="Rdcab679f3825425c" /><Relationship Type="http://schemas.openxmlformats.org/officeDocument/2006/relationships/slide" Target="/ppt/slides/slide81.xml" Id="R2f29b58d8b474a3a" /><Relationship Type="http://schemas.openxmlformats.org/officeDocument/2006/relationships/slide" Target="/ppt/slides/slide82.xml" Id="Rdd14c534e6d44c53" /><Relationship Type="http://schemas.openxmlformats.org/officeDocument/2006/relationships/slide" Target="/ppt/slides/slide83.xml" Id="Rc542c904021f4cf4" /><Relationship Type="http://schemas.openxmlformats.org/officeDocument/2006/relationships/slide" Target="/ppt/slides/slide84.xml" Id="R849a59abfa054549" /><Relationship Type="http://schemas.openxmlformats.org/officeDocument/2006/relationships/slide" Target="/ppt/slides/slide85.xml" Id="Rffc68925c8e24af7" /><Relationship Type="http://schemas.openxmlformats.org/officeDocument/2006/relationships/slide" Target="/ppt/slides/slide86.xml" Id="Rb0d145f12b8c405d" /><Relationship Type="http://schemas.openxmlformats.org/officeDocument/2006/relationships/slide" Target="/ppt/slides/slide87.xml" Id="R7aa2fe73512c4c7c" /><Relationship Type="http://schemas.openxmlformats.org/officeDocument/2006/relationships/slide" Target="/ppt/slides/slide88.xml" Id="R91cfdf3d85734a4f" /><Relationship Type="http://schemas.openxmlformats.org/officeDocument/2006/relationships/slide" Target="/ppt/slides/slide89.xml" Id="R811d3dc050104944" /><Relationship Type="http://schemas.openxmlformats.org/officeDocument/2006/relationships/slide" Target="/ppt/slides/slide90.xml" Id="R2cfe97ef517446fd" /><Relationship Type="http://schemas.openxmlformats.org/officeDocument/2006/relationships/slide" Target="/ppt/slides/slide91.xml" Id="R50be3764dce54a0c" /><Relationship Type="http://schemas.openxmlformats.org/officeDocument/2006/relationships/slide" Target="/ppt/slides/slide92.xml" Id="Rdccd137d790d47f0" /><Relationship Type="http://schemas.openxmlformats.org/officeDocument/2006/relationships/slide" Target="/ppt/slides/slide93.xml" Id="R26e4b10f711c4886" /><Relationship Type="http://schemas.openxmlformats.org/officeDocument/2006/relationships/slide" Target="/ppt/slides/slide94.xml" Id="Rfd0f34fad74f4c0b" /><Relationship Type="http://schemas.openxmlformats.org/officeDocument/2006/relationships/slide" Target="/ppt/slides/slide95.xml" Id="Rd1e8efa5b63c4a6d" /><Relationship Type="http://schemas.openxmlformats.org/officeDocument/2006/relationships/slide" Target="/ppt/slides/slide96.xml" Id="Rd17210ce22644c42" /><Relationship Type="http://schemas.openxmlformats.org/officeDocument/2006/relationships/slide" Target="/ppt/slides/slide97.xml" Id="R3cc2885272854440" /><Relationship Type="http://schemas.openxmlformats.org/officeDocument/2006/relationships/slide" Target="/ppt/slides/slide98.xml" Id="R34fae92766f94563" /><Relationship Type="http://schemas.openxmlformats.org/officeDocument/2006/relationships/slide" Target="/ppt/slides/slide99.xml" Id="R7ba7cddf8bea4ce9" /><Relationship Type="http://schemas.openxmlformats.org/officeDocument/2006/relationships/slide" Target="/ppt/slides/slide100.xml" Id="R4b7b8f0b55d441a2" /><Relationship Type="http://schemas.openxmlformats.org/officeDocument/2006/relationships/slide" Target="/ppt/slides/slide101.xml" Id="Ra01f8034e3de4dd0" /><Relationship Type="http://schemas.openxmlformats.org/officeDocument/2006/relationships/slide" Target="/ppt/slides/slide102.xml" Id="Rbfa8b057998740fc" /><Relationship Type="http://schemas.openxmlformats.org/officeDocument/2006/relationships/slide" Target="/ppt/slides/slide103.xml" Id="R5db1b8a5fa7d4761" /><Relationship Type="http://schemas.openxmlformats.org/officeDocument/2006/relationships/slide" Target="/ppt/slides/slide104.xml" Id="R1d7885de0ccd464d" /><Relationship Type="http://schemas.openxmlformats.org/officeDocument/2006/relationships/slide" Target="/ppt/slides/slide105.xml" Id="R852674b3f9f5446e" /><Relationship Type="http://schemas.openxmlformats.org/officeDocument/2006/relationships/slide" Target="/ppt/slides/slide106.xml" Id="R314850b252d345b0" /><Relationship Type="http://schemas.openxmlformats.org/officeDocument/2006/relationships/slide" Target="/ppt/slides/slide107.xml" Id="Raf6307736b3645a5" /><Relationship Type="http://schemas.openxmlformats.org/officeDocument/2006/relationships/slide" Target="/ppt/slides/slide108.xml" Id="R6856f33ca1d84e23" /><Relationship Type="http://schemas.openxmlformats.org/officeDocument/2006/relationships/slide" Target="/ppt/slides/slide109.xml" Id="R3a9808bc8f1f467d" /><Relationship Type="http://schemas.openxmlformats.org/officeDocument/2006/relationships/slide" Target="/ppt/slides/slide110.xml" Id="R3a05e1afefd04963" /><Relationship Type="http://schemas.openxmlformats.org/officeDocument/2006/relationships/slide" Target="/ppt/slides/slide111.xml" Id="R34092487a3814b7f" /><Relationship Type="http://schemas.openxmlformats.org/officeDocument/2006/relationships/slide" Target="/ppt/slides/slide112.xml" Id="R803fcf8c3f1a43cd" /><Relationship Type="http://schemas.openxmlformats.org/officeDocument/2006/relationships/slide" Target="/ppt/slides/slide113.xml" Id="R536f040a5b3940bf" /><Relationship Type="http://schemas.openxmlformats.org/officeDocument/2006/relationships/slide" Target="/ppt/slides/slide114.xml" Id="Re1abf6a69fba439d" /><Relationship Type="http://schemas.openxmlformats.org/officeDocument/2006/relationships/slide" Target="/ppt/slides/slide115.xml" Id="R06b0969ab0144141" /><Relationship Type="http://schemas.openxmlformats.org/officeDocument/2006/relationships/slide" Target="/ppt/slides/slide116.xml" Id="R0cb5264b28254f11" /><Relationship Type="http://schemas.openxmlformats.org/officeDocument/2006/relationships/slide" Target="/ppt/slides/slide117.xml" Id="R77235ae243624bfe" /><Relationship Type="http://schemas.openxmlformats.org/officeDocument/2006/relationships/slide" Target="/ppt/slides/slide118.xml" Id="Ra7500285ae4e41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1c13503ef9944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ustom Design">
  <a:themeElements>
    <a:clrScheme name="ARA NEW">
      <a:dk1>
        <a:srgbClr val="003E7E"/>
      </a:dk1>
      <a:lt1>
        <a:srgbClr val="FFFFFF"/>
      </a:lt1>
      <a:dk2>
        <a:srgbClr val="00133A"/>
      </a:dk2>
      <a:lt2>
        <a:srgbClr val="0090CB"/>
      </a:lt2>
      <a:accent1>
        <a:srgbClr val="003E7E"/>
      </a:accent1>
      <a:accent2>
        <a:srgbClr val="F15632"/>
      </a:accent2>
      <a:accent3>
        <a:srgbClr val="D2DE31"/>
      </a:accent3>
      <a:accent4>
        <a:srgbClr val="B1C0C9"/>
      </a:accent4>
      <a:accent5>
        <a:srgbClr val="2CBAF6"/>
      </a:accent5>
      <a:accent6>
        <a:srgbClr val="CBD5DF"/>
      </a:accent6>
      <a:hlink>
        <a:srgbClr val="22CBF2"/>
      </a:hlink>
      <a:folHlink>
        <a:srgbClr val="B1C0C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RA NEW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satMod val="180000"/>
                <a:alpha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satMod val="180000"/>
                <a:alpha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5240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ae0ffc03514b19" /><Relationship Type="http://schemas.openxmlformats.org/officeDocument/2006/relationships/notesMaster" Target="/ppt/notesMasters/notesMaster1.xml" Id="R7d1e37eb3d7742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33989ba7574dd7" /><Relationship Type="http://schemas.openxmlformats.org/officeDocument/2006/relationships/notesMaster" Target="/ppt/notesMasters/notesMaster1.xml" Id="R353e34b3f42240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f584341c6f4647" /><Relationship Type="http://schemas.openxmlformats.org/officeDocument/2006/relationships/notesMaster" Target="/ppt/notesMasters/notesMaster1.xml" Id="R09d4d830e87145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34204115c24770" /><Relationship Type="http://schemas.openxmlformats.org/officeDocument/2006/relationships/notesMaster" Target="/ppt/notesMasters/notesMaster1.xml" Id="R216db31af6d940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2a1d23ab33496e" /><Relationship Type="http://schemas.openxmlformats.org/officeDocument/2006/relationships/notesMaster" Target="/ppt/notesMasters/notesMaster1.xml" Id="R61666c0afaf049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9124dc3c074ee7" /><Relationship Type="http://schemas.openxmlformats.org/officeDocument/2006/relationships/notesMaster" Target="/ppt/notesMasters/notesMaster1.xml" Id="Rd99409c02edc49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7fd13e56184af0" /><Relationship Type="http://schemas.openxmlformats.org/officeDocument/2006/relationships/notesMaster" Target="/ppt/notesMasters/notesMaster1.xml" Id="R92e7008bbb7245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8144fada6847c7" /><Relationship Type="http://schemas.openxmlformats.org/officeDocument/2006/relationships/notesMaster" Target="/ppt/notesMasters/notesMaster1.xml" Id="Rbace037a73e740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63f2043c5e4a07" /><Relationship Type="http://schemas.openxmlformats.org/officeDocument/2006/relationships/notesMaster" Target="/ppt/notesMasters/notesMaster1.xml" Id="R08090297fd114f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91b22ab93f4fec" /><Relationship Type="http://schemas.openxmlformats.org/officeDocument/2006/relationships/notesMaster" Target="/ppt/notesMasters/notesMaster1.xml" Id="Re66eaf25437147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d72019f5104201" /><Relationship Type="http://schemas.openxmlformats.org/officeDocument/2006/relationships/notesMaster" Target="/ppt/notesMasters/notesMaster1.xml" Id="R16dd0f6573f943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96be2187ad469d" /><Relationship Type="http://schemas.openxmlformats.org/officeDocument/2006/relationships/notesMaster" Target="/ppt/notesMasters/notesMaster1.xml" Id="Rba066b13443542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e08ac354744c27" /><Relationship Type="http://schemas.openxmlformats.org/officeDocument/2006/relationships/notesMaster" Target="/ppt/notesMasters/notesMaster1.xml" Id="Reb5a1341d64241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44663cb0634ef1" /><Relationship Type="http://schemas.openxmlformats.org/officeDocument/2006/relationships/notesMaster" Target="/ppt/notesMasters/notesMaster1.xml" Id="Rde65dbf469e44f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6a8ce038b648a8" /><Relationship Type="http://schemas.openxmlformats.org/officeDocument/2006/relationships/notesMaster" Target="/ppt/notesMasters/notesMaster1.xml" Id="R2da17dec64884d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4979d082a040e7" /><Relationship Type="http://schemas.openxmlformats.org/officeDocument/2006/relationships/notesMaster" Target="/ppt/notesMasters/notesMaster1.xml" Id="R48c9b871fba149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03e44c29c7460f" /><Relationship Type="http://schemas.openxmlformats.org/officeDocument/2006/relationships/notesMaster" Target="/ppt/notesMasters/notesMaster1.xml" Id="R0e020951e4af4f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c291e94b0d49c6" /><Relationship Type="http://schemas.openxmlformats.org/officeDocument/2006/relationships/notesMaster" Target="/ppt/notesMasters/notesMaster1.xml" Id="R050f58b1308d4e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156e667be4429e" /><Relationship Type="http://schemas.openxmlformats.org/officeDocument/2006/relationships/notesMaster" Target="/ppt/notesMasters/notesMaster1.xml" Id="R27596b83ea334f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8fa4005270440a" /><Relationship Type="http://schemas.openxmlformats.org/officeDocument/2006/relationships/notesMaster" Target="/ppt/notesMasters/notesMaster1.xml" Id="R6a04050f996f41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537c4e0cd54034" /><Relationship Type="http://schemas.openxmlformats.org/officeDocument/2006/relationships/notesMaster" Target="/ppt/notesMasters/notesMaster1.xml" Id="Rd841219a851144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b429e88810d46ed" /><Relationship Type="http://schemas.openxmlformats.org/officeDocument/2006/relationships/notesMaster" Target="/ppt/notesMasters/notesMaster1.xml" Id="R1c84fb378b2d482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3fe4ffab1974158" /><Relationship Type="http://schemas.openxmlformats.org/officeDocument/2006/relationships/notesMaster" Target="/ppt/notesMasters/notesMaster1.xml" Id="Re65b3148098140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3fda069f66a4bab" /><Relationship Type="http://schemas.openxmlformats.org/officeDocument/2006/relationships/notesMaster" Target="/ppt/notesMasters/notesMaster1.xml" Id="R9b676eba274f44d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ebb10c0af304945" /><Relationship Type="http://schemas.openxmlformats.org/officeDocument/2006/relationships/notesMaster" Target="/ppt/notesMasters/notesMaster1.xml" Id="R383aa5322721480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b554d82cc004a28" /><Relationship Type="http://schemas.openxmlformats.org/officeDocument/2006/relationships/notesMaster" Target="/ppt/notesMasters/notesMaster1.xml" Id="R9d75d961b559487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aed91bb40b648a7" /><Relationship Type="http://schemas.openxmlformats.org/officeDocument/2006/relationships/notesMaster" Target="/ppt/notesMasters/notesMaster1.xml" Id="Rb2858f9fc5e44c5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0c71f0a0c134ac7" /><Relationship Type="http://schemas.openxmlformats.org/officeDocument/2006/relationships/notesMaster" Target="/ppt/notesMasters/notesMaster1.xml" Id="R604b9483afe042a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3e4ef1cf8e24c74" /><Relationship Type="http://schemas.openxmlformats.org/officeDocument/2006/relationships/notesMaster" Target="/ppt/notesMasters/notesMaster1.xml" Id="R46f08d369823431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34f2976f7f74a29" /><Relationship Type="http://schemas.openxmlformats.org/officeDocument/2006/relationships/notesMaster" Target="/ppt/notesMasters/notesMaster1.xml" Id="R1478edc3d66740a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f6353534ca444b7" /><Relationship Type="http://schemas.openxmlformats.org/officeDocument/2006/relationships/notesMaster" Target="/ppt/notesMasters/notesMaster1.xml" Id="R9afb76c6056a4bf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11620ba2caf461f" /><Relationship Type="http://schemas.openxmlformats.org/officeDocument/2006/relationships/notesMaster" Target="/ppt/notesMasters/notesMaster1.xml" Id="Rd572589d543742f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a5707c1932a4b1f" /><Relationship Type="http://schemas.openxmlformats.org/officeDocument/2006/relationships/notesMaster" Target="/ppt/notesMasters/notesMaster1.xml" Id="R405845497cea404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280c554e9ce4b71" /><Relationship Type="http://schemas.openxmlformats.org/officeDocument/2006/relationships/notesMaster" Target="/ppt/notesMasters/notesMaster1.xml" Id="Rd2f8e74b3ba542a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34a210e78e94b34" /><Relationship Type="http://schemas.openxmlformats.org/officeDocument/2006/relationships/notesMaster" Target="/ppt/notesMasters/notesMaster1.xml" Id="R057b48711d0241b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9c12dd343f542cc" /><Relationship Type="http://schemas.openxmlformats.org/officeDocument/2006/relationships/notesMaster" Target="/ppt/notesMasters/notesMaster1.xml" Id="R340b05095e9742f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00b4bd3fadc4558" /><Relationship Type="http://schemas.openxmlformats.org/officeDocument/2006/relationships/notesMaster" Target="/ppt/notesMasters/notesMaster1.xml" Id="Rce020c16307d491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ac39a31ac9c4cdd" /><Relationship Type="http://schemas.openxmlformats.org/officeDocument/2006/relationships/notesMaster" Target="/ppt/notesMasters/notesMaster1.xml" Id="R6b040eb1f0c14b0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31e29414cb24c61" /><Relationship Type="http://schemas.openxmlformats.org/officeDocument/2006/relationships/notesMaster" Target="/ppt/notesMasters/notesMaster1.xml" Id="R24ad163bbc4048e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3209d6ebf614b67" /><Relationship Type="http://schemas.openxmlformats.org/officeDocument/2006/relationships/notesMaster" Target="/ppt/notesMasters/notesMaster1.xml" Id="Rba9940253f11430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c85654b6ef74dcb" /><Relationship Type="http://schemas.openxmlformats.org/officeDocument/2006/relationships/notesMaster" Target="/ppt/notesMasters/notesMaster1.xml" Id="Rb33e0d4a54184af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72092bbf2b74968" /><Relationship Type="http://schemas.openxmlformats.org/officeDocument/2006/relationships/notesMaster" Target="/ppt/notesMasters/notesMaster1.xml" Id="Re37ec1ff9573473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ccc311f16d54ff7" /><Relationship Type="http://schemas.openxmlformats.org/officeDocument/2006/relationships/notesMaster" Target="/ppt/notesMasters/notesMaster1.xml" Id="Rb16e9312cda344c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c0fa531a76045c8" /><Relationship Type="http://schemas.openxmlformats.org/officeDocument/2006/relationships/notesMaster" Target="/ppt/notesMasters/notesMaster1.xml" Id="Ra03ede56669e42a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e8dd91dd4794db2" /><Relationship Type="http://schemas.openxmlformats.org/officeDocument/2006/relationships/notesMaster" Target="/ppt/notesMasters/notesMaster1.xml" Id="R10963747c2d64b2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9ee358f9fb642e7" /><Relationship Type="http://schemas.openxmlformats.org/officeDocument/2006/relationships/notesMaster" Target="/ppt/notesMasters/notesMaster1.xml" Id="Rb89cff8eb0ac48e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694785391264e6e" /><Relationship Type="http://schemas.openxmlformats.org/officeDocument/2006/relationships/notesMaster" Target="/ppt/notesMasters/notesMaster1.xml" Id="Rc58ee0769d7a4d3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b0fbc8943d0488d" /><Relationship Type="http://schemas.openxmlformats.org/officeDocument/2006/relationships/notesMaster" Target="/ppt/notesMasters/notesMaster1.xml" Id="R4dc157b61bc94e0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22a1bdeece64ad9" /><Relationship Type="http://schemas.openxmlformats.org/officeDocument/2006/relationships/notesMaster" Target="/ppt/notesMasters/notesMaster1.xml" Id="R5b4f3ce4ce3447f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199152897c94d15" /><Relationship Type="http://schemas.openxmlformats.org/officeDocument/2006/relationships/notesMaster" Target="/ppt/notesMasters/notesMaster1.xml" Id="Re2f12e92be65440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ae6584449d94c15" /><Relationship Type="http://schemas.openxmlformats.org/officeDocument/2006/relationships/notesMaster" Target="/ppt/notesMasters/notesMaster1.xml" Id="R653f75e1d04942d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3c8f098eec1497c" /><Relationship Type="http://schemas.openxmlformats.org/officeDocument/2006/relationships/notesMaster" Target="/ppt/notesMasters/notesMaster1.xml" Id="Recba5adef602493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3d9e1bb73b4408f" /><Relationship Type="http://schemas.openxmlformats.org/officeDocument/2006/relationships/notesMaster" Target="/ppt/notesMasters/notesMaster1.xml" Id="Rc9a4c74ef0294b3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c6f8e32c0c742d0" /><Relationship Type="http://schemas.openxmlformats.org/officeDocument/2006/relationships/notesMaster" Target="/ppt/notesMasters/notesMaster1.xml" Id="R04e37202692e421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2b48904b6554976" /><Relationship Type="http://schemas.openxmlformats.org/officeDocument/2006/relationships/notesMaster" Target="/ppt/notesMasters/notesMaster1.xml" Id="R8b19d3837f43430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4c0b3809a0841af" /><Relationship Type="http://schemas.openxmlformats.org/officeDocument/2006/relationships/notesMaster" Target="/ppt/notesMasters/notesMaster1.xml" Id="Rbb06d60d76884c0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dbd3e29a7294022" /><Relationship Type="http://schemas.openxmlformats.org/officeDocument/2006/relationships/notesMaster" Target="/ppt/notesMasters/notesMaster1.xml" Id="R24c9dad94a92480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877f55418f2494f" /><Relationship Type="http://schemas.openxmlformats.org/officeDocument/2006/relationships/notesMaster" Target="/ppt/notesMasters/notesMaster1.xml" Id="Rcfd5ff055dc94ab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c614cdbf9bb8459f" /><Relationship Type="http://schemas.openxmlformats.org/officeDocument/2006/relationships/notesMaster" Target="/ppt/notesMasters/notesMaster1.xml" Id="R86c7937019144df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356deac764f4dcd" /><Relationship Type="http://schemas.openxmlformats.org/officeDocument/2006/relationships/notesMaster" Target="/ppt/notesMasters/notesMaster1.xml" Id="R0a27f6ecb81c473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fa7c2cb7c63428f" /><Relationship Type="http://schemas.openxmlformats.org/officeDocument/2006/relationships/notesMaster" Target="/ppt/notesMasters/notesMaster1.xml" Id="R16b6e1c518704ced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1c27686e5ba4e67" /><Relationship Type="http://schemas.openxmlformats.org/officeDocument/2006/relationships/notesMaster" Target="/ppt/notesMasters/notesMaster1.xml" Id="Rea9dff924dbb478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1a8e561fb104307" /><Relationship Type="http://schemas.openxmlformats.org/officeDocument/2006/relationships/notesMaster" Target="/ppt/notesMasters/notesMaster1.xml" Id="R7c438ffa47f544a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d02ae8a9eeb4fae" /><Relationship Type="http://schemas.openxmlformats.org/officeDocument/2006/relationships/notesMaster" Target="/ppt/notesMasters/notesMaster1.xml" Id="R6996ccc8aea14b3c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91a2131055a4d63" /><Relationship Type="http://schemas.openxmlformats.org/officeDocument/2006/relationships/notesMaster" Target="/ppt/notesMasters/notesMaster1.xml" Id="Rc7e3c3c7202c4f4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1c10d231dae641e0" /><Relationship Type="http://schemas.openxmlformats.org/officeDocument/2006/relationships/notesMaster" Target="/ppt/notesMasters/notesMaster1.xml" Id="R21cfdfbc7f774ad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1d2f511ee53422c" /><Relationship Type="http://schemas.openxmlformats.org/officeDocument/2006/relationships/notesMaster" Target="/ppt/notesMasters/notesMaster1.xml" Id="R1479427799aa422e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a7bbac8bd834c39" /><Relationship Type="http://schemas.openxmlformats.org/officeDocument/2006/relationships/notesMaster" Target="/ppt/notesMasters/notesMaster1.xml" Id="Rc028e1021e464e7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01859d56d4da4b4b" /><Relationship Type="http://schemas.openxmlformats.org/officeDocument/2006/relationships/notesMaster" Target="/ppt/notesMasters/notesMaster1.xml" Id="Rc79a51a659c3428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fbc5c53a7a94caa" /><Relationship Type="http://schemas.openxmlformats.org/officeDocument/2006/relationships/notesMaster" Target="/ppt/notesMasters/notesMaster1.xml" Id="R4cc123e0d2fd4f7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0e3962b809a74b8e" /><Relationship Type="http://schemas.openxmlformats.org/officeDocument/2006/relationships/notesMaster" Target="/ppt/notesMasters/notesMaster1.xml" Id="R260b64ef6f71483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0156877f0f6142dc" /><Relationship Type="http://schemas.openxmlformats.org/officeDocument/2006/relationships/notesMaster" Target="/ppt/notesMasters/notesMaster1.xml" Id="R4d0713b88445415a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e449a720f75f417c" /><Relationship Type="http://schemas.openxmlformats.org/officeDocument/2006/relationships/notesMaster" Target="/ppt/notesMasters/notesMaster1.xml" Id="R43b4e1b4d529414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d79693ea82e4eae" /><Relationship Type="http://schemas.openxmlformats.org/officeDocument/2006/relationships/notesMaster" Target="/ppt/notesMasters/notesMaster1.xml" Id="Ra621616f3449443d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380125ce24884831" /><Relationship Type="http://schemas.openxmlformats.org/officeDocument/2006/relationships/notesMaster" Target="/ppt/notesMasters/notesMaster1.xml" Id="R441f6888722e4c05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325fdcb6cc884726" /><Relationship Type="http://schemas.openxmlformats.org/officeDocument/2006/relationships/notesMaster" Target="/ppt/notesMasters/notesMaster1.xml" Id="R6bae36b93c57461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2c80854493804571" /><Relationship Type="http://schemas.openxmlformats.org/officeDocument/2006/relationships/notesMaster" Target="/ppt/notesMasters/notesMaster1.xml" Id="R8df53f351a0341d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a1d23dae0b684b18" /><Relationship Type="http://schemas.openxmlformats.org/officeDocument/2006/relationships/notesMaster" Target="/ppt/notesMasters/notesMaster1.xml" Id="R2f751052877e4529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204836789fbf4b85" /><Relationship Type="http://schemas.openxmlformats.org/officeDocument/2006/relationships/notesMaster" Target="/ppt/notesMasters/notesMaster1.xml" Id="R2cac35a6c6344476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f7e17e0accb64de2" /><Relationship Type="http://schemas.openxmlformats.org/officeDocument/2006/relationships/notesMaster" Target="/ppt/notesMasters/notesMaster1.xml" Id="R103d087f00d3441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2b69167a303e4240" /><Relationship Type="http://schemas.openxmlformats.org/officeDocument/2006/relationships/notesMaster" Target="/ppt/notesMasters/notesMaster1.xml" Id="Rd2f6ab3d8db44a03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52904a70fb05468b" /><Relationship Type="http://schemas.openxmlformats.org/officeDocument/2006/relationships/notesMaster" Target="/ppt/notesMasters/notesMaster1.xml" Id="Rd9a294f42de34e28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9342d55cc0334a23" /><Relationship Type="http://schemas.openxmlformats.org/officeDocument/2006/relationships/notesMaster" Target="/ppt/notesMasters/notesMaster1.xml" Id="R84dbfd235db942f9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ed7b43c4ab4e45b7" /><Relationship Type="http://schemas.openxmlformats.org/officeDocument/2006/relationships/notesMaster" Target="/ppt/notesMasters/notesMaster1.xml" Id="R511b1be94b914e18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d1c5ede10efa452c" /><Relationship Type="http://schemas.openxmlformats.org/officeDocument/2006/relationships/notesMaster" Target="/ppt/notesMasters/notesMaster1.xml" Id="R9685dc4cb64a4fc2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07c625e966a54665" /><Relationship Type="http://schemas.openxmlformats.org/officeDocument/2006/relationships/notesMaster" Target="/ppt/notesMasters/notesMaster1.xml" Id="R57da657fd49444e6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7e4ee1f3b26f4b37" /><Relationship Type="http://schemas.openxmlformats.org/officeDocument/2006/relationships/notesMaster" Target="/ppt/notesMasters/notesMaster1.xml" Id="Ra88000dda6004af7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6990f79cdf9f4471" /><Relationship Type="http://schemas.openxmlformats.org/officeDocument/2006/relationships/notesMaster" Target="/ppt/notesMasters/notesMaster1.xml" Id="R327113b0d66e4390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c5b496e4a6b54320" /><Relationship Type="http://schemas.openxmlformats.org/officeDocument/2006/relationships/notesMaster" Target="/ppt/notesMasters/notesMaster1.xml" Id="R741fe0a92eb64ed8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20fdaf7f384d47c9" /><Relationship Type="http://schemas.openxmlformats.org/officeDocument/2006/relationships/notesMaster" Target="/ppt/notesMasters/notesMaster1.xml" Id="R41b98bbb779c4a8e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165141a32ffe49e9" /><Relationship Type="http://schemas.openxmlformats.org/officeDocument/2006/relationships/notesMaster" Target="/ppt/notesMasters/notesMaster1.xml" Id="R1b40bc2686fb45ea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7f5e299fc4ac47d5" /><Relationship Type="http://schemas.openxmlformats.org/officeDocument/2006/relationships/notesMaster" Target="/ppt/notesMasters/notesMaster1.xml" Id="R6dc1562003114078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3784e7fba2dd43cf" /><Relationship Type="http://schemas.openxmlformats.org/officeDocument/2006/relationships/notesMaster" Target="/ppt/notesMasters/notesMaster1.xml" Id="R32270dbbdf294e1b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2c2554cdd5fb4a84" /><Relationship Type="http://schemas.openxmlformats.org/officeDocument/2006/relationships/notesMaster" Target="/ppt/notesMasters/notesMaster1.xml" Id="R60be7e2bddfd48f8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cbd30c7ccf7e4c9c" /><Relationship Type="http://schemas.openxmlformats.org/officeDocument/2006/relationships/notesMaster" Target="/ppt/notesMasters/notesMaster1.xml" Id="R3beded72e06241da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4322343b2d0d4c38" /><Relationship Type="http://schemas.openxmlformats.org/officeDocument/2006/relationships/notesMaster" Target="/ppt/notesMasters/notesMaster1.xml" Id="R3d77e3a072d746a6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820c4fef2d3044d6" /><Relationship Type="http://schemas.openxmlformats.org/officeDocument/2006/relationships/notesMaster" Target="/ppt/notesMasters/notesMaster1.xml" Id="R05cf00fa06704fbf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bada79acdf4449f9" /><Relationship Type="http://schemas.openxmlformats.org/officeDocument/2006/relationships/notesMaster" Target="/ppt/notesMasters/notesMaster1.xml" Id="Reb1e9f036ea04ff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71467590e5144a63" /><Relationship Type="http://schemas.openxmlformats.org/officeDocument/2006/relationships/notesMaster" Target="/ppt/notesMasters/notesMaster1.xml" Id="R17d39e91b29448aa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6b8deba7e1c54a8b" /><Relationship Type="http://schemas.openxmlformats.org/officeDocument/2006/relationships/notesMaster" Target="/ppt/notesMasters/notesMaster1.xml" Id="R9920e543073c449c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28834514357b45d4" /><Relationship Type="http://schemas.openxmlformats.org/officeDocument/2006/relationships/notesMaster" Target="/ppt/notesMasters/notesMaster1.xml" Id="R2fe0dc3918304550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f6b0bcc6a5b24cc5" /><Relationship Type="http://schemas.openxmlformats.org/officeDocument/2006/relationships/notesMaster" Target="/ppt/notesMasters/notesMaster1.xml" Id="R62892e07fa624a3f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f943e9d07d834793" /><Relationship Type="http://schemas.openxmlformats.org/officeDocument/2006/relationships/notesMaster" Target="/ppt/notesMasters/notesMaster1.xml" Id="R54b02dbb52824cc5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2199b2ffa7c541fb" /><Relationship Type="http://schemas.openxmlformats.org/officeDocument/2006/relationships/notesMaster" Target="/ppt/notesMasters/notesMaster1.xml" Id="R67eb97011db145ba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2d85fc70612a48e0" /><Relationship Type="http://schemas.openxmlformats.org/officeDocument/2006/relationships/notesMaster" Target="/ppt/notesMasters/notesMaster1.xml" Id="R997da0b2a705400b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37b040feea9f4502" /><Relationship Type="http://schemas.openxmlformats.org/officeDocument/2006/relationships/notesMaster" Target="/ppt/notesMasters/notesMaster1.xml" Id="Rd4b5e04b6a404aca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952429e0b82345dd" /><Relationship Type="http://schemas.openxmlformats.org/officeDocument/2006/relationships/notesMaster" Target="/ppt/notesMasters/notesMaster1.xml" Id="R0ecaf8c196c7445f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bf74caeff62a47b7" /><Relationship Type="http://schemas.openxmlformats.org/officeDocument/2006/relationships/notesMaster" Target="/ppt/notesMasters/notesMaster1.xml" Id="R58dd9bd084ac4ac0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50d47309d7da4a48" /><Relationship Type="http://schemas.openxmlformats.org/officeDocument/2006/relationships/notesMaster" Target="/ppt/notesMasters/notesMaster1.xml" Id="R207af47a42324a8e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9d48319588a44faf" /><Relationship Type="http://schemas.openxmlformats.org/officeDocument/2006/relationships/notesMaster" Target="/ppt/notesMasters/notesMaster1.xml" Id="Rb5731cb83d4f4c0d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5e6276c5893d43dc" /><Relationship Type="http://schemas.openxmlformats.org/officeDocument/2006/relationships/notesMaster" Target="/ppt/notesMasters/notesMaster1.xml" Id="Rb8ff43e45eed4365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97a54c7e74894e95" /><Relationship Type="http://schemas.openxmlformats.org/officeDocument/2006/relationships/notesMaster" Target="/ppt/notesMasters/notesMaster1.xml" Id="R13bb288d02234a9e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2377240f33334d7d" /><Relationship Type="http://schemas.openxmlformats.org/officeDocument/2006/relationships/notesMaster" Target="/ppt/notesMasters/notesMaster1.xml" Id="R55548abec6fd4796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4be0e375ca3d44d0" /><Relationship Type="http://schemas.openxmlformats.org/officeDocument/2006/relationships/notesMaster" Target="/ppt/notesMasters/notesMaster1.xml" Id="R43679063a3824db3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87c796cd3d4e4ac9" /><Relationship Type="http://schemas.openxmlformats.org/officeDocument/2006/relationships/notesMaster" Target="/ppt/notesMasters/notesMaster1.xml" Id="R536d893ca6e54058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88f6b6c433e344a0" /><Relationship Type="http://schemas.openxmlformats.org/officeDocument/2006/relationships/notesMaster" Target="/ppt/notesMasters/notesMaster1.xml" Id="Ref16a8e5c89a42ea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62fb398d02a94dbc" /><Relationship Type="http://schemas.openxmlformats.org/officeDocument/2006/relationships/notesMaster" Target="/ppt/notesMasters/notesMaster1.xml" Id="R9745927fbb9940b7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3c1f63207d794ca5" /><Relationship Type="http://schemas.openxmlformats.org/officeDocument/2006/relationships/notesMaster" Target="/ppt/notesMasters/notesMaster1.xml" Id="R2b5376c403d6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4 outside lanes and 2 inside lanes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74708" indent="-174708" defTabSz="931774">
              <a:spcBef>
                <a:spcPct val="30000"/>
              </a:spcBef>
              <a:spcAft>
                <a:spcPct val="0"/>
              </a:spcAft>
              <a:buFont typeface="Arial"/>
              <a:buChar char="•"/>
            </a:pPr>
            <a:r>
              <a:rPr b="1" baseline="0"/>
              <a:t>Aircraft loading conditions vs majority of labs focus on Highway loading conditions</a:t>
            </a:r>
          </a:p>
          <a:p xmlns:a="http://schemas.openxmlformats.org/drawingml/2006/main">
            <a:pPr marL="174708" indent="-174708">
              <a:buFont typeface="Arial"/>
              <a:buChar char="•"/>
            </a:pPr>
            <a:r>
              <a:t>APA testing 254 psi vs 100</a:t>
            </a:r>
            <a:r>
              <a:rPr baseline="0"/>
              <a:t> psi</a:t>
            </a:r>
          </a:p>
          <a:p xmlns:a="http://schemas.openxmlformats.org/drawingml/2006/main">
            <a:pPr marL="174708" indent="-174708">
              <a:buFont typeface="Arial"/>
              <a:buChar char="•"/>
            </a:pPr>
            <a:r>
              <a:rPr baseline="0"/>
              <a:t>New Test Quip machine for Semi Circular Beam (SCB) testing</a:t>
            </a:r>
          </a:p>
          <a:p xmlns:a="http://schemas.openxmlformats.org/drawingml/2006/main">
            <a:pPr marL="174708" indent="-174708">
              <a:buFont typeface="Arial"/>
              <a:buChar char="•"/>
            </a:pPr>
            <a:r>
              <a:rPr baseline="0"/>
              <a:t>New Bench top for fine grain soil modulus. </a:t>
            </a:r>
          </a:p>
          <a:p xmlns:a="http://schemas.openxmlformats.org/drawingml/2006/main">
            <a:pPr marL="174708" indent="-174708">
              <a:buFont typeface="Arial"/>
              <a:buChar char="•"/>
            </a:pPr>
            <a:r>
              <a:rPr baseline="0"/>
              <a:t>Asphalt beam fatigue aircraft loading conditions</a:t>
            </a:r>
          </a:p>
          <a:p xmlns:a="http://schemas.openxmlformats.org/drawingml/2006/main">
            <a:pPr marL="174708" indent="-174708">
              <a:buFont typeface="Arial"/>
              <a:buChar char="•"/>
            </a:pPr>
            <a:r>
              <a:rPr baseline="0"/>
              <a:t>DCT on overlay-cyclic loading</a:t>
            </a:r>
          </a:p>
          <a:p xmlns:a="http://schemas.openxmlformats.org/drawingml/2006/main">
            <a:pPr marL="174708" indent="-174708">
              <a:buFont typeface="Arial"/>
              <a:buChar char="•"/>
            </a:pPr>
            <a:r>
              <a:rPr baseline="0"/>
              <a:t>SMA,WMA, and RAP mix characterization testing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resize a module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module to new position – grouped tab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module to new position – ungrouped tab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module from a docked tab to collapsible tab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a677c958e41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d518a65b0e468d" /><Relationship Type="http://schemas.openxmlformats.org/officeDocument/2006/relationships/image" Target="/ppt/media/image4.png" Id="R2f08a7989adf4449" /><Relationship Type="http://schemas.openxmlformats.org/officeDocument/2006/relationships/image" Target="/ppt/media/image3.png" Id="R435f0eb0568549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83c7e1d5da4a46" /><Relationship Type="http://schemas.openxmlformats.org/officeDocument/2006/relationships/image" Target="/ppt/media/image3.png" Id="R616f169dddf441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835a455bbc42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ed799a057649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58245fb84b42ec" /></Relationships>
</file>

<file path=ppt/slideLayouts/slideLayout1.xml><?xml version="1.0" encoding="utf-8"?>
<p:sldLayout xmlns:p="http://schemas.openxmlformats.org/presentationml/2006/main" type="obj" preserve="1">
  <p:cSld name="WITHOUT proprietary or copy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11DFCA-0068-480B-9242-D7DBE8EE6D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274AC9-5C00-4681-A34C-B10300BEEB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2DEA9B4-2D1B-4A66-8187-BDFF45BA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715" y="6449786"/>
            <a:ext cx="6337904" cy="4082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preserve="1">
  <p:cSld name="Title Slide">
    <p:bg>
      <p:bgPr>
        <a:solidFill xmlns:a="http://schemas.openxmlformats.org/drawingml/2006/main">
          <a:srgbClr val="1D2F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1078">
            <a:extLst xmlns:a="http://schemas.openxmlformats.org/drawingml/2006/main">
              <a:ext uri="{FF2B5EF4-FFF2-40B4-BE49-F238E27FC236}">
                <a16:creationId xmlns:a16="http://schemas.microsoft.com/office/drawing/2014/main" id="{4D95CBC6-F72B-4ECA-9653-D72C755B58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8a7989adf44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4901" y="0"/>
            <a:ext cx="47371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Text Box 1071">
            <a:extLst xmlns:a="http://schemas.openxmlformats.org/drawingml/2006/main">
              <a:ext uri="{FF2B5EF4-FFF2-40B4-BE49-F238E27FC236}">
                <a16:creationId xmlns:a16="http://schemas.microsoft.com/office/drawing/2014/main" id="{C7DB11A2-5EA2-41ED-9E01-C7436934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122" y="661594"/>
            <a:ext cx="1962150" cy="732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sz="1350"/>
            </a:defPPr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85000"/>
              </a:lnSpc>
              <a:buNone/>
            </a:pPr>
            <a:r>
              <a:rPr sz="1350" b="1">
                <a:solidFill>
                  <a:schemeClr val="bg1"/>
                </a:solidFill>
              </a:rPr>
              <a:t>Technical source</a:t>
            </a:r>
          </a:p>
          <a:p xmlns:a="http://schemas.openxmlformats.org/drawingml/2006/main">
            <a:pPr>
              <a:lnSpc>
                <a:spcPct val="85000"/>
              </a:lnSpc>
              <a:buNone/>
            </a:pPr>
            <a:r>
              <a:rPr sz="1350" b="1">
                <a:solidFill>
                  <a:schemeClr val="bg1"/>
                </a:solidFill>
              </a:rPr>
              <a:t>FAA / ARA</a:t>
            </a:r>
          </a:p>
        </p:txBody>
      </p:sp>
      <p:sp>
        <p:nvSpPr>
          <p:cNvPr id="63490" name="Rectangle 1026">
            <a:extLst xmlns:a="http://schemas.openxmlformats.org/drawingml/2006/main">
              <a:ext uri="{FF2B5EF4-FFF2-40B4-BE49-F238E27FC236}">
                <a16:creationId xmlns:a16="http://schemas.microsoft.com/office/drawing/2014/main" id="{A6E63BBB-8B09-4F61-86D7-06F56272FE7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94784" y="312738"/>
            <a:ext cx="6644216" cy="1395412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63491" name="Rectangle 1027">
            <a:extLst xmlns:a="http://schemas.openxmlformats.org/drawingml/2006/main">
              <a:ext uri="{FF2B5EF4-FFF2-40B4-BE49-F238E27FC236}">
                <a16:creationId xmlns:a16="http://schemas.microsoft.com/office/drawing/2014/main" id="{60C141D7-4F41-4265-BDCB-F05EE46EEEF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94784" y="4548663"/>
            <a:ext cx="6601883" cy="175260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FontTx/>
              <a:buNone/>
              <a:defRPr sz="3200">
                <a:solidFill>
                  <a:schemeClr val="bg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Select to edit master subtitle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2B63DA46-E680-483F-99A1-63A66180A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f0eb0568549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4693" y="205472"/>
            <a:ext cx="1534148" cy="150267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1F7AFB2-4592-434C-81AB-81A30B15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676"/>
            <a:ext cx="12192000" cy="81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68"/>
          </a:solidFill>
          <a:ln xmlns:a="http://schemas.openxmlformats.org/drawingml/2006/main" w="9525">
            <a:solidFill>
              <a:srgbClr val="1D2F68"/>
            </a:solidFill>
            <a:miter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FontTx/>
              <a:buChar char="•"/>
            </a:pPr>
            <a:endParaRPr sz="2400"/>
          </a:p>
        </p:txBody>
      </p:sp>
      <p:sp>
        <p:nvSpPr>
          <p:cNvPr id="5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3A0E160-5A49-4C74-B50D-5F926843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067" y="6305550"/>
            <a:ext cx="254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endParaRPr sz="1200" b="1">
              <a:solidFill>
                <a:schemeClr val="bg1"/>
              </a:solidFill>
            </a:endParaRPr>
          </a:p>
        </p:txBody>
      </p:sp>
      <p:sp>
        <p:nvSpPr>
          <p:cNvPr id="9" name="Text Box 29">
            <a:extLst xmlns:a="http://schemas.openxmlformats.org/drawingml/2006/main">
              <a:ext uri="{FF2B5EF4-FFF2-40B4-BE49-F238E27FC236}">
                <a16:creationId xmlns:a16="http://schemas.microsoft.com/office/drawing/2014/main" id="{8D6DB40C-E837-49A6-AA87-512EEC7C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18" y="6205539"/>
            <a:ext cx="6379633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defPPr>
              <a:defRPr sz="1050"/>
            </a:defPPr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1050" b="1">
                <a:solidFill>
                  <a:srgbClr val="C0C0C0"/>
                </a:solidFill>
              </a:rPr>
              <a:t>AIRPORT FWD DATA ANALYZER</a:t>
            </a:r>
            <a:endParaRPr sz="1200">
              <a:solidFill>
                <a:srgbClr val="C0C0C0"/>
              </a:solidFill>
            </a:endParaRPr>
          </a:p>
        </p:txBody>
      </p:sp>
      <p:sp>
        <p:nvSpPr>
          <p:cNvPr id="10" name="Text Box 30">
            <a:extLst xmlns:a="http://schemas.openxmlformats.org/drawingml/2006/main">
              <a:ext uri="{FF2B5EF4-FFF2-40B4-BE49-F238E27FC236}">
                <a16:creationId xmlns:a16="http://schemas.microsoft.com/office/drawing/2014/main" id="{5518BD18-FF53-4881-B3B0-40085B6F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33" y="6384925"/>
            <a:ext cx="4986867" cy="274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defPPr>
              <a:defRPr sz="825"/>
            </a:defPPr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825">
                <a:solidFill>
                  <a:srgbClr val="C0C0C0"/>
                </a:solidFill>
              </a:rPr>
              <a:t>© 2026 Sahil Yadav • skonetechsupport@gmail.com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77C4F78-5551-4D11-ABCF-B10E7598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237288"/>
            <a:ext cx="2540000" cy="39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A0750043-75C6-4876-A209-E538C47394FF}" type="slidenum">
              <a:rPr sz="1200">
                <a:solidFill>
                  <a:schemeClr val="bg1"/>
                </a:solidFill>
              </a:rPr>
              <a:t>‹#›</a:t>
            </a:fld>
            <a:endParaRPr sz="2400">
              <a:solidFill>
                <a:schemeClr val="bg1"/>
              </a:solidFill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C3ED2F-01F2-4D51-9C29-2381C78D1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731021-4785-4250-91EE-9A85530F46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76024005-B385-45A5-A584-319700F1A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f169dddf441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41043" y="6061966"/>
            <a:ext cx="779378" cy="763391"/>
          </a:xfrm>
          <a:prstGeom xmlns:a="http://schemas.openxmlformats.org/drawingml/2006/main" prst="rect">
            <a:avLst/>
          </a:prstGeom>
        </p:spPr>
      </p:pic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C433BB-89A6-481D-89BB-C8A570FD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232" y="6212830"/>
            <a:ext cx="161127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900"/>
            </a:defPPr>
          </a:lstStyle>
          <a:p xmlns:a="http://schemas.openxmlformats.org/drawingml/2006/main">
            <a:r>
              <a:rPr sz="900" b="1">
                <a:solidFill>
                  <a:schemeClr val="bg1"/>
                </a:solidFill>
              </a:rPr>
              <a:t>Technical source: FAA / ARA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67B330-1628-46D6-A49F-B3A3872F8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8800" y="315913"/>
            <a:ext cx="11296651" cy="60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B37447-4E0F-4AC0-A98F-B5507574EB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0400" y="1508126"/>
            <a:ext cx="5264151" cy="43910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E94CB2F-C895-4550-93D1-F4BB69A074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27751" y="1508126"/>
            <a:ext cx="5266267" cy="43910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32ECC9-21D8-4508-B706-E898E9C80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250C9E4-9193-46F2-A737-ED3FC58A36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March 1, 2021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0EE29E-3CB1-4220-9144-7CAE337E64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31A6E89-6360-4E22-B4BC-D29F3B6531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F1F6FF14-FC6A-41B6-B2DC-884C6B7C3F2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3beab6029d2402e" /><Relationship Type="http://schemas.openxmlformats.org/officeDocument/2006/relationships/image" Target="/ppt/media/image2.png" Id="Ra9b61eb7ebd64c7a" /><Relationship Type="http://schemas.openxmlformats.org/officeDocument/2006/relationships/theme" Target="/ppt/slideMasters/theme/theme2.xml" Id="R61732ca27066436b" /><Relationship Type="http://schemas.openxmlformats.org/officeDocument/2006/relationships/slideLayout" Target="/ppt/slideLayouts/slideLayout1.xml" Id="R1bc457fd6c924ae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3.png" Id="Rc3477710e1c54dab" /><Relationship Type="http://schemas.openxmlformats.org/officeDocument/2006/relationships/theme" Target="/ppt/slideMasters/theme/theme3.xml" Id="R27ea1fc42d2941d7" /><Relationship Type="http://schemas.openxmlformats.org/officeDocument/2006/relationships/slideLayout" Target="/ppt/slideLayouts/slideLayout2.xml" Id="R5e294bf63ab04d78" /><Relationship Type="http://schemas.openxmlformats.org/officeDocument/2006/relationships/slideLayout" Target="/ppt/slideLayouts/slideLayout3.xml" Id="R62e9181569d64586" /><Relationship Type="http://schemas.openxmlformats.org/officeDocument/2006/relationships/slideLayout" Target="/ppt/slideLayouts/slideLayout4.xml" Id="R0a06bd9f124244e5" /><Relationship Type="http://schemas.openxmlformats.org/officeDocument/2006/relationships/slideLayout" Target="/ppt/slideLayouts/slideLayout5.xml" Id="R92a87f7eec3a42ef" /><Relationship Type="http://schemas.openxmlformats.org/officeDocument/2006/relationships/slideLayout" Target="/ppt/slideLayouts/slideLayout6.xml" Id="Ra9129f5624fd4d6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98F4EA6-4A66-4F5F-AB8A-4566C49C1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800" y="442667"/>
            <a:ext cx="11582400" cy="80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8BD748-30EC-4042-BF1B-B243869421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7219" y="1306286"/>
            <a:ext cx="11582400" cy="485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6BB1F647-AC24-4DD2-B9C0-5AE2BEC8F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eab6029d240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402336"/>
          </a:xfrm>
          <a:prstGeom xmlns:a="http://schemas.openxmlformats.org/drawingml/2006/main" prst="rect">
            <a:avLst/>
          </a:prstGeom>
        </p:spPr>
      </p:pic>
      <p:sp>
        <p:nvSpPr>
          <p:cNvPr id="8" name="TextBox 10">
            <a:extLst xmlns:a="http://schemas.openxmlformats.org/drawingml/2006/main">
              <a:ext uri="{FF2B5EF4-FFF2-40B4-BE49-F238E27FC236}">
                <a16:creationId xmlns:a16="http://schemas.microsoft.com/office/drawing/2014/main" id="{140D6C6D-97BF-492C-9593-0330C29A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71" y="6579854"/>
            <a:ext cx="2082800" cy="246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000" b="1">
                <a:solidFill>
                  <a:schemeClr val="bg2"/>
                </a:solidFill>
              </a:rPr>
              <a:t>www.ara.com</a:t>
            </a:r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6BBEBC79-0FFE-40A6-9F3B-C343F17699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61eb7ebd64c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906" y="6304326"/>
            <a:ext cx="1458788" cy="388402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6F60FA4-7039-42EB-ACC7-59DFCA83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9" y="71048"/>
            <a:ext cx="5577208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 b="1" spc="0">
                <a:solidFill>
                  <a:schemeClr val="bg1"/>
                </a:solidFill>
              </a:rPr>
              <a:t>SOLVING</a:t>
            </a:r>
            <a:r>
              <a:rPr sz="1000" b="1" spc="0" baseline="0">
                <a:solidFill>
                  <a:schemeClr val="bg1"/>
                </a:solidFill>
              </a:rPr>
              <a:t> PROBLEMS OF GLOBAL IMPORTANCE</a:t>
            </a:r>
            <a:endParaRPr sz="1000" b="1" spc="0">
              <a:solidFill>
                <a:schemeClr val="bg1"/>
              </a:solidFill>
            </a:endParaRPr>
          </a:p>
        </p:txBody>
      </p:sp>
      <p:sp>
        <p:nvSpPr>
          <p:cNvPr id="11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E1428AE-D668-461E-B7D0-8F9E5452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805" y="6583654"/>
            <a:ext cx="4047195" cy="20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0090CB"/>
                </a:solidFill>
              </a:rPr>
              <a:t>© 2015 Applied Research Associates, Inc</a:t>
            </a:r>
            <a:r>
              <a:rPr sz="800" i="1">
                <a:solidFill>
                  <a:srgbClr val="0090CB"/>
                </a:solidFill>
              </a:rPr>
              <a:t>.  ARA Proprietary</a:t>
            </a:r>
          </a:p>
        </p:txBody>
      </p:sp>
      <p:sp>
        <p:nvSpPr>
          <p:cNvPr id="12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BEC0FEF-2830-4E99-B3E1-99A37F53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1517" y="6536749"/>
            <a:ext cx="490483" cy="31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</a:pPr>
            <a:fld id="{F0772937-DAE7-445B-8489-980DDEB8A66D}" type="slidenum">
              <a:rPr sz="1000">
                <a:solidFill>
                  <a:schemeClr val="bg2"/>
                </a:solidFill>
              </a:rPr>
              <a:t>‹#›</a:t>
            </a:fld>
            <a:endParaRPr sz="1000">
              <a:solidFill>
                <a:schemeClr val="bg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c457fd6c924ae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lnSpc>
          <a:spcPct val="90000"/>
        </a:lnSpc>
        <a:spcBef>
          <a:spcPts val="1000"/>
        </a:spcBef>
        <a:buClr>
          <a:schemeClr val="bg1"/>
        </a:buClr>
        <a:buSzPct val="75000"/>
        <a:buFont typeface="Arial"/>
        <a:buChar char="•"/>
        <a:defRPr sz="2000" b="1" kern="1200">
          <a:solidFill>
            <a:schemeClr val="bg2"/>
          </a:solidFill>
          <a:latin typeface="+mn-lt"/>
          <a:ea typeface="+mn-lt"/>
          <a:cs typeface="+mn-lt"/>
        </a:defRPr>
      </a:lvl1pPr>
      <a:lvl2pPr xmlns:a="http://schemas.openxmlformats.org/drawingml/2006/main" marL="411480" indent="-228600" algn="l" defTabSz="914400">
        <a:lnSpc>
          <a:spcPct val="90000"/>
        </a:lnSpc>
        <a:spcBef>
          <a:spcPts val="600"/>
        </a:spcBef>
        <a:buClr>
          <a:schemeClr val="accent2"/>
        </a:buClr>
        <a:buSzPct val="100000"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Clr>
          <a:schemeClr val="accent2"/>
        </a:buClr>
        <a:buSzPct val="100000"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960120" indent="-228600" algn="l" defTabSz="914400">
        <a:lnSpc>
          <a:spcPct val="90000"/>
        </a:lnSpc>
        <a:spcBef>
          <a:spcPts val="500"/>
        </a:spcBef>
        <a:buClr>
          <a:schemeClr val="accent2"/>
        </a:buClr>
        <a:buSzPct val="100000"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234440" indent="-228600" algn="l" defTabSz="914400">
        <a:lnSpc>
          <a:spcPct val="90000"/>
        </a:lnSpc>
        <a:spcBef>
          <a:spcPts val="500"/>
        </a:spcBef>
        <a:buClr>
          <a:schemeClr val="accent2"/>
        </a:buClr>
        <a:buSzPct val="100000"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BEE29A9-264C-484D-B261-49B569033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344488"/>
            <a:ext cx="1129665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Select To Edit Master Title</a:t>
            </a:r>
          </a:p>
        </p:txBody>
      </p:sp>
      <p:sp>
        <p:nvSpPr>
          <p:cNvPr id="102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62DFAEB-9938-45CF-A1EA-2289B51DDD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0401" y="1543051"/>
            <a:ext cx="10733617" cy="439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Select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632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E304DC-5C96-4D11-856E-4BAB9B9E76E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914400" y="6248400"/>
            <a:ext cx="254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spcBef>
                <a:spcPct val="0"/>
              </a:spcBef>
              <a:buFontTx/>
              <a:buNone/>
              <a:defRPr sz="1400"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633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235043E-3E06-488E-926C-F66731A3CE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8400"/>
            <a:ext cx="386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spcBef>
                <a:spcPct val="0"/>
              </a:spcBef>
              <a:buFontTx/>
              <a:buNone/>
              <a:defRPr sz="1400"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633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40B4D94-7978-4C5B-BAA0-9CA33A3168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8400"/>
            <a:ext cx="254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spcBef>
                <a:spcPct val="0"/>
              </a:spcBef>
              <a:buFontTx/>
              <a:buNone/>
              <a:defRPr sz="1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>
              <a:buNone/>
            </a:pPr>
            <a:fld id="{2B350480-0737-44CE-9B05-EA6A8FD64BC5}" type="slidenum">
              <a:t>‹#›</a:t>
            </a:fld>
            <a:endParaRPr/>
          </a:p>
        </p:txBody>
      </p:sp>
      <p:sp>
        <p:nvSpPr>
          <p:cNvPr id="1031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0E10A71-B952-411D-B381-E51DAD37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676"/>
            <a:ext cx="12192000" cy="81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68"/>
          </a:solidFill>
          <a:ln xmlns:a="http://schemas.openxmlformats.org/drawingml/2006/main" w="9525">
            <a:solidFill>
              <a:srgbClr val="1D2F68"/>
            </a:solidFill>
            <a:miter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FontTx/>
              <a:buChar char="•"/>
            </a:pPr>
            <a:endParaRPr sz="2400"/>
          </a:p>
        </p:txBody>
      </p:sp>
      <p:sp>
        <p:nvSpPr>
          <p:cNvPr id="103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B3D434C-B963-45C9-AB70-B183DC00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067" y="6305550"/>
            <a:ext cx="254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endParaRPr sz="1200" b="1">
              <a:solidFill>
                <a:schemeClr val="bg1"/>
              </a:solidFill>
            </a:endParaRPr>
          </a:p>
        </p:txBody>
      </p:sp>
      <p:sp>
        <p:nvSpPr>
          <p:cNvPr id="1034" name="Text Box 29">
            <a:extLst xmlns:a="http://schemas.openxmlformats.org/drawingml/2006/main">
              <a:ext uri="{FF2B5EF4-FFF2-40B4-BE49-F238E27FC236}">
                <a16:creationId xmlns:a16="http://schemas.microsoft.com/office/drawing/2014/main" id="{FB86DAD7-8AA7-4F70-90B0-3F120C49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18" y="6205539"/>
            <a:ext cx="6379633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defPPr>
              <a:defRPr sz="1050"/>
            </a:defPPr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1050" b="1">
                <a:solidFill>
                  <a:srgbClr val="C0C0C0"/>
                </a:solidFill>
              </a:rPr>
              <a:t>AIRPORT FWD DATA ANALYZER</a:t>
            </a:r>
            <a:endParaRPr sz="1200">
              <a:solidFill>
                <a:srgbClr val="C0C0C0"/>
              </a:solidFill>
            </a:endParaRPr>
          </a:p>
        </p:txBody>
      </p:sp>
      <p:sp>
        <p:nvSpPr>
          <p:cNvPr id="1035" name="Text Box 30">
            <a:extLst xmlns:a="http://schemas.openxmlformats.org/drawingml/2006/main">
              <a:ext uri="{FF2B5EF4-FFF2-40B4-BE49-F238E27FC236}">
                <a16:creationId xmlns:a16="http://schemas.microsoft.com/office/drawing/2014/main" id="{7AB6855D-4E79-42A7-8A5E-2C4A3F5E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33" y="6384925"/>
            <a:ext cx="4986867" cy="274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defPPr>
              <a:defRPr sz="825"/>
            </a:defPPr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825">
                <a:solidFill>
                  <a:srgbClr val="C0C0C0"/>
                </a:solidFill>
              </a:rPr>
              <a:t>© 2026 Sahil Yadav • skonetechsupport@gmail.com</a:t>
            </a:r>
          </a:p>
        </p:txBody>
      </p:sp>
      <p:sp>
        <p:nvSpPr>
          <p:cNvPr id="15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058388F-0B8B-4FA5-9869-A54CD8B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237288"/>
            <a:ext cx="2540000" cy="39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0344FC10-AEC7-41F2-830D-25E76A6EB108}" type="slidenum">
              <a:rPr sz="1200">
                <a:solidFill>
                  <a:schemeClr val="bg1"/>
                </a:solidFill>
              </a:rPr>
              <a:t>‹#›</a:t>
            </a:fld>
            <a:endParaRPr sz="240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7BE1D453-DD56-4526-9EEC-28A913AEC1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77710e1c54d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41043" y="6061966"/>
            <a:ext cx="779378" cy="763391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89A75E4-EAA6-4569-9529-F425265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232" y="6212830"/>
            <a:ext cx="161127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900"/>
            </a:defPPr>
          </a:lstStyle>
          <a:p xmlns:a="http://schemas.openxmlformats.org/drawingml/2006/main">
            <a:r>
              <a:rPr sz="900" b="1">
                <a:solidFill>
                  <a:schemeClr val="bg1"/>
                </a:solidFill>
              </a:rPr>
              <a:t>Technical source: FAA / ARA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e294bf63ab04d78"/>
    <p:sldLayoutId xmlns:r="http://schemas.openxmlformats.org/officeDocument/2006/relationships" id="2147483652" r:id="R62e9181569d64586"/>
    <p:sldLayoutId xmlns:r="http://schemas.openxmlformats.org/officeDocument/2006/relationships" id="2147483653" r:id="R0a06bd9f124244e5"/>
    <p:sldLayoutId xmlns:r="http://schemas.openxmlformats.org/officeDocument/2006/relationships" id="2147483654" r:id="R92a87f7eec3a42ef"/>
    <p:sldLayoutId xmlns:r="http://schemas.openxmlformats.org/officeDocument/2006/relationships" id="2147483655" r:id="Ra9129f5624fd4d68"/>
  </p:sldLayoutIdLst>
  <p:txStyles>
    <p:titleStyle>
      <a:lvl1pPr xmlns:a="http://schemas.openxmlformats.org/drawingml/2006/main" algn="l">
        <a:spcBef>
          <a:spcPct val="0"/>
        </a:spcBef>
        <a:spcAft>
          <a:spcPct val="0"/>
        </a:spcAft>
        <a:buNone/>
        <a:defRPr sz="4000" b="1">
          <a:solidFill>
            <a:srgbClr val="1D2F68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ct val="0"/>
        </a:spcBef>
        <a:spcAft>
          <a:spcPct val="0"/>
        </a:spcAft>
        <a:buNone/>
        <a:defRPr sz="4000" b="1">
          <a:solidFill>
            <a:srgbClr val="1D2F68"/>
          </a:solidFill>
          <a:latin typeface="Arial"/>
          <a:ea typeface="Arial"/>
          <a:cs typeface="Arial"/>
        </a:defRPr>
      </a:lvl2pPr>
      <a:lvl3pPr xmlns:a="http://schemas.openxmlformats.org/drawingml/2006/main" algn="l">
        <a:spcBef>
          <a:spcPct val="0"/>
        </a:spcBef>
        <a:spcAft>
          <a:spcPct val="0"/>
        </a:spcAft>
        <a:buNone/>
        <a:defRPr sz="4000" b="1">
          <a:solidFill>
            <a:srgbClr val="1D2F68"/>
          </a:solidFill>
          <a:latin typeface="Arial"/>
          <a:ea typeface="Arial"/>
          <a:cs typeface="Arial"/>
        </a:defRPr>
      </a:lvl3pPr>
      <a:lvl4pPr xmlns:a="http://schemas.openxmlformats.org/drawingml/2006/main" algn="l">
        <a:spcBef>
          <a:spcPct val="0"/>
        </a:spcBef>
        <a:spcAft>
          <a:spcPct val="0"/>
        </a:spcAft>
        <a:buNone/>
        <a:defRPr sz="4000" b="1">
          <a:solidFill>
            <a:srgbClr val="1D2F68"/>
          </a:solidFill>
          <a:latin typeface="Arial"/>
          <a:ea typeface="Arial"/>
          <a:cs typeface="Arial"/>
        </a:defRPr>
      </a:lvl4pPr>
      <a:lvl5pPr xmlns:a="http://schemas.openxmlformats.org/drawingml/2006/main" algn="l">
        <a:spcBef>
          <a:spcPct val="0"/>
        </a:spcBef>
        <a:spcAft>
          <a:spcPct val="0"/>
        </a:spcAft>
        <a:buNone/>
        <a:defRPr sz="4000" b="1">
          <a:solidFill>
            <a:srgbClr val="1D2F68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4000" b="1">
          <a:solidFill>
            <a:srgbClr val="1D2F68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4000" b="1">
          <a:solidFill>
            <a:srgbClr val="1D2F68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4000" b="1">
          <a:solidFill>
            <a:srgbClr val="1D2F68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4000" b="1">
          <a:solidFill>
            <a:srgbClr val="1D2F68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ustom Design">
  <a:themeElements>
    <a:clrScheme name="ARA NEW">
      <a:dk1>
        <a:srgbClr val="003E7E"/>
      </a:dk1>
      <a:lt1>
        <a:srgbClr val="FFFFFF"/>
      </a:lt1>
      <a:dk2>
        <a:srgbClr val="00133A"/>
      </a:dk2>
      <a:lt2>
        <a:srgbClr val="0090CB"/>
      </a:lt2>
      <a:accent1>
        <a:srgbClr val="003E7E"/>
      </a:accent1>
      <a:accent2>
        <a:srgbClr val="F15632"/>
      </a:accent2>
      <a:accent3>
        <a:srgbClr val="D2DE31"/>
      </a:accent3>
      <a:accent4>
        <a:srgbClr val="B1C0C9"/>
      </a:accent4>
      <a:accent5>
        <a:srgbClr val="2CBAF6"/>
      </a:accent5>
      <a:accent6>
        <a:srgbClr val="CBD5DF"/>
      </a:accent6>
      <a:hlink>
        <a:srgbClr val="22CBF2"/>
      </a:hlink>
      <a:folHlink>
        <a:srgbClr val="B1C0C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RA NEW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satMod val="180000"/>
                <a:alpha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satMod val="180000"/>
                <a:alpha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5240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Theme1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1_Custom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36aa192380434a" /><Relationship Type="http://schemas.openxmlformats.org/officeDocument/2006/relationships/image" Target="/ppt/media/image5.png" Id="R3eda5b62ac5f45dc" /><Relationship Type="http://schemas.openxmlformats.org/officeDocument/2006/relationships/notesSlide" Target="/ppt/notesSlides/notesSlide1.xml" Id="Rc31df1966ad640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2fc76996ff4125" /><Relationship Type="http://schemas.openxmlformats.org/officeDocument/2006/relationships/notesSlide" Target="/ppt/notesSlides/notesSlide2.xml" Id="Red7ae3546d114d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5acd58c150467d" /><Relationship Type="http://schemas.openxmlformats.org/officeDocument/2006/relationships/notesSlide" Target="/ppt/notesSlides/notesSlide3.xml" Id="Rde96629390f645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abdd3cef841e7" /><Relationship Type="http://schemas.openxmlformats.org/officeDocument/2006/relationships/image" Target="/ppt/media/image3.png" Id="R7851383bc8664b53" /><Relationship Type="http://schemas.openxmlformats.org/officeDocument/2006/relationships/notesSlide" Target="/ppt/notesSlides/notesSlide4.xml" Id="R47d548cef27544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c5fb4691fc4c4d" /><Relationship Type="http://schemas.openxmlformats.org/officeDocument/2006/relationships/image" Target="/ppt/media/image6.png" Id="R6257c66376b5464e" /><Relationship Type="http://schemas.openxmlformats.org/officeDocument/2006/relationships/notesSlide" Target="/ppt/notesSlides/notesSlide5.xml" Id="R74f333daff694e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f90a8b4c974a8a" /><Relationship Type="http://schemas.openxmlformats.org/officeDocument/2006/relationships/image" Target="/ppt/media/image7.png" Id="Rb559ffffe56d40eb" /><Relationship Type="http://schemas.openxmlformats.org/officeDocument/2006/relationships/image" Target="/ppt/media/image8.png" Id="Rd4b8113ffc94499a" /><Relationship Type="http://schemas.openxmlformats.org/officeDocument/2006/relationships/image" Target="/ppt/media/image9.png" Id="Rc34c54d08fe64240" /><Relationship Type="http://schemas.openxmlformats.org/officeDocument/2006/relationships/notesSlide" Target="/ppt/notesSlides/notesSlide6.xml" Id="Rd088b08d785b4e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41f32a53e64067" /><Relationship Type="http://schemas.openxmlformats.org/officeDocument/2006/relationships/image" Target="/ppt/media/image10.png" Id="R79f50c0cbe764562" /><Relationship Type="http://schemas.openxmlformats.org/officeDocument/2006/relationships/notesSlide" Target="/ppt/notesSlides/notesSlide7.xml" Id="Rbb7f37b1b9cf40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f4b92434524f00" /><Relationship Type="http://schemas.openxmlformats.org/officeDocument/2006/relationships/image" Target="/ppt/media/image.jpeg" Id="Rfbbe3fe9b89b4d8d" /><Relationship Type="http://schemas.openxmlformats.org/officeDocument/2006/relationships/image" Target="/ppt/media/image2.jpeg" Id="Raede1ef9da8a4d66" /><Relationship Type="http://schemas.openxmlformats.org/officeDocument/2006/relationships/notesSlide" Target="/ppt/notesSlides/notesSlide8.xml" Id="Ra27d6988a14f46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8d68f7c49f646be" /><Relationship Type="http://schemas.openxmlformats.org/officeDocument/2006/relationships/image" Target="/ppt/media/image11.png" Id="Rf19d124514574053" /><Relationship Type="http://schemas.openxmlformats.org/officeDocument/2006/relationships/notesSlide" Target="/ppt/notesSlides/notesSlide9.xml" Id="Re8fa28ffe82c4f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71609f825a42df" /><Relationship Type="http://schemas.openxmlformats.org/officeDocument/2006/relationships/image" Target="/ppt/media/image12.png" Id="R0e6facbf5a224941" /><Relationship Type="http://schemas.openxmlformats.org/officeDocument/2006/relationships/image" Target="/ppt/media/image3.jpeg" Id="R3e89d0c470c541e4" /><Relationship Type="http://schemas.openxmlformats.org/officeDocument/2006/relationships/image" Target="/ppt/media/image4.jpeg" Id="R8cb2d1786ae24892" /><Relationship Type="http://schemas.openxmlformats.org/officeDocument/2006/relationships/image" Target="/ppt/media/image13.png" Id="R0ffb9fec774c43e2" /><Relationship Type="http://schemas.openxmlformats.org/officeDocument/2006/relationships/image" Target="/ppt/media/image5.jpeg" Id="R1b6d25f429cd4048" /><Relationship Type="http://schemas.openxmlformats.org/officeDocument/2006/relationships/image" Target="/ppt/media/image14.png" Id="R82395b373e1b4821" /><Relationship Type="http://schemas.openxmlformats.org/officeDocument/2006/relationships/notesSlide" Target="/ppt/notesSlides/notesSlide10.xml" Id="R2b84b0aee4b545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6a9fd376b84de1" /><Relationship Type="http://schemas.openxmlformats.org/officeDocument/2006/relationships/notesSlide" Target="/ppt/notesSlides/notesSlide11.xml" Id="R7e21246da3ff43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2b2b089f09c40a0" /><Relationship Type="http://schemas.openxmlformats.org/officeDocument/2006/relationships/image" Target="/ppt/media/image15.png" Id="R6d81f7f776184cbe" /><Relationship Type="http://schemas.openxmlformats.org/officeDocument/2006/relationships/notesSlide" Target="/ppt/notesSlides/notesSlide12.xml" Id="R276d601650dd48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7c2e54844843ab" /><Relationship Type="http://schemas.openxmlformats.org/officeDocument/2006/relationships/notesSlide" Target="/ppt/notesSlides/notesSlide13.xml" Id="Re4cd678c2c954f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0346e43ba8442d" /><Relationship Type="http://schemas.openxmlformats.org/officeDocument/2006/relationships/notesSlide" Target="/ppt/notesSlides/notesSlide14.xml" Id="Ra711a3758d794d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19d1d188ff34c8b" /><Relationship Type="http://schemas.openxmlformats.org/officeDocument/2006/relationships/notesSlide" Target="/ppt/notesSlides/notesSlide15.xml" Id="R98a18622f7f24c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ffed7cbe9c46fb" /><Relationship Type="http://schemas.openxmlformats.org/officeDocument/2006/relationships/notesSlide" Target="/ppt/notesSlides/notesSlide16.xml" Id="R7dd8987f1e2b41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b0d1b9ad6c437d" /><Relationship Type="http://schemas.openxmlformats.org/officeDocument/2006/relationships/image" Target="/ppt/media/image16.png" Id="Ra6fff4e7cf264d3f" /><Relationship Type="http://schemas.openxmlformats.org/officeDocument/2006/relationships/notesSlide" Target="/ppt/notesSlides/notesSlide17.xml" Id="Rc45b430d32ce4b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293d6ef4ef42ca" /><Relationship Type="http://schemas.openxmlformats.org/officeDocument/2006/relationships/image" Target="/ppt/media/image17.png" Id="Rf47fda6c839a4dfc" /><Relationship Type="http://schemas.openxmlformats.org/officeDocument/2006/relationships/notesSlide" Target="/ppt/notesSlides/notesSlide18.xml" Id="R566a6875b43040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215365551024d56" /><Relationship Type="http://schemas.openxmlformats.org/officeDocument/2006/relationships/image" Target="/ppt/media/image18.png" Id="R1ce661b25d144df8" /><Relationship Type="http://schemas.openxmlformats.org/officeDocument/2006/relationships/notesSlide" Target="/ppt/notesSlides/notesSlide19.xml" Id="R1f100ef54fad4d3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ccb8e0378847db" /><Relationship Type="http://schemas.openxmlformats.org/officeDocument/2006/relationships/image" Target="/ppt/media/image19.png" Id="R8a63b54b6b234583" /><Relationship Type="http://schemas.openxmlformats.org/officeDocument/2006/relationships/notesSlide" Target="/ppt/notesSlides/notesSlide20.xml" Id="R147894ef1ce345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80eb05804f46eb" /><Relationship Type="http://schemas.openxmlformats.org/officeDocument/2006/relationships/image" Target="/ppt/media/image20.png" Id="R0bb43ba43f284eb0" /><Relationship Type="http://schemas.openxmlformats.org/officeDocument/2006/relationships/notesSlide" Target="/ppt/notesSlides/notesSlide21.xml" Id="Red561754d155453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b7c490ce6a4d4a" /><Relationship Type="http://schemas.openxmlformats.org/officeDocument/2006/relationships/image" Target="/ppt/media/image21.png" Id="R14ed655b76e8425b" /><Relationship Type="http://schemas.openxmlformats.org/officeDocument/2006/relationships/image" Target="/ppt/media/image22.png" Id="R7e2d0f15fead486a" /><Relationship Type="http://schemas.openxmlformats.org/officeDocument/2006/relationships/notesSlide" Target="/ppt/notesSlides/notesSlide22.xml" Id="R31a7f9ca50e34b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6e6e8be3a9a41b5" /><Relationship Type="http://schemas.openxmlformats.org/officeDocument/2006/relationships/notesSlide" Target="/ppt/notesSlides/notesSlide23.xml" Id="Rdce640028c4b4b9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2b8682ffd44b4c" /><Relationship Type="http://schemas.openxmlformats.org/officeDocument/2006/relationships/image" Target="/ppt/media/image23.png" Id="R2b8e625c67034214" /><Relationship Type="http://schemas.openxmlformats.org/officeDocument/2006/relationships/notesSlide" Target="/ppt/notesSlides/notesSlide24.xml" Id="R3d242a4914374c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5eeac02efc84363" /><Relationship Type="http://schemas.openxmlformats.org/officeDocument/2006/relationships/image" Target="/ppt/media/image24.png" Id="Rf72ac34caf9b4a54" /><Relationship Type="http://schemas.openxmlformats.org/officeDocument/2006/relationships/notesSlide" Target="/ppt/notesSlides/notesSlide25.xml" Id="Rb32bb0910648454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0bb00d947a4194" /><Relationship Type="http://schemas.openxmlformats.org/officeDocument/2006/relationships/image" Target="/ppt/media/image25.png" Id="R560fe64a97ac4e8a" /><Relationship Type="http://schemas.openxmlformats.org/officeDocument/2006/relationships/image" Target="/ppt/media/image26.png" Id="R3fd9851a776b4349" /><Relationship Type="http://schemas.openxmlformats.org/officeDocument/2006/relationships/notesSlide" Target="/ppt/notesSlides/notesSlide26.xml" Id="Rb00c1e8b63764e0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721b313d124224" /><Relationship Type="http://schemas.openxmlformats.org/officeDocument/2006/relationships/image" Target="/ppt/media/image27.png" Id="R6c824f1153084572" /><Relationship Type="http://schemas.openxmlformats.org/officeDocument/2006/relationships/notesSlide" Target="/ppt/notesSlides/notesSlide27.xml" Id="R5e959dde550345a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94426920dd4bd7" /><Relationship Type="http://schemas.openxmlformats.org/officeDocument/2006/relationships/notesSlide" Target="/ppt/notesSlides/notesSlide28.xml" Id="Rc22b804b1aad43a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a2d18bde654c13" /><Relationship Type="http://schemas.openxmlformats.org/officeDocument/2006/relationships/image" Target="/ppt/media/image28.png" Id="R5cb39a44d5a2443d" /><Relationship Type="http://schemas.openxmlformats.org/officeDocument/2006/relationships/notesSlide" Target="/ppt/notesSlides/notesSlide29.xml" Id="R5b0e5c3d6cdc4de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fa2e7fac43453f" /><Relationship Type="http://schemas.openxmlformats.org/officeDocument/2006/relationships/image" Target="/ppt/media/image28.png" Id="R67646fa649974119" /><Relationship Type="http://schemas.openxmlformats.org/officeDocument/2006/relationships/notesSlide" Target="/ppt/notesSlides/notesSlide30.xml" Id="Rceee2c2b1267449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f64140df1a4c5c" /><Relationship Type="http://schemas.openxmlformats.org/officeDocument/2006/relationships/image" Target="/ppt/media/image29.png" Id="R5cbca9c308b54ca5" /><Relationship Type="http://schemas.openxmlformats.org/officeDocument/2006/relationships/notesSlide" Target="/ppt/notesSlides/notesSlide31.xml" Id="R8ac8ddb92c9e4e3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b9a43c090b4e6e" /><Relationship Type="http://schemas.openxmlformats.org/officeDocument/2006/relationships/image" Target="/ppt/media/image30.png" Id="Rb9ad15c9be384fcd" /><Relationship Type="http://schemas.openxmlformats.org/officeDocument/2006/relationships/notesSlide" Target="/ppt/notesSlides/notesSlide32.xml" Id="R2029cae25551432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c1817cf4e1412b" /><Relationship Type="http://schemas.openxmlformats.org/officeDocument/2006/relationships/image" Target="/ppt/media/image31.png" Id="R1fcbea46d6524ae6" /><Relationship Type="http://schemas.openxmlformats.org/officeDocument/2006/relationships/notesSlide" Target="/ppt/notesSlides/notesSlide33.xml" Id="R6c3813604bf84b2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fa80ac8f8e432a" /><Relationship Type="http://schemas.openxmlformats.org/officeDocument/2006/relationships/image" Target="/ppt/media/image32.png" Id="R54c6315590194415" /><Relationship Type="http://schemas.openxmlformats.org/officeDocument/2006/relationships/notesSlide" Target="/ppt/notesSlides/notesSlide34.xml" Id="R1b7a7cf393cc4af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145ee5d9a54643" /><Relationship Type="http://schemas.openxmlformats.org/officeDocument/2006/relationships/notesSlide" Target="/ppt/notesSlides/notesSlide35.xml" Id="R6cbba2da68ff4dd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b7eb630b31421e" /><Relationship Type="http://schemas.openxmlformats.org/officeDocument/2006/relationships/image" Target="/ppt/media/image33.png" Id="Rab9ef2d14f164685" /><Relationship Type="http://schemas.openxmlformats.org/officeDocument/2006/relationships/notesSlide" Target="/ppt/notesSlides/notesSlide36.xml" Id="R2bc6aee4fce54f8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14acce61db47ae" /><Relationship Type="http://schemas.openxmlformats.org/officeDocument/2006/relationships/notesSlide" Target="/ppt/notesSlides/notesSlide37.xml" Id="R8876e2a5c88e4fb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bfa3f850c542fe" /><Relationship Type="http://schemas.openxmlformats.org/officeDocument/2006/relationships/image" Target="/ppt/media/image34.png" Id="R4353cdb6563741c4" /><Relationship Type="http://schemas.openxmlformats.org/officeDocument/2006/relationships/image" Target="/ppt/media/image35.png" Id="Rfaecf0e7095b4566" /><Relationship Type="http://schemas.openxmlformats.org/officeDocument/2006/relationships/notesSlide" Target="/ppt/notesSlides/notesSlide38.xml" Id="Rdb1cd5a80a424d2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799a220c3947a9" /><Relationship Type="http://schemas.openxmlformats.org/officeDocument/2006/relationships/image" Target="/ppt/media/image36.png" Id="Rd9d89bd725f744f0" /><Relationship Type="http://schemas.openxmlformats.org/officeDocument/2006/relationships/image" Target="/ppt/media/image37.png" Id="R2b236b3f27304408" /><Relationship Type="http://schemas.openxmlformats.org/officeDocument/2006/relationships/notesSlide" Target="/ppt/notesSlides/notesSlide39.xml" Id="R573d99574e8f411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34ff8e1bbe42a8" /><Relationship Type="http://schemas.openxmlformats.org/officeDocument/2006/relationships/image" Target="/ppt/media/image38.png" Id="R7f7edca500f84ffe" /><Relationship Type="http://schemas.openxmlformats.org/officeDocument/2006/relationships/image" Target="/ppt/media/image39.png" Id="Rf9567c1a012845b5" /><Relationship Type="http://schemas.openxmlformats.org/officeDocument/2006/relationships/notesSlide" Target="/ppt/notesSlides/notesSlide40.xml" Id="R92eab4750e1a4d4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33e7dbd9324d2c" /><Relationship Type="http://schemas.openxmlformats.org/officeDocument/2006/relationships/notesSlide" Target="/ppt/notesSlides/notesSlide41.xml" Id="Re1e3ddeba41e428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53bb08dff14cd1" /><Relationship Type="http://schemas.openxmlformats.org/officeDocument/2006/relationships/image" Target="/ppt/media/image40.png" Id="Rfddb5df09545466e" /><Relationship Type="http://schemas.openxmlformats.org/officeDocument/2006/relationships/image" Target="/ppt/media/image41.png" Id="Rbb8767ba78864e9e" /><Relationship Type="http://schemas.openxmlformats.org/officeDocument/2006/relationships/notesSlide" Target="/ppt/notesSlides/notesSlide42.xml" Id="R1073fe7ca0964a2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f2a83d58264a23" /><Relationship Type="http://schemas.openxmlformats.org/officeDocument/2006/relationships/image" Target="/ppt/media/image42.png" Id="R24ebb58fbdda43b5" /><Relationship Type="http://schemas.openxmlformats.org/officeDocument/2006/relationships/notesSlide" Target="/ppt/notesSlides/notesSlide43.xml" Id="Ra595db89b5b543c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671cbd12594021" /><Relationship Type="http://schemas.openxmlformats.org/officeDocument/2006/relationships/image" Target="/ppt/media/image42.png" Id="Rc6328de239874bf9" /><Relationship Type="http://schemas.openxmlformats.org/officeDocument/2006/relationships/notesSlide" Target="/ppt/notesSlides/notesSlide44.xml" Id="R67e3547137784ec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b480818596417e" /><Relationship Type="http://schemas.openxmlformats.org/officeDocument/2006/relationships/image" Target="/ppt/media/image42.png" Id="R71da3e3545834b1e" /><Relationship Type="http://schemas.openxmlformats.org/officeDocument/2006/relationships/notesSlide" Target="/ppt/notesSlides/notesSlide45.xml" Id="R1757fefb211e481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6fc015953a4ed7" /><Relationship Type="http://schemas.openxmlformats.org/officeDocument/2006/relationships/image" Target="/ppt/media/image43.png" Id="R07105b46c2e04d70" /><Relationship Type="http://schemas.openxmlformats.org/officeDocument/2006/relationships/notesSlide" Target="/ppt/notesSlides/notesSlide46.xml" Id="R104421db84c446d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05d67b61314de2" /><Relationship Type="http://schemas.openxmlformats.org/officeDocument/2006/relationships/image" Target="/ppt/media/image.emf" Id="Rbb0dae50e510403c" /><Relationship Type="http://schemas.openxmlformats.org/officeDocument/2006/relationships/image" Target="/ppt/media/image2.emf" Id="R67f1961c8f3c4baf" /><Relationship Type="http://schemas.openxmlformats.org/officeDocument/2006/relationships/notesSlide" Target="/ppt/notesSlides/notesSlide47.xml" Id="R719d2016a65d478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b13a1551da485d" /><Relationship Type="http://schemas.openxmlformats.org/officeDocument/2006/relationships/notesSlide" Target="/ppt/notesSlides/notesSlide48.xml" Id="Rf12890cf3aa54a0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3a1e51408b40bb" /><Relationship Type="http://schemas.openxmlformats.org/officeDocument/2006/relationships/image" Target="/ppt/media/image44.png" Id="Rd3a2a0e84b424c32" /><Relationship Type="http://schemas.openxmlformats.org/officeDocument/2006/relationships/notesSlide" Target="/ppt/notesSlides/notesSlide49.xml" Id="R7c13b74aa9d0453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b96dbfc2d34897" /><Relationship Type="http://schemas.openxmlformats.org/officeDocument/2006/relationships/image" Target="/ppt/media/image45.png" Id="R5db3b76327ce4eec" /><Relationship Type="http://schemas.openxmlformats.org/officeDocument/2006/relationships/notesSlide" Target="/ppt/notesSlides/notesSlide50.xml" Id="Rdb907614853340c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079f6a21334e6b" /><Relationship Type="http://schemas.openxmlformats.org/officeDocument/2006/relationships/image" Target="/ppt/media/image46.png" Id="R53f45ffef9a44dfc" /><Relationship Type="http://schemas.openxmlformats.org/officeDocument/2006/relationships/notesSlide" Target="/ppt/notesSlides/notesSlide51.xml" Id="R507337bc9f80431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00649b895d4376" /><Relationship Type="http://schemas.openxmlformats.org/officeDocument/2006/relationships/image" Target="/ppt/media/image47.png" Id="R985b6d91982d45db" /><Relationship Type="http://schemas.openxmlformats.org/officeDocument/2006/relationships/notesSlide" Target="/ppt/notesSlides/notesSlide52.xml" Id="Rfbf3f2b5bf55499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f9f59360d24237" /><Relationship Type="http://schemas.openxmlformats.org/officeDocument/2006/relationships/image" Target="/ppt/media/image48.png" Id="R70c3cef5c5494251" /><Relationship Type="http://schemas.openxmlformats.org/officeDocument/2006/relationships/notesSlide" Target="/ppt/notesSlides/notesSlide53.xml" Id="R683a4eb542a74b7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8836cd42e448b2" /><Relationship Type="http://schemas.openxmlformats.org/officeDocument/2006/relationships/image" Target="/ppt/media/image49.png" Id="R07401a81e4284b84" /><Relationship Type="http://schemas.openxmlformats.org/officeDocument/2006/relationships/notesSlide" Target="/ppt/notesSlides/notesSlide54.xml" Id="R44e82c9fe7c54cca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e205d8810e4188" /><Relationship Type="http://schemas.openxmlformats.org/officeDocument/2006/relationships/image" Target="/ppt/media/image49.png" Id="Re476d9f46c15463c" /><Relationship Type="http://schemas.openxmlformats.org/officeDocument/2006/relationships/image" Target="/ppt/media/image3.emf" Id="R96cc2357df0a4483" /><Relationship Type="http://schemas.openxmlformats.org/officeDocument/2006/relationships/notesSlide" Target="/ppt/notesSlides/notesSlide55.xml" Id="R66c828820b2b49d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94159008e1498a" /><Relationship Type="http://schemas.openxmlformats.org/officeDocument/2006/relationships/notesSlide" Target="/ppt/notesSlides/notesSlide56.xml" Id="Rbd1dde5e58894342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56dcb3ee0f4937" /><Relationship Type="http://schemas.openxmlformats.org/officeDocument/2006/relationships/image" Target="/ppt/media/image50.png" Id="R448e46069305461e" /><Relationship Type="http://schemas.openxmlformats.org/officeDocument/2006/relationships/image" Target="/ppt/media/image51.png" Id="Rab3d603dd49847de" /><Relationship Type="http://schemas.openxmlformats.org/officeDocument/2006/relationships/notesSlide" Target="/ppt/notesSlides/notesSlide57.xml" Id="Rf1b629596296431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54e8224f484455" /><Relationship Type="http://schemas.openxmlformats.org/officeDocument/2006/relationships/image" Target="/ppt/media/image52.png" Id="R4dc004699b52421a" /><Relationship Type="http://schemas.openxmlformats.org/officeDocument/2006/relationships/image" Target="/ppt/media/image53.png" Id="R39139e9d43e44945" /><Relationship Type="http://schemas.openxmlformats.org/officeDocument/2006/relationships/image" Target="/ppt/media/image4.emf" Id="R1af6ae4864f34d95" /><Relationship Type="http://schemas.openxmlformats.org/officeDocument/2006/relationships/image" Target="/ppt/media/image5.emf" Id="R3453f50b66a54330" /><Relationship Type="http://schemas.openxmlformats.org/officeDocument/2006/relationships/notesSlide" Target="/ppt/notesSlides/notesSlide58.xml" Id="Rd5fc16d33a0443b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917d0464e64c47" /><Relationship Type="http://schemas.openxmlformats.org/officeDocument/2006/relationships/image" Target="/ppt/media/image54.png" Id="R3bcfb9ae3b4648b2" /><Relationship Type="http://schemas.openxmlformats.org/officeDocument/2006/relationships/notesSlide" Target="/ppt/notesSlides/notesSlide59.xml" Id="R56ddfe0eb5384d0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232271c21f4b64" /><Relationship Type="http://schemas.openxmlformats.org/officeDocument/2006/relationships/image" Target="/ppt/media/image55.png" Id="R14cfe854a24247bf" /><Relationship Type="http://schemas.openxmlformats.org/officeDocument/2006/relationships/image" Target="/ppt/media/image56.png" Id="R1b1cba8e178c4478" /><Relationship Type="http://schemas.openxmlformats.org/officeDocument/2006/relationships/notesSlide" Target="/ppt/notesSlides/notesSlide60.xml" Id="Rb474a2a7ca2c4eb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5d0a1f4e664948" /><Relationship Type="http://schemas.openxmlformats.org/officeDocument/2006/relationships/image" Target="/ppt/media/image57.png" Id="Rcddb949391224ce8" /><Relationship Type="http://schemas.openxmlformats.org/officeDocument/2006/relationships/notesSlide" Target="/ppt/notesSlides/notesSlide61.xml" Id="R3f925f16d4ed4a5e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8a725ced294f4e" /><Relationship Type="http://schemas.openxmlformats.org/officeDocument/2006/relationships/notesSlide" Target="/ppt/notesSlides/notesSlide62.xml" Id="R6423a31f4aa642e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c502a8ef024cb3" /><Relationship Type="http://schemas.openxmlformats.org/officeDocument/2006/relationships/image" Target="/ppt/media/image58.png" Id="R63fd2ed94d6e41f5" /><Relationship Type="http://schemas.openxmlformats.org/officeDocument/2006/relationships/notesSlide" Target="/ppt/notesSlides/notesSlide63.xml" Id="R825516b2b78040c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3163fb13fb4bbf" /><Relationship Type="http://schemas.openxmlformats.org/officeDocument/2006/relationships/notesSlide" Target="/ppt/notesSlides/notesSlide64.xml" Id="R565d5a634f6f44fe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ea8eb756984532" /><Relationship Type="http://schemas.openxmlformats.org/officeDocument/2006/relationships/notesSlide" Target="/ppt/notesSlides/notesSlide65.xml" Id="Re5ab3096ce3a4ee4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bc7de5c0754a94" /><Relationship Type="http://schemas.openxmlformats.org/officeDocument/2006/relationships/image" Target="/ppt/media/image59.png" Id="R790dc9b41ec445e8" /><Relationship Type="http://schemas.openxmlformats.org/officeDocument/2006/relationships/notesSlide" Target="/ppt/notesSlides/notesSlide66.xml" Id="Reb61b8ee0a5940f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012406bec945d9" /><Relationship Type="http://schemas.openxmlformats.org/officeDocument/2006/relationships/image" Target="/ppt/media/image60.png" Id="R572bb7d4f72940b6" /><Relationship Type="http://schemas.openxmlformats.org/officeDocument/2006/relationships/image" Target="/ppt/media/image61.png" Id="Rd1fa34b2ca3c4ea7" /><Relationship Type="http://schemas.openxmlformats.org/officeDocument/2006/relationships/notesSlide" Target="/ppt/notesSlides/notesSlide67.xml" Id="Rdaebccb32ab043e8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700edd20334133" /><Relationship Type="http://schemas.openxmlformats.org/officeDocument/2006/relationships/image" Target="/ppt/media/image62.png" Id="R93ed333a9a344b3f" /><Relationship Type="http://schemas.openxmlformats.org/officeDocument/2006/relationships/notesSlide" Target="/ppt/notesSlides/notesSlide68.xml" Id="Rc2df64ee5e024ca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329c85832f4100" /><Relationship Type="http://schemas.openxmlformats.org/officeDocument/2006/relationships/image" Target="/ppt/media/image53.png" Id="Ra89818ccca204ff1" /><Relationship Type="http://schemas.openxmlformats.org/officeDocument/2006/relationships/image" Target="/ppt/media/image63.png" Id="R2ca619791036407b" /><Relationship Type="http://schemas.openxmlformats.org/officeDocument/2006/relationships/notesSlide" Target="/ppt/notesSlides/notesSlide69.xml" Id="Rce3438cae3e648f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dae65528624675" /><Relationship Type="http://schemas.openxmlformats.org/officeDocument/2006/relationships/notesSlide" Target="/ppt/notesSlides/notesSlide70.xml" Id="R4eb7530ba0c64e4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a081fa5c9742fc" /><Relationship Type="http://schemas.openxmlformats.org/officeDocument/2006/relationships/notesSlide" Target="/ppt/notesSlides/notesSlide71.xml" Id="R3905dcdd20454908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7a22f24e0e4669" /><Relationship Type="http://schemas.openxmlformats.org/officeDocument/2006/relationships/image" Target="/ppt/media/image64.png" Id="R6d90e19ce56d4aaf" /><Relationship Type="http://schemas.openxmlformats.org/officeDocument/2006/relationships/hyperlink" Target="/ppt/slides/slide72.xml" Id="R63fae1469dc043a3" /><Relationship Type="http://schemas.openxmlformats.org/officeDocument/2006/relationships/notesSlide" Target="/ppt/notesSlides/notesSlide72.xml" Id="Raf6ac348466c40bc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7ea865a9d14cb0" /><Relationship Type="http://schemas.openxmlformats.org/officeDocument/2006/relationships/image" Target="/ppt/media/image65.png" Id="R4134cb0dbecc4e2e" /><Relationship Type="http://schemas.openxmlformats.org/officeDocument/2006/relationships/hyperlink" Target="/ppt/slides/slide72.xml" Id="R5eec256885e44256" /><Relationship Type="http://schemas.openxmlformats.org/officeDocument/2006/relationships/notesSlide" Target="/ppt/notesSlides/notesSlide73.xml" Id="Rdbced0fe369e4da8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3b9ad1ff1f4998" /><Relationship Type="http://schemas.openxmlformats.org/officeDocument/2006/relationships/image" Target="/ppt/media/image66.png" Id="R49f2ef4dbb0a4454" /><Relationship Type="http://schemas.openxmlformats.org/officeDocument/2006/relationships/hyperlink" Target="/ppt/slides/slide72.xml" Id="Rb939f092b89a48fd" /><Relationship Type="http://schemas.openxmlformats.org/officeDocument/2006/relationships/notesSlide" Target="/ppt/notesSlides/notesSlide74.xml" Id="Rc3ddb97bc9b04e56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05f5c9fe874298" /><Relationship Type="http://schemas.openxmlformats.org/officeDocument/2006/relationships/image" Target="/ppt/media/image67.png" Id="R9d12032f9c5c4552" /><Relationship Type="http://schemas.openxmlformats.org/officeDocument/2006/relationships/notesSlide" Target="/ppt/notesSlides/notesSlide75.xml" Id="Rd24af413d3a54817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01906b77af4b98" /><Relationship Type="http://schemas.openxmlformats.org/officeDocument/2006/relationships/image" Target="/ppt/media/image68.png" Id="R7b29f1fa3dc6400a" /><Relationship Type="http://schemas.openxmlformats.org/officeDocument/2006/relationships/notesSlide" Target="/ppt/notesSlides/notesSlide76.xml" Id="R31137f7e2fdf4331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7066f57dff4e6d" /><Relationship Type="http://schemas.openxmlformats.org/officeDocument/2006/relationships/image" Target="/ppt/media/image69.png" Id="R760689377bb54a4e" /><Relationship Type="http://schemas.openxmlformats.org/officeDocument/2006/relationships/notesSlide" Target="/ppt/notesSlides/notesSlide77.xml" Id="R923e769218c740e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55b03cbdac4c58" /><Relationship Type="http://schemas.openxmlformats.org/officeDocument/2006/relationships/image" Target="/ppt/media/image70.png" Id="Re30049c9d67f47d3" /><Relationship Type="http://schemas.openxmlformats.org/officeDocument/2006/relationships/notesSlide" Target="/ppt/notesSlides/notesSlide78.xml" Id="R0d1944d12275475c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118b21319c44fa8" /><Relationship Type="http://schemas.openxmlformats.org/officeDocument/2006/relationships/image" Target="/ppt/media/image71.png" Id="R5caf83652fd74cfb" /><Relationship Type="http://schemas.openxmlformats.org/officeDocument/2006/relationships/notesSlide" Target="/ppt/notesSlides/notesSlide79.xml" Id="R648b9a1db1624cc1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c1e413b2404cb2" /><Relationship Type="http://schemas.openxmlformats.org/officeDocument/2006/relationships/image" Target="/ppt/media/image72.png" Id="R30d7ff1d905248b7" /><Relationship Type="http://schemas.openxmlformats.org/officeDocument/2006/relationships/notesSlide" Target="/ppt/notesSlides/notesSlide80.xml" Id="R769446d4fcbf4c95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b392656271444a" /><Relationship Type="http://schemas.openxmlformats.org/officeDocument/2006/relationships/image" Target="/ppt/media/image73.png" Id="Ref1ad76ebc38453d" /><Relationship Type="http://schemas.openxmlformats.org/officeDocument/2006/relationships/notesSlide" Target="/ppt/notesSlides/notesSlide81.xml" Id="R01657b23aa1c4d1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783570fa4848bb" /><Relationship Type="http://schemas.openxmlformats.org/officeDocument/2006/relationships/image" Target="/ppt/media/image74.png" Id="R712aa1b24828458a" /><Relationship Type="http://schemas.openxmlformats.org/officeDocument/2006/relationships/notesSlide" Target="/ppt/notesSlides/notesSlide82.xml" Id="R6943a4c60970434e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14003eaedb49d8" /><Relationship Type="http://schemas.openxmlformats.org/officeDocument/2006/relationships/image" Target="/ppt/media/image75.png" Id="R6c5cf2193bb1404e" /><Relationship Type="http://schemas.openxmlformats.org/officeDocument/2006/relationships/notesSlide" Target="/ppt/notesSlides/notesSlide83.xml" Id="R5a19ebafdde543f8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5039b870cb498b" /><Relationship Type="http://schemas.openxmlformats.org/officeDocument/2006/relationships/image" Target="/ppt/media/image76.png" Id="R665b08888e97412c" /><Relationship Type="http://schemas.openxmlformats.org/officeDocument/2006/relationships/notesSlide" Target="/ppt/notesSlides/notesSlide84.xml" Id="Rc6b2c410737549a0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cf5a7830f34d55" /><Relationship Type="http://schemas.openxmlformats.org/officeDocument/2006/relationships/image" Target="/ppt/media/image76.png" Id="R355e7b7c620e4434" /><Relationship Type="http://schemas.openxmlformats.org/officeDocument/2006/relationships/notesSlide" Target="/ppt/notesSlides/notesSlide85.xml" Id="Rfb8dd16042a941d9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7a8e2c239e462b" /><Relationship Type="http://schemas.openxmlformats.org/officeDocument/2006/relationships/image" Target="/ppt/media/image77.png" Id="R19ebb3efa92d4a89" /><Relationship Type="http://schemas.openxmlformats.org/officeDocument/2006/relationships/notesSlide" Target="/ppt/notesSlides/notesSlide86.xml" Id="R6ca4f367dce440d4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2ca0501c8441eb" /><Relationship Type="http://schemas.openxmlformats.org/officeDocument/2006/relationships/image" Target="/ppt/media/image78.png" Id="Rb323ec3337a94fbb" /><Relationship Type="http://schemas.openxmlformats.org/officeDocument/2006/relationships/notesSlide" Target="/ppt/notesSlides/notesSlide87.xml" Id="Rf4ca8ebdb9b441ec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159b87c15e4f8d" /><Relationship Type="http://schemas.openxmlformats.org/officeDocument/2006/relationships/image" Target="/ppt/media/image79.png" Id="R76d8b91878314343" /><Relationship Type="http://schemas.openxmlformats.org/officeDocument/2006/relationships/notesSlide" Target="/ppt/notesSlides/notesSlide88.xml" Id="R08d7d187264e4e8c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61c7cc0d7fb46a6" /><Relationship Type="http://schemas.openxmlformats.org/officeDocument/2006/relationships/image" Target="/ppt/media/image80.png" Id="R1a4fa422e8ac42d5" /><Relationship Type="http://schemas.openxmlformats.org/officeDocument/2006/relationships/notesSlide" Target="/ppt/notesSlides/notesSlide89.xml" Id="Ra1b2d9d5cdf5496f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0743c4f81e94033" /><Relationship Type="http://schemas.openxmlformats.org/officeDocument/2006/relationships/notesSlide" Target="/ppt/notesSlides/notesSlide90.xml" Id="R41d3bdd1bfca473c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4079580baf4f9d" /><Relationship Type="http://schemas.openxmlformats.org/officeDocument/2006/relationships/image" Target="/ppt/media/image81.png" Id="R67df0c0f8a7f4216" /><Relationship Type="http://schemas.openxmlformats.org/officeDocument/2006/relationships/notesSlide" Target="/ppt/notesSlides/notesSlide91.xml" Id="R177672040de84688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1948d5841e47ae" /><Relationship Type="http://schemas.openxmlformats.org/officeDocument/2006/relationships/image" Target="/ppt/media/image82.png" Id="Rd2cc24d0cc434adb" /><Relationship Type="http://schemas.openxmlformats.org/officeDocument/2006/relationships/notesSlide" Target="/ppt/notesSlides/notesSlide92.xml" Id="R9c2f6472d28d42c9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df3dcc82e74efb" /><Relationship Type="http://schemas.openxmlformats.org/officeDocument/2006/relationships/image" Target="/ppt/media/image83.png" Id="R4bbd60351b374977" /><Relationship Type="http://schemas.openxmlformats.org/officeDocument/2006/relationships/notesSlide" Target="/ppt/notesSlides/notesSlide93.xml" Id="Rfda4eced726d4fcb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3065d113e84a45" /><Relationship Type="http://schemas.openxmlformats.org/officeDocument/2006/relationships/image" Target="/ppt/media/image84.png" Id="Ra69dbfe641e54ef0" /><Relationship Type="http://schemas.openxmlformats.org/officeDocument/2006/relationships/notesSlide" Target="/ppt/notesSlides/notesSlide94.xml" Id="R0861feede1ee457d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33e4cbbd9946db" /><Relationship Type="http://schemas.openxmlformats.org/officeDocument/2006/relationships/image" Target="/ppt/media/image85.png" Id="R10820267ee49474b" /><Relationship Type="http://schemas.openxmlformats.org/officeDocument/2006/relationships/notesSlide" Target="/ppt/notesSlides/notesSlide95.xml" Id="Refb5ffee7abc433a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1516b7441c4345" /><Relationship Type="http://schemas.openxmlformats.org/officeDocument/2006/relationships/image" Target="/ppt/media/image86.png" Id="R01a4b3bdd29b4009" /><Relationship Type="http://schemas.openxmlformats.org/officeDocument/2006/relationships/notesSlide" Target="/ppt/notesSlides/notesSlide96.xml" Id="R8a898e6bb9e6436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a131fe57ea4bfe" /><Relationship Type="http://schemas.openxmlformats.org/officeDocument/2006/relationships/image" Target="/ppt/media/image87.png" Id="R23eb28f32cba446e" /><Relationship Type="http://schemas.openxmlformats.org/officeDocument/2006/relationships/notesSlide" Target="/ppt/notesSlides/notesSlide97.xml" Id="R6639027247df4bd6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c665f392804907" /><Relationship Type="http://schemas.openxmlformats.org/officeDocument/2006/relationships/image" Target="/ppt/media/image88.png" Id="Rcd2607383a364dca" /><Relationship Type="http://schemas.openxmlformats.org/officeDocument/2006/relationships/notesSlide" Target="/ppt/notesSlides/notesSlide98.xml" Id="R7651c24cfd034d25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162bd33f894ac0" /><Relationship Type="http://schemas.openxmlformats.org/officeDocument/2006/relationships/image" Target="/ppt/media/image89.png" Id="Rfbf9de96ce93417a" /><Relationship Type="http://schemas.openxmlformats.org/officeDocument/2006/relationships/notesSlide" Target="/ppt/notesSlides/notesSlide99.xml" Id="Ra9dde68c7f334b46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91fd282af14659" /><Relationship Type="http://schemas.openxmlformats.org/officeDocument/2006/relationships/image" Target="/ppt/media/image90.png" Id="Rf703d81f16194440" /><Relationship Type="http://schemas.openxmlformats.org/officeDocument/2006/relationships/notesSlide" Target="/ppt/notesSlides/notesSlide100.xml" Id="R11a7e98a230a4421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6c61a8717b461e" /><Relationship Type="http://schemas.openxmlformats.org/officeDocument/2006/relationships/image" Target="/ppt/media/image91.png" Id="Re31238246c3e4eff" /><Relationship Type="http://schemas.openxmlformats.org/officeDocument/2006/relationships/notesSlide" Target="/ppt/notesSlides/notesSlide101.xml" Id="R4c2a14a522d34b07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179e1b541a46ad" /><Relationship Type="http://schemas.openxmlformats.org/officeDocument/2006/relationships/image" Target="/ppt/media/image92.png" Id="R3bab213e545f4ed8" /><Relationship Type="http://schemas.openxmlformats.org/officeDocument/2006/relationships/notesSlide" Target="/ppt/notesSlides/notesSlide102.xml" Id="R1b0a4c8e30b6402c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c25198396b429a" /><Relationship Type="http://schemas.openxmlformats.org/officeDocument/2006/relationships/image" Target="/ppt/media/image93.png" Id="R88c038fd5f7b4d38" /><Relationship Type="http://schemas.openxmlformats.org/officeDocument/2006/relationships/notesSlide" Target="/ppt/notesSlides/notesSlide103.xml" Id="R66a40abc1e4444aa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fb81156eb84423" /><Relationship Type="http://schemas.openxmlformats.org/officeDocument/2006/relationships/image" Target="/ppt/media/image94.png" Id="R8aa0c7ae7b46442d" /><Relationship Type="http://schemas.openxmlformats.org/officeDocument/2006/relationships/notesSlide" Target="/ppt/notesSlides/notesSlide104.xml" Id="R75d4fb13beff44a6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bf39d3a7194718" /><Relationship Type="http://schemas.openxmlformats.org/officeDocument/2006/relationships/notesSlide" Target="/ppt/notesSlides/notesSlide105.xml" Id="Re7da19d1f64c4058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d200b13db54e59" /><Relationship Type="http://schemas.openxmlformats.org/officeDocument/2006/relationships/image" Target="/ppt/media/image95.png" Id="Radc27e343eb44533" /><Relationship Type="http://schemas.openxmlformats.org/officeDocument/2006/relationships/notesSlide" Target="/ppt/notesSlides/notesSlide106.xml" Id="R7ad3d19a12704e57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1c8967f17c401d" /><Relationship Type="http://schemas.openxmlformats.org/officeDocument/2006/relationships/image" Target="/ppt/media/image96.png" Id="R7a2c9b9d5f1a47b7" /><Relationship Type="http://schemas.openxmlformats.org/officeDocument/2006/relationships/notesSlide" Target="/ppt/notesSlides/notesSlide107.xml" Id="R7841964c61ed4cc9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c3f398cb444da9" /><Relationship Type="http://schemas.openxmlformats.org/officeDocument/2006/relationships/image" Target="/ppt/media/image97.png" Id="Rc49cfe2ca34d41f0" /><Relationship Type="http://schemas.openxmlformats.org/officeDocument/2006/relationships/notesSlide" Target="/ppt/notesSlides/notesSlide108.xml" Id="Rcec71c2babe64c14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b32c4cbc7644e0" /><Relationship Type="http://schemas.openxmlformats.org/officeDocument/2006/relationships/image" Target="/ppt/media/image98.png" Id="R8e3a9f46447f4fcc" /><Relationship Type="http://schemas.openxmlformats.org/officeDocument/2006/relationships/notesSlide" Target="/ppt/notesSlides/notesSlide109.xml" Id="R030c000cadee492f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bc3df9be9c4303" /><Relationship Type="http://schemas.openxmlformats.org/officeDocument/2006/relationships/image" Target="/ppt/media/image99.png" Id="Rd767e05f6f8f4132" /><Relationship Type="http://schemas.openxmlformats.org/officeDocument/2006/relationships/notesSlide" Target="/ppt/notesSlides/notesSlide110.xml" Id="Rf17dc6615ddf425e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967db514c6499e" /><Relationship Type="http://schemas.openxmlformats.org/officeDocument/2006/relationships/image" Target="/ppt/media/image100.png" Id="R3585abce040940d1" /><Relationship Type="http://schemas.openxmlformats.org/officeDocument/2006/relationships/notesSlide" Target="/ppt/notesSlides/notesSlide111.xml" Id="Rf61d4c934cfd499f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3ff3808be1413c" /><Relationship Type="http://schemas.openxmlformats.org/officeDocument/2006/relationships/notesSlide" Target="/ppt/notesSlides/notesSlide112.xml" Id="Re204eefbddcb4f8b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48f6f50e3a4a0b" /><Relationship Type="http://schemas.openxmlformats.org/officeDocument/2006/relationships/image" Target="/ppt/media/image101.png" Id="R0ca1880bed0f4de5" /><Relationship Type="http://schemas.openxmlformats.org/officeDocument/2006/relationships/notesSlide" Target="/ppt/notesSlides/notesSlide113.xml" Id="R0331b2771acf4eb9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6217bbccb848de" /><Relationship Type="http://schemas.openxmlformats.org/officeDocument/2006/relationships/image" Target="/ppt/media/image102.png" Id="R3351935c0f204f1d" /><Relationship Type="http://schemas.openxmlformats.org/officeDocument/2006/relationships/notesSlide" Target="/ppt/notesSlides/notesSlide114.xml" Id="R6a11695f0d394506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4d520a56664c52" /><Relationship Type="http://schemas.openxmlformats.org/officeDocument/2006/relationships/image" Target="/ppt/media/image103.png" Id="R635bd84de88b478e" /><Relationship Type="http://schemas.openxmlformats.org/officeDocument/2006/relationships/notesSlide" Target="/ppt/notesSlides/notesSlide115.xml" Id="Raf8aaa404f544b14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9e62a600534fd8" /><Relationship Type="http://schemas.openxmlformats.org/officeDocument/2006/relationships/image" Target="/ppt/media/image104.png" Id="R94dee69f9adc463d" /><Relationship Type="http://schemas.openxmlformats.org/officeDocument/2006/relationships/notesSlide" Target="/ppt/notesSlides/notesSlide116.xml" Id="R267d48ee2a2b4736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35d9063f46474f" /><Relationship Type="http://schemas.openxmlformats.org/officeDocument/2006/relationships/image" Target="/ppt/media/image105.png" Id="R20ad96c313e44b4d" /><Relationship Type="http://schemas.openxmlformats.org/officeDocument/2006/relationships/notesSlide" Target="/ppt/notesSlides/notesSlide117.xml" Id="R2eb10806f3394c04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ec5a83f6014b58" /><Relationship Type="http://schemas.openxmlformats.org/officeDocument/2006/relationships/notesSlide" Target="/ppt/notesSlides/notesSlide118.xml" Id="Rca185ee9a86849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2F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D8EFCE-5C3C-4C38-9DFD-680021DDE1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41778" y="1818460"/>
            <a:ext cx="8846105" cy="882210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3450"/>
            </a:defPPr>
          </a:lstStyle>
          <a:p xmlns:a="http://schemas.openxmlformats.org/drawingml/2006/main">
            <a:r>
              <a:rPr sz="3450"/>
              <a:t>AIRPORT FWD DATA ANALYZER</a:t>
            </a:r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92E964F4-ADB2-4AF3-A19A-6AB40C38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8" y="3193576"/>
            <a:ext cx="6520259" cy="1911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defPPr>
              <a:defRPr sz="1725"/>
            </a:defPPr>
            <a:lvl1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 sz="1725" b="0"/>
              <a:t>Backcalculation Training Presentation</a:t>
            </a:r>
          </a:p>
          <a:p xmlns:a="http://schemas.openxmlformats.org/drawingml/2006/main">
            <a:r>
              <a:rPr sz="1725" b="0"/>
              <a:t>FWD/HWD data review and pavement layer evaluation</a:t>
            </a:r>
          </a:p>
          <a:p xmlns:a="http://schemas.openxmlformats.org/drawingml/2006/main">
            <a:r>
              <a:rPr sz="1725" b="0"/>
              <a:t>Based on the supplied BAKFAA 3.4 engineering source</a:t>
            </a:r>
          </a:p>
          <a:p xmlns:a="http://schemas.openxmlformats.org/drawingml/2006/main">
            <a:r>
              <a:rPr sz="1725" b="0"/>
              <a:t>Copyright © 2026 Sahil Yadav</a:t>
            </a:r>
          </a:p>
          <a:p xmlns:a="http://schemas.openxmlformats.org/drawingml/2006/main">
            <a:r>
              <a:rPr sz="1725" b="0"/>
              <a:t>Support: skonetechsupport@gmail.com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D714FC89-D26A-43D5-88E7-194A459126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a5b62ac5f45dc"/>
          <a:stretch xmlns:a="http://schemas.openxmlformats.org/drawingml/2006/main"/>
        </p:blipFill>
        <p:spPr>
          <a:xfrm xmlns:a="http://schemas.openxmlformats.org/drawingml/2006/main">
            <a:off x="742950" y="5029200"/>
            <a:ext cx="1028700" cy="102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83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42" name="Title 1">
            <a:extLst xmlns:a="http://schemas.openxmlformats.org/drawingml/2006/main">
              <a:ext uri="{FF2B5EF4-FFF2-40B4-BE49-F238E27FC236}">
                <a16:creationId xmlns:a16="http://schemas.microsoft.com/office/drawing/2014/main" id="{5DDF61D0-3CAB-48D6-BD4F-699277AD2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Presentation Outline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62965A-2DED-4631-A8D0-8CDC512B14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1539" y="1111378"/>
            <a:ext cx="10626570" cy="4918231"/>
          </a:xfrm>
        </p:spPr>
        <p:txBody>
          <a:bodyPr xmlns:a="http://schemas.openxmlformats.org/drawingml/2006/main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lvl="1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FAA Airport Pavement R&amp;D Overview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BAKFAA Introduction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BAKFAA Main Features</a:t>
            </a:r>
          </a:p>
          <a:p xmlns:a="http://schemas.openxmlformats.org/drawingml/2006/main">
            <a:pPr lvl="1">
              <a:spcAft>
                <a:spcPts val="600"/>
              </a:spcAft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BAKFAA Modular Interface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 sz="2800">
                <a:latin typeface="Times New Roman"/>
                <a:ea typeface="Times New Roman"/>
                <a:cs typeface="Times New Roman"/>
              </a:rPr>
              <a:t>FWD Data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 sz="2800">
                <a:latin typeface="Times New Roman"/>
                <a:ea typeface="Times New Roman"/>
                <a:cs typeface="Times New Roman"/>
              </a:rPr>
              <a:t>BAKFAA Inputs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 sz="2900">
                <a:latin typeface="Times New Roman"/>
                <a:ea typeface="Times New Roman"/>
                <a:cs typeface="Times New Roman"/>
              </a:rPr>
              <a:t>Backcalculation Analysis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 sz="2900">
                <a:latin typeface="Times New Roman"/>
                <a:ea typeface="Times New Roman"/>
                <a:cs typeface="Times New Roman"/>
              </a:rPr>
              <a:t>Load Transfer Efficiency (LTE) Calculation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 sz="2900">
                <a:latin typeface="Times New Roman"/>
                <a:ea typeface="Times New Roman"/>
                <a:cs typeface="Times New Roman"/>
              </a:rPr>
              <a:t>Layered Elastic Analysis Program (LEAF)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Software Demo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 sz="2800">
                <a:latin typeface="Times New Roman"/>
                <a:ea typeface="Times New Roman"/>
                <a:cs typeface="Times New Roman"/>
              </a:rPr>
              <a:t>Flexible Pavement Example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 sz="2800">
                <a:latin typeface="Times New Roman"/>
                <a:ea typeface="Times New Roman"/>
                <a:cs typeface="Times New Roman"/>
              </a:rPr>
              <a:t>Rigid Pavement Example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 sz="2800">
                <a:latin typeface="Times New Roman"/>
                <a:ea typeface="Times New Roman"/>
                <a:cs typeface="Times New Roman"/>
              </a:rPr>
              <a:t>Composite Pavement Example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 sz="2800">
                <a:latin typeface="Times New Roman"/>
                <a:ea typeface="Times New Roman"/>
                <a:cs typeface="Times New Roman"/>
              </a:rPr>
              <a:t>LTE Example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9234371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227" y="2296633"/>
            <a:ext cx="10363200" cy="150982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latin typeface="Times New Roman"/>
                <a:ea typeface="Times New Roman"/>
                <a:cs typeface="Times New Roman"/>
              </a:rPr>
              <a:t>FAA Airport Pavement R&amp;D</a:t>
            </a:r>
            <a:br>
              <a:rPr sz="4000">
                <a:latin typeface="Times New Roman"/>
                <a:ea typeface="Times New Roman"/>
                <a:cs typeface="Times New Roman"/>
              </a:rPr>
            </a:br>
            <a:r>
              <a:rPr sz="4000">
                <a:latin typeface="Times New Roman"/>
                <a:ea typeface="Times New Roman"/>
                <a:cs typeface="Times New Roman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8545959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B72A36-B396-479D-9EFF-95C0A57FB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273505"/>
            <a:ext cx="11296651" cy="60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/>
              <a:t>Who We Are</a:t>
            </a:r>
          </a:p>
        </p:txBody>
      </p:sp>
      <p:sp>
        <p:nvSpPr>
          <p:cNvPr id="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CD0C97-F860-40B7-A202-C3C9511C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521" y="4796041"/>
            <a:ext cx="3889407" cy="1135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342900" indent="-342900" algn="l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00000"/>
                </a:solidFill>
              </a:rPr>
              <a:t>Pavement Consultant Support – ARA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00000"/>
                </a:solidFill>
              </a:rPr>
              <a:t>Materials Lab O&amp;M – ARA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00000"/>
                </a:solidFill>
              </a:rPr>
              <a:t>Facilities O&amp;M - GDIT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33FBC2C-6AE5-4555-BF04-19BBB9A9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2" y="1090818"/>
            <a:ext cx="2782672" cy="707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rgbClr val="C0C0C0"/>
                </a:solidFill>
              </a:rPr>
              <a:t>Director of William J. Hughes Technical Center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rgbClr val="C0C0C0"/>
                </a:solidFill>
              </a:rPr>
              <a:t>ANG-E, Shelly Yak</a:t>
            </a:r>
          </a:p>
        </p:txBody>
      </p:sp>
      <p:cxnSp>
        <p:nvCxnSpPr>
          <p:cNvPr id="35" name="Elbow Connector 34">
            <a:extLst xmlns:a="http://schemas.openxmlformats.org/drawingml/2006/main">
              <a:ext uri="{FF2B5EF4-FFF2-40B4-BE49-F238E27FC236}">
                <a16:creationId xmlns:a16="http://schemas.microsoft.com/office/drawing/2014/main" id="{77116E1A-0814-4EC3-9784-FB9F70A14C2B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 rot="5400000">
            <a:off x="741945" y="1369681"/>
            <a:ext cx="266933" cy="1124595"/>
          </a:xfrm>
          <a:prstGeom xmlns:a="http://schemas.openxmlformats.org/drawingml/2006/main" prst="bentConnector3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424ABA6-2060-4FD0-A6AB-26FF6E88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5" y="2079296"/>
            <a:ext cx="2130640" cy="502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04"/>
          </a:solidFill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Fire Safety Branch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ANG-E21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DBC43C0-7E31-401D-BE1D-1A60FE82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1" y="2723473"/>
            <a:ext cx="2130644" cy="502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04"/>
          </a:solidFill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Human Factors Branch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ANG-E25</a:t>
            </a:r>
          </a:p>
        </p:txBody>
      </p:sp>
      <p:cxnSp>
        <p:nvCxnSpPr>
          <p:cNvPr id="37" name="Elbow Connector 36">
            <a:extLst xmlns:a="http://schemas.openxmlformats.org/drawingml/2006/main">
              <a:ext uri="{FF2B5EF4-FFF2-40B4-BE49-F238E27FC236}">
                <a16:creationId xmlns:a16="http://schemas.microsoft.com/office/drawing/2014/main" id="{0FB5A714-FA52-473E-BFB2-052C9CDFE675}"/>
              </a:ext>
            </a:extLst>
          </p:cNvPr>
          <p:cNvCxnSpPr/>
          <p:nvPr/>
        </p:nvCxnSpPr>
        <p:spPr>
          <a:xfrm xmlns:a="http://schemas.openxmlformats.org/drawingml/2006/main">
            <a:off x="542743" y="3874877"/>
            <a:ext cx="1219200" cy="1219200"/>
          </a:xfrm>
          <a:prstGeom xmlns:a="http://schemas.openxmlformats.org/drawingml/2006/main" prst="bentConnector3">
            <a:avLst/>
          </a:prstGeom>
          <a:ln xmlns:a="http://schemas.openxmlformats.org/drawingml/2006/main">
            <a:noFill/>
            <a:tailEnd type="triangle"/>
          </a:ln>
        </p:spPr>
      </p:cxnSp>
      <p:cxnSp>
        <p:nvCxnSpPr>
          <p:cNvPr id="96" name="Elbow Connector 95">
            <a:extLst xmlns:a="http://schemas.openxmlformats.org/drawingml/2006/main">
              <a:ext uri="{FF2B5EF4-FFF2-40B4-BE49-F238E27FC236}">
                <a16:creationId xmlns:a16="http://schemas.microsoft.com/office/drawing/2014/main" id="{8CD9B022-E061-4664-A581-CF18B327F5D9}"/>
              </a:ext>
            </a:extLst>
          </p:cNvPr>
          <p:cNvCxnSpPr>
            <a:endCxn xmlns:a="http://schemas.openxmlformats.org/drawingml/2006/main" id="46" idx="1"/>
          </p:cNvCxnSpPr>
          <p:nvPr/>
        </p:nvCxnSpPr>
        <p:spPr>
          <a:xfrm xmlns:a="http://schemas.openxmlformats.org/drawingml/2006/main" rot="5400000" flipH="1" flipV="1">
            <a:off x="2853277" y="3402377"/>
            <a:ext cx="598140" cy="276260"/>
          </a:xfrm>
          <a:prstGeom xmlns:a="http://schemas.openxmlformats.org/drawingml/2006/main" prst="bentConnector2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9" name="Elbow Connector 98">
            <a:extLst xmlns:a="http://schemas.openxmlformats.org/drawingml/2006/main">
              <a:ext uri="{FF2B5EF4-FFF2-40B4-BE49-F238E27FC236}">
                <a16:creationId xmlns:a16="http://schemas.microsoft.com/office/drawing/2014/main" id="{8C27EFDC-E895-4F37-BF87-38C28E26996D}"/>
              </a:ext>
            </a:extLst>
          </p:cNvPr>
          <p:cNvCxnSpPr>
            <a:endCxn xmlns:a="http://schemas.openxmlformats.org/drawingml/2006/main" id="21" idx="1"/>
          </p:cNvCxnSpPr>
          <p:nvPr/>
        </p:nvCxnSpPr>
        <p:spPr>
          <a:xfrm xmlns:a="http://schemas.openxmlformats.org/drawingml/2006/main" rot="16200000" flipH="1">
            <a:off x="2821583" y="4032206"/>
            <a:ext cx="661529" cy="276262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82" name="Elbow Connector 181">
            <a:extLst xmlns:a="http://schemas.openxmlformats.org/drawingml/2006/main">
              <a:ext uri="{FF2B5EF4-FFF2-40B4-BE49-F238E27FC236}">
                <a16:creationId xmlns:a16="http://schemas.microsoft.com/office/drawing/2014/main" id="{14B2CEA9-7C95-41E4-AC19-DD716A3277B2}"/>
              </a:ext>
            </a:extLst>
          </p:cNvPr>
          <p:cNvCxnSpPr>
            <a:endCxn xmlns:a="http://schemas.openxmlformats.org/drawingml/2006/main" id="16" idx="1"/>
          </p:cNvCxnSpPr>
          <p:nvPr/>
        </p:nvCxnSpPr>
        <p:spPr>
          <a:xfrm xmlns:a="http://schemas.openxmlformats.org/drawingml/2006/main" rot="5400000" flipH="1" flipV="1">
            <a:off x="303752" y="3388114"/>
            <a:ext cx="993172" cy="166465"/>
          </a:xfrm>
          <a:prstGeom xmlns:a="http://schemas.openxmlformats.org/drawingml/2006/main" prst="bentConnector2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B945237-7B4D-4713-B746-0BAEB5B1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1" y="3319165"/>
            <a:ext cx="2130645" cy="912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04"/>
          </a:solidFill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Airport Technology R&amp;D Branch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ANG-E26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James Layton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B0472CD-A09D-4FF4-BD54-785646F1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1" y="4367351"/>
            <a:ext cx="2130644" cy="707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04"/>
          </a:solidFill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Software and Systems Branch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ANG-E27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C00FBE4-4CC2-4BC9-BE2A-333CFDD1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0" y="5258840"/>
            <a:ext cx="2130644" cy="707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04"/>
          </a:solidFill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Structures and Propulsion Branch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ANG-E28</a:t>
            </a:r>
          </a:p>
        </p:txBody>
      </p:sp>
      <p:cxnSp>
        <p:nvCxnSpPr>
          <p:cNvPr id="164" name="Elbow Connector 163">
            <a:extLst xmlns:a="http://schemas.openxmlformats.org/drawingml/2006/main">
              <a:ext uri="{FF2B5EF4-FFF2-40B4-BE49-F238E27FC236}">
                <a16:creationId xmlns:a16="http://schemas.microsoft.com/office/drawing/2014/main" id="{724BC877-BF02-4D8B-86E7-004CAEC7840B}"/>
              </a:ext>
            </a:extLst>
          </p:cNvPr>
          <p:cNvCxnSpPr/>
          <p:nvPr/>
        </p:nvCxnSpPr>
        <p:spPr>
          <a:xfrm xmlns:a="http://schemas.openxmlformats.org/drawingml/2006/main" flipV="1">
            <a:off x="438260" y="3702479"/>
            <a:ext cx="27456" cy="172212"/>
          </a:xfrm>
          <a:prstGeom xmlns:a="http://schemas.openxmlformats.org/drawingml/2006/main" prst="bentConnector4">
            <a:avLst>
              <a:gd name="adj1" fmla="val 7274053"/>
              <a:gd name="adj2" fmla="val -331882"/>
            </a:avLst>
          </a:prstGeom>
          <a:ln xmlns:a="http://schemas.openxmlformats.org/drawingml/2006/main">
            <a:noFill/>
            <a:tailEnd type="triangle"/>
          </a:ln>
        </p:spPr>
      </p:cxnSp>
      <p:cxnSp>
        <p:nvCxnSpPr>
          <p:cNvPr id="213" name="Elbow Connector 212">
            <a:extLst xmlns:a="http://schemas.openxmlformats.org/drawingml/2006/main">
              <a:ext uri="{FF2B5EF4-FFF2-40B4-BE49-F238E27FC236}">
                <a16:creationId xmlns:a16="http://schemas.microsoft.com/office/drawing/2014/main" id="{DB967790-113F-444D-AFE2-729C87D0315E}"/>
              </a:ext>
            </a:extLst>
          </p:cNvPr>
          <p:cNvCxnSpPr/>
          <p:nvPr/>
        </p:nvCxnSpPr>
        <p:spPr>
          <a:xfrm xmlns:a="http://schemas.openxmlformats.org/drawingml/2006/main" flipV="1">
            <a:off x="603847" y="3839575"/>
            <a:ext cx="279724" cy="182472"/>
          </a:xfrm>
          <a:prstGeom xmlns:a="http://schemas.openxmlformats.org/drawingml/2006/main" prst="bentConnector3">
            <a:avLst>
              <a:gd name="adj1" fmla="val 35141"/>
            </a:avLst>
          </a:prstGeom>
          <a:ln xmlns:a="http://schemas.openxmlformats.org/drawingml/2006/main" w="28575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DA0DFCD-D31A-401D-A010-4CC3C549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7" y="2065445"/>
            <a:ext cx="502573" cy="3918208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rgbClr val="1D2F68">
                  <a:tint val="66000"/>
                  <a:satMod val="160000"/>
                </a:srgbClr>
              </a:gs>
              <a:gs pos="50000">
                <a:srgbClr val="1D2F68">
                  <a:tint val="44500"/>
                  <a:satMod val="160000"/>
                </a:srgbClr>
              </a:gs>
              <a:gs pos="100000">
                <a:srgbClr val="1D2F68">
                  <a:tint val="23500"/>
                  <a:satMod val="160000"/>
                </a:srgbClr>
              </a:gs>
            </a:gsLst>
            <a:lin ang="2700000" scaled="1"/>
            <a:tileRect/>
          </a:gradFill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vert="vert270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Aviation Research Division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ANG-E2, Mike Paglione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FA0E4A-6392-4E62-B94D-F903F30C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78" y="3839575"/>
            <a:ext cx="1531127" cy="132305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rgbClr val="E1E604">
                  <a:tint val="66000"/>
                  <a:satMod val="160000"/>
                </a:srgbClr>
              </a:gs>
              <a:gs pos="50000">
                <a:srgbClr val="E1E604">
                  <a:tint val="44500"/>
                  <a:satMod val="160000"/>
                </a:srgbClr>
              </a:gs>
              <a:gs pos="100000">
                <a:srgbClr val="E1E604">
                  <a:tint val="23500"/>
                  <a:satMod val="160000"/>
                </a:srgbClr>
              </a:gs>
            </a:gsLst>
            <a:lin ang="2700000" scaled="1"/>
            <a:tileRect/>
          </a:gradFill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Airport Pavement R&amp;D Section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ANG-E262, Murphy Flynn, Acting</a:t>
            </a:r>
          </a:p>
        </p:txBody>
      </p:sp>
      <p:cxnSp>
        <p:nvCxnSpPr>
          <p:cNvPr id="212" name="Elbow Connector 211">
            <a:extLst xmlns:a="http://schemas.openxmlformats.org/drawingml/2006/main">
              <a:ext uri="{FF2B5EF4-FFF2-40B4-BE49-F238E27FC236}">
                <a16:creationId xmlns:a16="http://schemas.microsoft.com/office/drawing/2014/main" id="{994B839F-7349-4875-A33D-A28EF9354E29}"/>
              </a:ext>
            </a:extLst>
          </p:cNvPr>
          <p:cNvCxnSpPr/>
          <p:nvPr/>
        </p:nvCxnSpPr>
        <p:spPr>
          <a:xfrm xmlns:a="http://schemas.openxmlformats.org/drawingml/2006/main">
            <a:off x="3766051" y="1750577"/>
            <a:ext cx="1219200" cy="1219200"/>
          </a:xfrm>
          <a:prstGeom xmlns:a="http://schemas.openxmlformats.org/drawingml/2006/main" prst="bentConnector3">
            <a:avLst/>
          </a:prstGeom>
          <a:ln xmlns:a="http://schemas.openxmlformats.org/drawingml/2006/main">
            <a:noFill/>
            <a:tailEnd type="triangle"/>
          </a:ln>
        </p:spPr>
      </p:cxn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E72EC34F-E3E1-4C22-96C0-48734F96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77" y="2785030"/>
            <a:ext cx="1531127" cy="91281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rgbClr val="E1E604">
                  <a:tint val="66000"/>
                  <a:satMod val="160000"/>
                </a:srgbClr>
              </a:gs>
              <a:gs pos="50000">
                <a:srgbClr val="E1E604">
                  <a:tint val="44500"/>
                  <a:satMod val="160000"/>
                </a:srgbClr>
              </a:gs>
              <a:gs pos="100000">
                <a:srgbClr val="E1E604">
                  <a:tint val="23500"/>
                  <a:satMod val="160000"/>
                </a:srgbClr>
              </a:gs>
            </a:gsLst>
            <a:lin ang="2700000" scaled="1"/>
            <a:tileRect/>
          </a:gradFill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Airport Safety R&amp;D Section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ANG-E261, Ryan King, Acting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97B7B0E-A7AE-4677-80CC-1D7B186B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705" y="2563353"/>
            <a:ext cx="1706644" cy="29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David Brill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F857CC42-574E-4834-B603-52B67B43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703" y="2981482"/>
            <a:ext cx="1706644" cy="29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Navneet Garg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2D7B95E5-A4DA-46A2-85BB-D9B3FE0D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703" y="3394960"/>
            <a:ext cx="1706644" cy="29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Qingge Jia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DE665586-5B73-4602-B637-30783E93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702" y="3820540"/>
            <a:ext cx="1706647" cy="29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Ryan Rutter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9179E2C2-6DD4-480F-817B-32E043B3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703" y="4238669"/>
            <a:ext cx="1706645" cy="29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Wilfredo Villafane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D7282A8A-7B2F-4464-925E-AE417C5C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360" y="4656796"/>
            <a:ext cx="1706645" cy="29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Richard Ji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582AB963-819E-4C66-8843-85379761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10" y="5090114"/>
            <a:ext cx="1706645" cy="29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DDDDD"/>
            </a:solidFill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333" b="1">
                <a:solidFill>
                  <a:schemeClr val="tx1"/>
                </a:solidFill>
              </a:rPr>
              <a:t>Matthew Brynick</a:t>
            </a:r>
          </a:p>
        </p:txBody>
      </p:sp>
      <p:cxnSp>
        <p:nvCxnSpPr>
          <p:cNvPr id="63" name="Elbow Connector 62">
            <a:extLst xmlns:a="http://schemas.openxmlformats.org/drawingml/2006/main">
              <a:ext uri="{FF2B5EF4-FFF2-40B4-BE49-F238E27FC236}">
                <a16:creationId xmlns:a16="http://schemas.microsoft.com/office/drawing/2014/main" id="{098422DE-1005-480F-BD3B-4CA49AF53E34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 flipV="1">
            <a:off x="4821605" y="2712080"/>
            <a:ext cx="295100" cy="1789022"/>
          </a:xfrm>
          <a:prstGeom xmlns:a="http://schemas.openxmlformats.org/drawingml/2006/main" prst="bentConnector3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Elbow Connector 67">
            <a:extLst xmlns:a="http://schemas.openxmlformats.org/drawingml/2006/main">
              <a:ext uri="{FF2B5EF4-FFF2-40B4-BE49-F238E27FC236}">
                <a16:creationId xmlns:a16="http://schemas.microsoft.com/office/drawing/2014/main" id="{0750B288-642E-4DB5-9B96-BCFB761B9EA5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V="1">
            <a:off x="4821605" y="3543687"/>
            <a:ext cx="295098" cy="95741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1" name="Elbow Connector 70">
            <a:extLst xmlns:a="http://schemas.openxmlformats.org/drawingml/2006/main">
              <a:ext uri="{FF2B5EF4-FFF2-40B4-BE49-F238E27FC236}">
                <a16:creationId xmlns:a16="http://schemas.microsoft.com/office/drawing/2014/main" id="{E3337C7B-87E6-4AA6-AE78-7ADC498F0854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V="1">
            <a:off x="4821605" y="3130209"/>
            <a:ext cx="295098" cy="137089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7" name="Elbow Connector 76">
            <a:extLst xmlns:a="http://schemas.openxmlformats.org/drawingml/2006/main">
              <a:ext uri="{FF2B5EF4-FFF2-40B4-BE49-F238E27FC236}">
                <a16:creationId xmlns:a16="http://schemas.microsoft.com/office/drawing/2014/main" id="{DAB62DF2-12CB-4A27-85C2-EB076F4BA93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V="1">
            <a:off x="4821605" y="3969267"/>
            <a:ext cx="295097" cy="53183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2" name="Elbow Connector 81">
            <a:extLst xmlns:a="http://schemas.openxmlformats.org/drawingml/2006/main">
              <a:ext uri="{FF2B5EF4-FFF2-40B4-BE49-F238E27FC236}">
                <a16:creationId xmlns:a16="http://schemas.microsoft.com/office/drawing/2014/main" id="{D873DFD8-75E9-44B9-9857-9D567A794BD4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4821605" y="4387396"/>
            <a:ext cx="295098" cy="11370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9" name="Elbow Connector 88">
            <a:extLst xmlns:a="http://schemas.openxmlformats.org/drawingml/2006/main">
              <a:ext uri="{FF2B5EF4-FFF2-40B4-BE49-F238E27FC236}">
                <a16:creationId xmlns:a16="http://schemas.microsoft.com/office/drawing/2014/main" id="{D8468195-8A8D-4F81-8193-867A754A3E7A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4821605" y="4501102"/>
            <a:ext cx="298805" cy="73773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3" name="Elbow Connector 92">
            <a:extLst xmlns:a="http://schemas.openxmlformats.org/drawingml/2006/main">
              <a:ext uri="{FF2B5EF4-FFF2-40B4-BE49-F238E27FC236}">
                <a16:creationId xmlns:a16="http://schemas.microsoft.com/office/drawing/2014/main" id="{AFDC0848-270E-4346-8DE6-B8D03DFE44C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4821605" y="4501102"/>
            <a:ext cx="293755" cy="3044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8" name="Elbow Connector 167">
            <a:extLst xmlns:a="http://schemas.openxmlformats.org/drawingml/2006/main">
              <a:ext uri="{FF2B5EF4-FFF2-40B4-BE49-F238E27FC236}">
                <a16:creationId xmlns:a16="http://schemas.microsoft.com/office/drawing/2014/main" id="{EA1A35C8-B3BB-4439-9B70-61407AA296AB}"/>
              </a:ext>
            </a:extLst>
          </p:cNvPr>
          <p:cNvCxnSpPr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564400" y="2330583"/>
            <a:ext cx="319175" cy="1693966"/>
          </a:xfrm>
          <a:prstGeom xmlns:a="http://schemas.openxmlformats.org/drawingml/2006/main" prst="bentConnector5">
            <a:avLst>
              <a:gd name="adj1" fmla="val 71622"/>
              <a:gd name="adj2" fmla="val 50000"/>
              <a:gd name="adj3" fmla="val 28378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1" name="Elbow Connector 170">
            <a:extLst xmlns:a="http://schemas.openxmlformats.org/drawingml/2006/main">
              <a:ext uri="{FF2B5EF4-FFF2-40B4-BE49-F238E27FC236}">
                <a16:creationId xmlns:a16="http://schemas.microsoft.com/office/drawing/2014/main" id="{0A26E868-65D8-4FCF-9B4E-F0649D3AF43B}"/>
              </a:ext>
            </a:extLst>
          </p:cNvPr>
          <p:cNvCxnSpPr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64400" y="4024549"/>
            <a:ext cx="319170" cy="1588138"/>
          </a:xfrm>
          <a:prstGeom xmlns:a="http://schemas.openxmlformats.org/drawingml/2006/main" prst="bentConnector5">
            <a:avLst>
              <a:gd name="adj1" fmla="val 71623"/>
              <a:gd name="adj2" fmla="val 46771"/>
              <a:gd name="adj3" fmla="val 28377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88" name="Elbow Connector 187">
            <a:extLst xmlns:a="http://schemas.openxmlformats.org/drawingml/2006/main">
              <a:ext uri="{FF2B5EF4-FFF2-40B4-BE49-F238E27FC236}">
                <a16:creationId xmlns:a16="http://schemas.microsoft.com/office/drawing/2014/main" id="{6067C6BE-8169-4983-B2A8-736AA3DE6B0F}"/>
              </a:ext>
            </a:extLst>
          </p:cNvPr>
          <p:cNvCxnSpPr/>
          <p:nvPr/>
        </p:nvCxnSpPr>
        <p:spPr>
          <a:xfrm xmlns:a="http://schemas.openxmlformats.org/drawingml/2006/main">
            <a:off x="564400" y="4024549"/>
            <a:ext cx="319171" cy="760620"/>
          </a:xfrm>
          <a:prstGeom xmlns:a="http://schemas.openxmlformats.org/drawingml/2006/main" prst="bentConnector4">
            <a:avLst>
              <a:gd name="adj1" fmla="val 71623"/>
              <a:gd name="adj2" fmla="val 66518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C9DA5473-956A-49DF-8CC6-748CE1861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1383bc8664b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7958" y="1102483"/>
            <a:ext cx="3546937" cy="3474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603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F00837-FF9B-4894-9634-91F590BA29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273505"/>
            <a:ext cx="11296651" cy="60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/>
              <a:t>What We Do</a:t>
            </a:r>
          </a:p>
        </p:txBody>
      </p:sp>
      <p:sp>
        <p:nvSpPr>
          <p:cNvPr id="4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7CAFE95-7C40-4868-AC49-302AFE29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73" y="1258432"/>
            <a:ext cx="11268363" cy="4480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 algn="l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3200">
                <a:latin typeface="+mj-lt"/>
                <a:ea typeface="+mj-lt"/>
                <a:cs typeface="+mj-lt"/>
              </a:rPr>
              <a:t>Aviation Research Division Mission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2667">
                <a:latin typeface="+mj-lt"/>
                <a:ea typeface="+mj-lt"/>
                <a:cs typeface="+mj-lt"/>
              </a:rPr>
              <a:t>Develop scientific solutions to current and future air transportation challenges by conducting </a:t>
            </a:r>
            <a:r>
              <a:rPr sz="2667" u="sng">
                <a:latin typeface="+mj-lt"/>
                <a:ea typeface="+mj-lt"/>
                <a:cs typeface="+mj-lt"/>
              </a:rPr>
              <a:t>applied</a:t>
            </a:r>
            <a:r>
              <a:rPr sz="2667">
                <a:latin typeface="+mj-lt"/>
                <a:ea typeface="+mj-lt"/>
                <a:cs typeface="+mj-lt"/>
              </a:rPr>
              <a:t> research and development in </a:t>
            </a:r>
            <a:r>
              <a:rPr sz="2667" u="sng">
                <a:latin typeface="+mj-lt"/>
                <a:ea typeface="+mj-lt"/>
                <a:cs typeface="+mj-lt"/>
              </a:rPr>
              <a:t>collaboration</a:t>
            </a:r>
            <a:r>
              <a:rPr sz="2667">
                <a:latin typeface="+mj-lt"/>
                <a:ea typeface="+mj-lt"/>
                <a:cs typeface="+mj-lt"/>
              </a:rPr>
              <a:t> with industry, academia, and government.</a:t>
            </a: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7D7CB257-BFF4-4E4E-9689-ED4B958FF7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7c66376b546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34028" y="3006436"/>
            <a:ext cx="7450053" cy="29871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94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76D342A4-719C-4D20-A0DE-957B5683A4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59ffffe56d40e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99894" y="3501570"/>
            <a:ext cx="3309257" cy="2237244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79A725D-B4C6-4417-BAD6-68E978F826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8113ffc9449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8747" y="1988929"/>
            <a:ext cx="3266319" cy="2201215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024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0E82244-24B6-45C5-A484-1C99435A2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4874" y="1258432"/>
            <a:ext cx="6567052" cy="44803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2000">
                <a:latin typeface="+mj-lt"/>
                <a:ea typeface="+mj-lt"/>
                <a:cs typeface="+mj-lt"/>
              </a:rPr>
              <a:t>Research Conducted at the FAA William J. Hughes Technical Center, Atlantic City International Airport, NJ, USA.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600">
                <a:latin typeface="+mj-lt"/>
                <a:ea typeface="+mj-lt"/>
                <a:cs typeface="+mj-lt"/>
              </a:rPr>
              <a:t>ANG-E262 Airport Pavement R&amp;D Section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2000">
                <a:latin typeface="+mj-lt"/>
                <a:ea typeface="+mj-lt"/>
                <a:cs typeface="+mj-lt"/>
              </a:rPr>
              <a:t>Sponsor: FAA Office of Airport Safety and Standards, Washington, DC. 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600">
                <a:latin typeface="+mj-lt"/>
                <a:ea typeface="+mj-lt"/>
                <a:cs typeface="+mj-lt"/>
              </a:rPr>
              <a:t>AAS-100 Airport Engineering Division (Michael Meyers)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600">
                <a:latin typeface="+mj-lt"/>
                <a:ea typeface="+mj-lt"/>
                <a:cs typeface="+mj-lt"/>
              </a:rPr>
              <a:t>AAS-110 Airport Engineering Division (Alberto Cruz, Harold Honey, Jeffrey Crislip)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600">
                <a:latin typeface="+mj-lt"/>
                <a:ea typeface="+mj-lt"/>
                <a:cs typeface="+mj-lt"/>
              </a:rPr>
              <a:t>AAS-120 Airport Data and Airspace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600">
                <a:latin typeface="+mj-lt"/>
                <a:ea typeface="+mj-lt"/>
                <a:cs typeface="+mj-lt"/>
              </a:rPr>
              <a:t>AAS-200 Airports Emerging Entrants Division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2000">
                <a:latin typeface="+mj-lt"/>
                <a:ea typeface="+mj-lt"/>
                <a:cs typeface="+mj-lt"/>
              </a:rPr>
              <a:t>Provide Support for Development of FAA Pavement Standards 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600">
                <a:latin typeface="+mj-lt"/>
                <a:ea typeface="+mj-lt"/>
                <a:cs typeface="+mj-lt"/>
              </a:rPr>
              <a:t>Advisory Circulars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600">
                <a:latin typeface="+mj-lt"/>
                <a:ea typeface="+mj-lt"/>
                <a:cs typeface="+mj-lt"/>
              </a:rPr>
              <a:t>Engineering Briefs</a:t>
            </a:r>
          </a:p>
        </p:txBody>
      </p:sp>
      <p:sp>
        <p:nvSpPr>
          <p:cNvPr id="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6191A3-9933-42CC-94CC-3555F6B63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5781" y="244900"/>
            <a:ext cx="10788073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/>
              <a:t>ANG-E262 Airport Pavement R&amp;D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A53569D-3723-4E69-A8E0-04523CDFFE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c54d08fe642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1199" y="920384"/>
            <a:ext cx="3628559" cy="1698184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0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86094EC-32BD-41C0-9093-9C6B8AF31A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834188" y="4686300"/>
            <a:ext cx="170731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spcBef>
                <a:spcPct val="0"/>
              </a:spcBef>
              <a:spcAft>
                <a:spcPct val="0"/>
              </a:spcAft>
              <a:buFontTx/>
              <a:buNone/>
              <a:defRPr sz="1400" b="0" i="0" kern="1200">
                <a:solidFill>
                  <a:schemeClr val="bg1">
                    <a:lumMod val="6500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lvl1pPr>
            <a:lvl2pPr marL="4572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78D3ABA1-EA94-43C0-B992-7CBCC31144F1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55933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74" name="Picture 2">
            <a:extLst xmlns:a="http://schemas.openxmlformats.org/drawingml/2006/main">
              <a:ext uri="{FF2B5EF4-FFF2-40B4-BE49-F238E27FC236}">
                <a16:creationId xmlns:a16="http://schemas.microsoft.com/office/drawing/2014/main" id="{C5770E7A-FD38-4798-99B5-02AB6BCDED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50c0cbe7645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7880" y="1357978"/>
            <a:ext cx="7266417" cy="4431413"/>
          </a:xfrm>
          <a:prstGeom xmlns:a="http://schemas.openxmlformats.org/drawingml/2006/main" prst="rect">
            <a:avLst/>
          </a:prstGeom>
          <a:ln xmlns:a="http://schemas.openxmlformats.org/drawingml/2006/main" w="31750" cmpd="sng">
            <a:solidFill>
              <a:schemeClr val="tx1"/>
            </a:solidFill>
            <a:miter/>
          </a:ln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2C022B-B8B2-4583-8D73-0258D8A6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213" y="5051835"/>
            <a:ext cx="1015455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FontTx/>
              <a:buNone/>
            </a:pPr>
            <a:r>
              <a:rPr sz="1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NAPTF</a:t>
            </a:r>
          </a:p>
        </p:txBody>
      </p:sp>
      <p:cxnSp>
        <p:nvCxnSpPr>
          <p:cNvPr id="7" name="Straight Arrow Connector 6">
            <a:extLst xmlns:a="http://schemas.openxmlformats.org/drawingml/2006/main">
              <a:ext uri="{FF2B5EF4-FFF2-40B4-BE49-F238E27FC236}">
                <a16:creationId xmlns:a16="http://schemas.microsoft.com/office/drawing/2014/main" id="{11CA9049-F7AA-4EAD-8FFB-F8EB3184EE7C}"/>
              </a:ext>
            </a:extLst>
          </p:cNvPr>
          <p:cNvCxnSpPr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72540" y="4590109"/>
            <a:ext cx="1045673" cy="615615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3" name="Straight Arrow Connector 22">
            <a:extLst xmlns:a="http://schemas.openxmlformats.org/drawingml/2006/main">
              <a:ext uri="{FF2B5EF4-FFF2-40B4-BE49-F238E27FC236}">
                <a16:creationId xmlns:a16="http://schemas.microsoft.com/office/drawing/2014/main" id="{FFF01723-D2C2-492E-AE7B-BBA90BF7D1ED}"/>
              </a:ext>
            </a:extLst>
          </p:cNvPr>
          <p:cNvCxnSpPr/>
          <p:nvPr/>
        </p:nvCxnSpPr>
        <p:spPr>
          <a:xfrm xmlns:a="http://schemas.openxmlformats.org/drawingml/2006/main" flipH="1">
            <a:off x="4529752" y="4951762"/>
            <a:ext cx="543209" cy="415529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D75DE03-EF72-4138-94BE-54CDB12C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36" y="5105681"/>
            <a:ext cx="1128665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FontTx/>
              <a:buNone/>
            </a:pPr>
            <a:r>
              <a:rPr sz="1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Materials Laboratory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2FAC7D2-2BBD-407A-B078-D97D97DE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240" y="4528615"/>
            <a:ext cx="1125645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FontTx/>
              <a:buNone/>
            </a:pPr>
            <a:r>
              <a:rPr sz="1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Soil Processing</a:t>
            </a:r>
          </a:p>
        </p:txBody>
      </p:sp>
      <p:cxnSp>
        <p:nvCxnSpPr>
          <p:cNvPr id="29" name="Straight Arrow Connector 28">
            <a:extLst xmlns:a="http://schemas.openxmlformats.org/drawingml/2006/main">
              <a:ext uri="{FF2B5EF4-FFF2-40B4-BE49-F238E27FC236}">
                <a16:creationId xmlns:a16="http://schemas.microsoft.com/office/drawing/2014/main" id="{BE2B0B17-5BC4-483E-9AC1-F5D2953DB60B}"/>
              </a:ext>
            </a:extLst>
          </p:cNvPr>
          <p:cNvCxnSpPr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105340" y="3866859"/>
            <a:ext cx="37723" cy="66175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1DA7808-A6F2-4F76-BDB2-11E4C52D37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381" y="344488"/>
            <a:ext cx="11868728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/>
              <a:t>Airport Pavement R&amp;D Section Facility Layout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218059FB-6054-4252-8B50-782222E5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971" y="3763781"/>
            <a:ext cx="1309735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FontTx/>
              <a:buNone/>
            </a:pPr>
            <a:r>
              <a:rPr sz="1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Office Space</a:t>
            </a:r>
          </a:p>
        </p:txBody>
      </p:sp>
      <p:cxnSp>
        <p:nvCxnSpPr>
          <p:cNvPr id="42" name="Straight Arrow Connector 41">
            <a:extLst xmlns:a="http://schemas.openxmlformats.org/drawingml/2006/main">
              <a:ext uri="{FF2B5EF4-FFF2-40B4-BE49-F238E27FC236}">
                <a16:creationId xmlns:a16="http://schemas.microsoft.com/office/drawing/2014/main" id="{59D6ED7F-886B-496A-9EC5-E4154BE64F56}"/>
              </a:ext>
            </a:extLst>
          </p:cNvPr>
          <p:cNvCxnSpPr>
            <a:endCxn xmlns:a="http://schemas.openxmlformats.org/drawingml/2006/main" id="41" idx="2"/>
          </p:cNvCxnSpPr>
          <p:nvPr/>
        </p:nvCxnSpPr>
        <p:spPr>
          <a:xfrm xmlns:a="http://schemas.openxmlformats.org/drawingml/2006/main" flipV="1">
            <a:off x="5715755" y="4071558"/>
            <a:ext cx="1390084" cy="636247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F4FBCB1-737E-4831-AFBB-7219A162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887" y="1479122"/>
            <a:ext cx="1247116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Safety 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Technology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184D4D-4D14-48B4-81BD-8D7C151A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639467">
            <a:off x="6400595" y="3160376"/>
            <a:ext cx="613547" cy="461665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bg1"/>
              </a:gs>
              <a:gs pos="93000">
                <a:srgbClr val="FFFF00">
                  <a:alpha val="23000"/>
                </a:srgb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defTabSz="914377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3440DCE-8FFA-40E8-B27C-8589C667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950" y="1602109"/>
            <a:ext cx="1056239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FontTx/>
              <a:buNone/>
            </a:pPr>
            <a:r>
              <a:rPr sz="1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NAPMRC</a:t>
            </a:r>
          </a:p>
        </p:txBody>
      </p:sp>
      <p:cxnSp>
        <p:nvCxnSpPr>
          <p:cNvPr id="19" name="Straight Arrow Connector 18">
            <a:extLst xmlns:a="http://schemas.openxmlformats.org/drawingml/2006/main">
              <a:ext uri="{FF2B5EF4-FFF2-40B4-BE49-F238E27FC236}">
                <a16:creationId xmlns:a16="http://schemas.microsoft.com/office/drawing/2014/main" id="{11332C3E-6B0F-42E9-89D4-5CB1937D92C0}"/>
              </a:ext>
            </a:extLst>
          </p:cNvPr>
          <p:cNvCxnSpPr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5626445" y="2002342"/>
            <a:ext cx="484644" cy="1571345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7" name="Straight Arrow Connector 16">
            <a:extLst xmlns:a="http://schemas.openxmlformats.org/drawingml/2006/main">
              <a:ext uri="{FF2B5EF4-FFF2-40B4-BE49-F238E27FC236}">
                <a16:creationId xmlns:a16="http://schemas.microsoft.com/office/drawing/2014/main" id="{11E910BE-6B4F-466C-A780-89462E7BE277}"/>
              </a:ext>
            </a:extLst>
          </p:cNvPr>
          <p:cNvCxnSpPr>
            <a:endCxn xmlns:a="http://schemas.openxmlformats.org/drawingml/2006/main" id="16" idx="2"/>
          </p:cNvCxnSpPr>
          <p:nvPr/>
        </p:nvCxnSpPr>
        <p:spPr>
          <a:xfrm xmlns:a="http://schemas.openxmlformats.org/drawingml/2006/main" flipH="1" flipV="1">
            <a:off x="3229070" y="1909886"/>
            <a:ext cx="2269403" cy="157569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A12EB7E-BCD3-4F5D-A785-D06C1E6B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49" y="1810765"/>
            <a:ext cx="1099620" cy="600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1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Future </a:t>
            </a:r>
          </a:p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1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Asphalt Pavement Lab</a:t>
            </a:r>
          </a:p>
        </p:txBody>
      </p:sp>
      <p:cxnSp>
        <p:nvCxnSpPr>
          <p:cNvPr id="26" name="Straight Arrow Connector 25">
            <a:extLst xmlns:a="http://schemas.openxmlformats.org/drawingml/2006/main">
              <a:ext uri="{FF2B5EF4-FFF2-40B4-BE49-F238E27FC236}">
                <a16:creationId xmlns:a16="http://schemas.microsoft.com/office/drawing/2014/main" id="{61DCA5DF-12CF-448A-930A-0BA5DCA3EF65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7002245" y="2410929"/>
            <a:ext cx="1203214" cy="89567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1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C68E057-06C9-4A67-BD45-E02FD12565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834188" y="4686300"/>
            <a:ext cx="170731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spcBef>
                <a:spcPct val="0"/>
              </a:spcBef>
              <a:spcAft>
                <a:spcPct val="0"/>
              </a:spcAft>
              <a:buFontTx/>
              <a:buNone/>
              <a:defRPr sz="1400" b="0" i="0" kern="1200">
                <a:solidFill>
                  <a:schemeClr val="bg1">
                    <a:lumMod val="6500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lvl1pPr>
            <a:lvl2pPr marL="4572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78D3ABA1-EA94-43C0-B992-7CBCC31144F1}" type="slidenum"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65642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1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4E8E9B-3EEB-4287-B58D-642DBA63A5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latin typeface="Times New Roman"/>
                <a:ea typeface="Times New Roman"/>
                <a:cs typeface="Times New Roman"/>
              </a:rPr>
              <a:t>National Airport Pavement Test Facility (NAPTF)</a:t>
            </a:r>
          </a:p>
        </p:txBody>
      </p:sp>
      <p:sp>
        <p:nvSpPr>
          <p:cNvPr id="15258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057A1D7-6673-4536-8D3F-8944C1202E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6400" y="954089"/>
            <a:ext cx="6834909" cy="481296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latin typeface="+mj-lt"/>
                <a:ea typeface="+mj-lt"/>
                <a:cs typeface="+mj-lt"/>
              </a:rPr>
              <a:t>NAPTF Facts: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133" b="0">
                <a:latin typeface="+mj-lt"/>
                <a:ea typeface="+mj-lt"/>
                <a:cs typeface="+mj-lt"/>
              </a:rPr>
              <a:t>FAA / Boeing (CRDA) Partnership at $21M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133" b="0">
                <a:latin typeface="+mj-lt"/>
                <a:ea typeface="+mj-lt"/>
                <a:cs typeface="+mj-lt"/>
              </a:rPr>
              <a:t>Opened April 1999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133" b="0">
                <a:latin typeface="+mj-lt"/>
                <a:ea typeface="+mj-lt"/>
                <a:cs typeface="+mj-lt"/>
              </a:rPr>
              <a:t>Fully Enclosed Facility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133" b="0">
                <a:latin typeface="+mj-lt"/>
                <a:ea typeface="+mj-lt"/>
                <a:cs typeface="+mj-lt"/>
              </a:rPr>
              <a:t>Accelerated Traffic Testing 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133" b="0">
                <a:latin typeface="+mj-lt"/>
                <a:ea typeface="+mj-lt"/>
                <a:cs typeface="+mj-lt"/>
              </a:rPr>
              <a:t>900 ft. x 65 ft. of Test Pavement Surface 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133" b="0">
                <a:latin typeface="+mj-lt"/>
                <a:ea typeface="+mj-lt"/>
                <a:cs typeface="+mj-lt"/>
              </a:rPr>
              <a:t>Full-scale Pavement Structures and Landing Gear Loads </a:t>
            </a:r>
          </a:p>
          <a:p xmlns:a="http://schemas.openxmlformats.org/drawingml/2006/main">
            <a:pPr marL="0" indent="0">
              <a:buNone/>
            </a:pPr>
            <a:r>
              <a:rPr sz="2400">
                <a:latin typeface="+mj-lt"/>
                <a:ea typeface="+mj-lt"/>
                <a:cs typeface="+mj-lt"/>
              </a:rPr>
              <a:t>NAPTV Facts:</a:t>
            </a:r>
          </a:p>
          <a:p xmlns:a="http://schemas.openxmlformats.org/drawingml/2006/main">
            <a:pPr marL="152396" lvl="1">
              <a:buFont typeface="Arial"/>
              <a:buChar char="•"/>
            </a:pPr>
            <a:r>
              <a:rPr sz="2133">
                <a:latin typeface="+mj-lt"/>
                <a:ea typeface="+mj-lt"/>
                <a:cs typeface="+mj-lt"/>
              </a:rPr>
              <a:t>Fully Automated &amp; Programmed Wander Patterns</a:t>
            </a:r>
          </a:p>
          <a:p xmlns:a="http://schemas.openxmlformats.org/drawingml/2006/main">
            <a:pPr marL="152396" lvl="1">
              <a:buFont typeface="Arial"/>
              <a:buChar char="•"/>
            </a:pPr>
            <a:r>
              <a:rPr sz="2133">
                <a:latin typeface="+mj-lt"/>
                <a:ea typeface="+mj-lt"/>
                <a:cs typeface="+mj-lt"/>
              </a:rPr>
              <a:t>Up to 5-dual wheel configuration</a:t>
            </a:r>
          </a:p>
          <a:p xmlns:a="http://schemas.openxmlformats.org/drawingml/2006/main">
            <a:pPr marL="152396" lvl="1">
              <a:buFont typeface="Arial"/>
              <a:buChar char="•"/>
            </a:pPr>
            <a:r>
              <a:rPr sz="2133">
                <a:latin typeface="+mj-lt"/>
                <a:ea typeface="+mj-lt"/>
                <a:cs typeface="+mj-lt"/>
              </a:rPr>
              <a:t>Roughly 1.3 million lbs.</a:t>
            </a:r>
          </a:p>
          <a:p xmlns:a="http://schemas.openxmlformats.org/drawingml/2006/main">
            <a:pPr marL="152396" lvl="1">
              <a:buFont typeface="Arial"/>
              <a:buChar char="•"/>
            </a:pPr>
            <a:r>
              <a:rPr sz="2133">
                <a:latin typeface="+mj-lt"/>
                <a:ea typeface="+mj-lt"/>
                <a:cs typeface="+mj-lt"/>
              </a:rPr>
              <a:t>Up to 75,000 lbs. per wheel</a:t>
            </a:r>
          </a:p>
        </p:txBody>
      </p:sp>
      <p:pic>
        <p:nvPicPr>
          <p:cNvPr id="13317" name="Picture 6">
            <a:extLst xmlns:a="http://schemas.openxmlformats.org/drawingml/2006/main">
              <a:ext uri="{FF2B5EF4-FFF2-40B4-BE49-F238E27FC236}">
                <a16:creationId xmlns:a16="http://schemas.microsoft.com/office/drawing/2014/main" id="{FA4C776A-8BEB-4645-8BDD-C6504AF055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e3fe9b89b4d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7817" y="3417052"/>
            <a:ext cx="3437752" cy="2578315"/>
          </a:xfrm>
          <a:prstGeom xmlns:a="http://schemas.openxmlformats.org/drawingml/2006/main" prst="rect">
            <a:avLst/>
          </a:prstGeom>
          <a:ln xmlns:a="http://schemas.openxmlformats.org/drawingml/2006/main" w="25400">
            <a:solidFill>
              <a:schemeClr val="tx1"/>
            </a:solidFill>
            <a:miter/>
          </a:ln>
          <a:effectLst xmlns:a="http://schemas.openxmlformats.org/drawingml/2006/main">
            <a:softEdge rad="31750"/>
          </a:effectLst>
        </p:spPr>
      </p:pic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ECF9760A-6E17-47AA-AE2A-107189BE5C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e1ef9da8a4d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3596" y="954089"/>
            <a:ext cx="4374555" cy="2460687"/>
          </a:xfrm>
          <a:prstGeom xmlns:a="http://schemas.openxmlformats.org/drawingml/2006/main" prst="rect">
            <a:avLst/>
          </a:prstGeom>
          <a:ln xmlns:a="http://schemas.openxmlformats.org/drawingml/2006/main" w="25400">
            <a:noFill/>
          </a:ln>
          <a:effectLst xmlns:a="http://schemas.openxmlformats.org/drawingml/2006/main">
            <a:softEdge rad="31750"/>
          </a:effectLst>
        </p:spPr>
      </p:pic>
      <p:sp>
        <p:nvSpPr>
          <p:cNvPr id="8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C74BEE6-E5BD-4242-B140-3984925E0C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834188" y="4686300"/>
            <a:ext cx="170731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spcBef>
                <a:spcPct val="0"/>
              </a:spcBef>
              <a:spcAft>
                <a:spcPct val="0"/>
              </a:spcAft>
              <a:buFontTx/>
              <a:buNone/>
              <a:defRPr sz="1400" b="0" i="0" kern="1200">
                <a:solidFill>
                  <a:schemeClr val="bg1">
                    <a:lumMod val="6500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lvl1pPr>
            <a:lvl2pPr marL="4572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78D3ABA1-EA94-43C0-B992-7CBCC31144F1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85793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1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9177849-5A95-4456-9C41-7285C2710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200">
                <a:latin typeface="Times New Roman"/>
                <a:ea typeface="Times New Roman"/>
                <a:cs typeface="Times New Roman"/>
              </a:rPr>
              <a:t>National Airport Pavement Materials Research Center (NAPMRC)</a:t>
            </a:r>
          </a:p>
        </p:txBody>
      </p:sp>
      <p:sp>
        <p:nvSpPr>
          <p:cNvPr id="15258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405B701-57DB-481E-873C-49BD6D0C0B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71500" y="1228436"/>
            <a:ext cx="4942609" cy="33620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NAPMRC Facts: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133" b="0">
                <a:latin typeface="Times New Roman"/>
                <a:ea typeface="Times New Roman"/>
                <a:cs typeface="Times New Roman"/>
              </a:rPr>
              <a:t>Dedication Ceremony August 2015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133" b="0">
                <a:latin typeface="Times New Roman"/>
                <a:ea typeface="Times New Roman"/>
                <a:cs typeface="Times New Roman"/>
              </a:rPr>
              <a:t>Indoor and Outdoor Testing Capability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133" b="0">
                <a:latin typeface="Times New Roman"/>
                <a:ea typeface="Times New Roman"/>
                <a:cs typeface="Times New Roman"/>
              </a:rPr>
              <a:t>Accelerated Traffic Testing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133" b="0">
                <a:latin typeface="Times New Roman"/>
                <a:ea typeface="Times New Roman"/>
                <a:cs typeface="Times New Roman"/>
              </a:rPr>
              <a:t>Outdoor: 150ft. × 300ft. &amp; Indoor: 72ft. × 300ft.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133" b="0">
                <a:latin typeface="Times New Roman"/>
                <a:ea typeface="Times New Roman"/>
                <a:cs typeface="Times New Roman"/>
              </a:rPr>
              <a:t>Accelerated resurfacing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6A27AFA6-67F2-4C86-956D-B862165CB69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514107" y="858982"/>
            <a:ext cx="6428512" cy="341910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Heavy Vehicle Simulator – (HVS-A) Facts:</a:t>
            </a:r>
          </a:p>
          <a:p xmlns:a="http://schemas.openxmlformats.org/drawingml/2006/main">
            <a:pPr marL="152396" lvl="1">
              <a:buFont typeface="Arial"/>
              <a:buChar char="•"/>
            </a:pPr>
            <a:r>
              <a:rPr sz="2133">
                <a:latin typeface="Times New Roman"/>
                <a:ea typeface="Times New Roman"/>
                <a:cs typeface="Times New Roman"/>
              </a:rPr>
              <a:t>Temperature Control Capability up to 150°F </a:t>
            </a:r>
          </a:p>
          <a:p xmlns:a="http://schemas.openxmlformats.org/drawingml/2006/main">
            <a:pPr marL="152396" lvl="1">
              <a:buFont typeface="Arial"/>
              <a:buChar char="•"/>
            </a:pPr>
            <a:r>
              <a:rPr sz="2133">
                <a:latin typeface="Times New Roman"/>
                <a:ea typeface="Times New Roman"/>
                <a:cs typeface="Times New Roman"/>
              </a:rPr>
              <a:t>Wheel Load Capacity 10,000 to 100,000 lbs.</a:t>
            </a:r>
          </a:p>
          <a:p xmlns:a="http://schemas.openxmlformats.org/drawingml/2006/main">
            <a:pPr marL="152396" lvl="1">
              <a:buFont typeface="Arial"/>
              <a:buChar char="•"/>
            </a:pPr>
            <a:r>
              <a:rPr sz="2133">
                <a:latin typeface="Times New Roman"/>
                <a:ea typeface="Times New Roman"/>
                <a:cs typeface="Times New Roman"/>
              </a:rPr>
              <a:t>Single Wheel – radial aircraft tire size 52×21.0R22</a:t>
            </a:r>
          </a:p>
          <a:p xmlns:a="http://schemas.openxmlformats.org/drawingml/2006/main">
            <a:pPr marL="152396" lvl="1">
              <a:buFont typeface="Arial"/>
              <a:buChar char="•"/>
            </a:pPr>
            <a:r>
              <a:rPr sz="2133">
                <a:latin typeface="Times New Roman"/>
                <a:ea typeface="Times New Roman"/>
                <a:cs typeface="Times New Roman"/>
              </a:rPr>
              <a:t>Dual Wheel (B737-800)</a:t>
            </a:r>
            <a:r>
              <a:rPr sz="1933">
                <a:latin typeface="Times New Roman"/>
                <a:ea typeface="Times New Roman"/>
                <a:cs typeface="Times New Roman"/>
              </a:rPr>
              <a:t> </a:t>
            </a:r>
          </a:p>
          <a:p xmlns:a="http://schemas.openxmlformats.org/drawingml/2006/main">
            <a:pPr marL="380990" lvl="1">
              <a:buFont typeface="Arial"/>
              <a:buChar char="•"/>
            </a:pPr>
            <a:r>
              <a:rPr sz="2133">
                <a:latin typeface="Times New Roman"/>
                <a:ea typeface="Times New Roman"/>
                <a:cs typeface="Times New Roman"/>
              </a:rPr>
              <a:t>Fully Automated &amp; Programmed Wander Patterns up to 6 ft. </a:t>
            </a:r>
          </a:p>
          <a:p xmlns:a="http://schemas.openxmlformats.org/drawingml/2006/main">
            <a:pPr marL="152396" lvl="1">
              <a:buFont typeface="Arial"/>
              <a:buChar char="•"/>
            </a:pPr>
            <a:r>
              <a:rPr sz="2133">
                <a:latin typeface="Times New Roman"/>
                <a:ea typeface="Times New Roman"/>
                <a:cs typeface="Times New Roman"/>
              </a:rPr>
              <a:t>Test Speeds 0.17 to 5 mph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74B3040-EA03-469A-BF37-1A683CF32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d1245145740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2654" y="3971638"/>
            <a:ext cx="8494343" cy="2020377"/>
          </a:xfrm>
          <a:prstGeom xmlns:a="http://schemas.openxmlformats.org/drawingml/2006/main" prst="rect">
            <a:avLst/>
          </a:prstGeom>
        </p:spPr>
      </p:pic>
      <p:sp>
        <p:nvSpPr>
          <p:cNvPr id="8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96A6310-D364-4406-A08D-E2DF88EB50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969125" y="4686300"/>
            <a:ext cx="1587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spcBef>
                <a:spcPct val="0"/>
              </a:spcBef>
              <a:spcAft>
                <a:spcPct val="0"/>
              </a:spcAft>
              <a:buFontTx/>
              <a:buNone/>
              <a:defRPr sz="1400" b="0" i="0" kern="1200">
                <a:solidFill>
                  <a:schemeClr val="bg1">
                    <a:lumMod val="6500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lvl1pPr>
            <a:lvl2pPr marL="4572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836266C2-23C9-4679-9EA6-D74DA6C8C265}" type="slidenum"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70539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 4">
            <a:extLst xmlns:a="http://schemas.openxmlformats.org/drawingml/2006/main">
              <a:ext uri="{FF2B5EF4-FFF2-40B4-BE49-F238E27FC236}">
                <a16:creationId xmlns:a16="http://schemas.microsoft.com/office/drawing/2014/main" id="{A791F8BC-8E47-42D5-B329-AD32D0DEBD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6401" y="344488"/>
            <a:ext cx="11194473" cy="60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latin typeface="Times New Roman"/>
                <a:ea typeface="Times New Roman"/>
                <a:cs typeface="Times New Roman"/>
              </a:rPr>
              <a:t>FAA NextGen Pavement Materials Lab</a:t>
            </a:r>
          </a:p>
        </p:txBody>
      </p:sp>
      <p:sp>
        <p:nvSpPr>
          <p:cNvPr id="14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247B280D-1BF2-4FEC-8222-C3B6ADEC9A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6327" y="1222218"/>
            <a:ext cx="7375647" cy="485530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67">
                <a:latin typeface="+mj-lt"/>
                <a:ea typeface="+mj-lt"/>
                <a:cs typeface="+mj-lt"/>
              </a:rPr>
              <a:t>2010:  Laboratory Opened</a:t>
            </a:r>
          </a:p>
          <a:p xmlns:a="http://schemas.openxmlformats.org/drawingml/2006/main">
            <a:r>
              <a:rPr sz="1867">
                <a:latin typeface="+mj-lt"/>
                <a:ea typeface="+mj-lt"/>
                <a:cs typeface="+mj-lt"/>
              </a:rPr>
              <a:t>2013:  AASHTO Material Reference Laboratory (AMRL) </a:t>
            </a:r>
          </a:p>
          <a:p xmlns:a="http://schemas.openxmlformats.org/drawingml/2006/main">
            <a:r>
              <a:rPr sz="1867">
                <a:latin typeface="+mj-lt"/>
                <a:ea typeface="+mj-lt"/>
                <a:cs typeface="+mj-lt"/>
              </a:rPr>
              <a:t>2013:  Cement and Concrete Reference Laboratory (CCRL) </a:t>
            </a:r>
          </a:p>
          <a:p xmlns:a="http://schemas.openxmlformats.org/drawingml/2006/main">
            <a:r>
              <a:rPr sz="1867">
                <a:latin typeface="+mj-lt"/>
                <a:ea typeface="+mj-lt"/>
                <a:cs typeface="+mj-lt"/>
              </a:rPr>
              <a:t>Full Test Capabilities: Asphalt, Concrete, Aggregate, Soils</a:t>
            </a:r>
          </a:p>
          <a:p xmlns:a="http://schemas.openxmlformats.org/drawingml/2006/main">
            <a:r>
              <a:rPr sz="1867">
                <a:latin typeface="+mj-lt"/>
                <a:ea typeface="+mj-lt"/>
                <a:cs typeface="+mj-lt"/>
              </a:rPr>
              <a:t>Advanced Test Capabilities: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1467">
                <a:latin typeface="+mj-lt"/>
                <a:ea typeface="+mj-lt"/>
                <a:cs typeface="+mj-lt"/>
              </a:rPr>
              <a:t>Asphalt Pavement Analyzer (APA)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1467">
                <a:latin typeface="+mj-lt"/>
                <a:ea typeface="+mj-lt"/>
                <a:cs typeface="+mj-lt"/>
              </a:rPr>
              <a:t>Asphalt and Concrete Flexural Beam Fatigue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1467">
                <a:latin typeface="+mj-lt"/>
                <a:ea typeface="+mj-lt"/>
                <a:cs typeface="+mj-lt"/>
              </a:rPr>
              <a:t>Semi-Circular Beam (SCB)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1467">
                <a:latin typeface="+mj-lt"/>
                <a:ea typeface="+mj-lt"/>
                <a:cs typeface="+mj-lt"/>
              </a:rPr>
              <a:t>Disk-Shaped Compact Tension (DCT)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1467">
                <a:latin typeface="+mj-lt"/>
                <a:ea typeface="+mj-lt"/>
                <a:cs typeface="+mj-lt"/>
              </a:rPr>
              <a:t>High Temperature Indirect Tension (IDT)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1467">
                <a:latin typeface="+mj-lt"/>
                <a:ea typeface="+mj-lt"/>
                <a:cs typeface="+mj-lt"/>
              </a:rPr>
              <a:t>Overlay Tester</a:t>
            </a:r>
          </a:p>
          <a:p xmlns:a="http://schemas.openxmlformats.org/drawingml/2006/main">
            <a:r>
              <a:rPr sz="1867">
                <a:latin typeface="+mj-lt"/>
                <a:ea typeface="+mj-lt"/>
                <a:cs typeface="+mj-lt"/>
              </a:rPr>
              <a:t>Benefits to the NAPTF: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1467">
                <a:latin typeface="+mj-lt"/>
                <a:ea typeface="+mj-lt"/>
                <a:cs typeface="+mj-lt"/>
              </a:rPr>
              <a:t>Quality Control of Testing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1467">
                <a:latin typeface="+mj-lt"/>
                <a:ea typeface="+mj-lt"/>
                <a:cs typeface="+mj-lt"/>
              </a:rPr>
              <a:t>Expedient Testing of Materials During Construction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1467">
                <a:latin typeface="+mj-lt"/>
                <a:ea typeface="+mj-lt"/>
                <a:cs typeface="+mj-lt"/>
              </a:rPr>
              <a:t>Perform Advanced Materials Characterization On-site</a:t>
            </a:r>
          </a:p>
          <a:p xmlns:a="http://schemas.openxmlformats.org/drawingml/2006/main">
            <a:pPr lvl="1">
              <a:buFont typeface="Arial"/>
              <a:buChar char="•"/>
            </a:pPr>
            <a:r>
              <a:rPr sz="1467">
                <a:latin typeface="+mj-lt"/>
                <a:ea typeface="+mj-lt"/>
                <a:cs typeface="+mj-lt"/>
              </a:rPr>
              <a:t>Development of Performance Based Specification</a:t>
            </a:r>
          </a:p>
          <a:p xmlns:a="http://schemas.openxmlformats.org/drawingml/2006/main">
            <a:pPr marL="457189" lvl="1" indent="0">
              <a:buNone/>
            </a:pPr>
            <a:endParaRPr sz="1600">
              <a:latin typeface="+mj-lt"/>
              <a:ea typeface="+mj-lt"/>
              <a:cs typeface="+mj-lt"/>
            </a:endParaRPr>
          </a:p>
        </p:txBody>
      </p:sp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009A10DA-1967-46D9-B201-72C5F6D150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facbf5a2249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4688" y="2181885"/>
            <a:ext cx="4088797" cy="26047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190500" algn="tl" rotWithShape="0">
              <a:srgbClr val="000000">
                <a:alpha val="70000"/>
              </a:srgbClr>
            </a:outerShdw>
            <a:softEdge rad="63500"/>
          </a:effectLst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1FF02D8E-F095-49FA-92F6-E78C2102F1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9d0c470c541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>
            <a:off x="7749635" y="4697238"/>
            <a:ext cx="1491563" cy="994375"/>
          </a:xfrm>
          <a:prstGeom xmlns:a="http://schemas.openxmlformats.org/drawingml/2006/main" prst="rect">
            <a:avLst/>
          </a:prstGeom>
          <a:ln xmlns:a="http://schemas.openxmlformats.org/drawingml/2006/main" w="19050">
            <a:noFill/>
          </a:ln>
          <a:effectLst xmlns:a="http://schemas.openxmlformats.org/drawingml/2006/main">
            <a:outerShdw blurRad="190500" algn="tl" rotWithShape="0">
              <a:srgbClr val="000000">
                <a:alpha val="70000"/>
              </a:srgbClr>
            </a:outerShdw>
            <a:softEdge rad="63500"/>
          </a:effectLst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5AD3B0C4-1536-44DC-917B-EA7C49A772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2d1786ae24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>
            <a:off x="8665435" y="4501782"/>
            <a:ext cx="1531244" cy="1020829"/>
          </a:xfrm>
          <a:prstGeom xmlns:a="http://schemas.openxmlformats.org/drawingml/2006/main" prst="rect">
            <a:avLst/>
          </a:prstGeom>
          <a:ln xmlns:a="http://schemas.openxmlformats.org/drawingml/2006/main" w="19050">
            <a:noFill/>
          </a:ln>
          <a:effectLst xmlns:a="http://schemas.openxmlformats.org/drawingml/2006/main">
            <a:outerShdw blurRad="190500" algn="tl" rotWithShape="0">
              <a:srgbClr val="000000">
                <a:alpha val="70000"/>
              </a:srgbClr>
            </a:outerShdw>
            <a:softEdge rad="63500"/>
          </a:effectLst>
        </p:spPr>
      </p:pic>
      <p:pic>
        <p:nvPicPr>
          <p:cNvPr id="18" name="Picture 3">
            <a:extLst xmlns:a="http://schemas.openxmlformats.org/drawingml/2006/main">
              <a:ext uri="{FF2B5EF4-FFF2-40B4-BE49-F238E27FC236}">
                <a16:creationId xmlns:a16="http://schemas.microsoft.com/office/drawing/2014/main" id="{EE44FF32-76DF-4461-8942-E90EF20D4C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b9fec774c43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59086" y="4354719"/>
            <a:ext cx="2380655" cy="1815792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  <a:effectLst xmlns:a="http://schemas.openxmlformats.org/drawingml/2006/main">
            <a:outerShdw dist="35921" dir="2700000" algn="ctr" rotWithShape="0">
              <a:schemeClr val="bg2"/>
            </a:outerShdw>
            <a:softEdge rad="63500"/>
          </a:effectLst>
        </p:spPr>
      </p:pic>
      <p:pic>
        <p:nvPicPr>
          <p:cNvPr id="19" name="Picture 6">
            <a:extLst xmlns:a="http://schemas.openxmlformats.org/drawingml/2006/main">
              <a:ext uri="{FF2B5EF4-FFF2-40B4-BE49-F238E27FC236}">
                <a16:creationId xmlns:a16="http://schemas.microsoft.com/office/drawing/2014/main" id="{B340CA25-0662-4DC3-9FA7-FB1C5A036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d25f429cd40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0079" y="1144696"/>
            <a:ext cx="2185048" cy="1638787"/>
          </a:xfrm>
          <a:prstGeom xmlns:a="http://schemas.openxmlformats.org/drawingml/2006/main" prst="rect">
            <a:avLst/>
          </a:prstGeom>
          <a:effectLst xmlns:a="http://schemas.openxmlformats.org/drawingml/2006/main">
            <a:softEdge rad="63500"/>
          </a:effectLst>
        </p:spPr>
      </p:pic>
      <p:pic>
        <p:nvPicPr>
          <p:cNvPr id="20" name="Picture 5">
            <a:extLst xmlns:a="http://schemas.openxmlformats.org/drawingml/2006/main">
              <a:ext uri="{FF2B5EF4-FFF2-40B4-BE49-F238E27FC236}">
                <a16:creationId xmlns:a16="http://schemas.microsoft.com/office/drawing/2014/main" id="{1F8F20DF-D3B0-45B4-9181-3F112FF8FD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95b373e1b48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1474" y="1004932"/>
            <a:ext cx="1670380" cy="2101355"/>
          </a:xfrm>
          <a:prstGeom xmlns:a="http://schemas.openxmlformats.org/drawingml/2006/main" prst="rect">
            <a:avLst/>
          </a:prstGeom>
          <a:ln xmlns:a="http://schemas.openxmlformats.org/drawingml/2006/main" w="25400">
            <a:noFill/>
            <a:miter/>
          </a:ln>
          <a:effectLst xmlns:a="http://schemas.openxmlformats.org/drawingml/2006/main">
            <a:softEdge rad="63500"/>
          </a:effectLst>
        </p:spPr>
      </p:pic>
      <p:sp>
        <p:nvSpPr>
          <p:cNvPr id="12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6B14C4-00CD-4579-80EB-8F642259A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834188" y="4686300"/>
            <a:ext cx="170731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spcBef>
                <a:spcPct val="0"/>
              </a:spcBef>
              <a:spcAft>
                <a:spcPct val="0"/>
              </a:spcAft>
              <a:buFontTx/>
              <a:buNone/>
              <a:defRPr sz="1400" b="0" i="0" kern="1200">
                <a:solidFill>
                  <a:schemeClr val="bg1">
                    <a:lumMod val="6500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lvl1pPr>
            <a:lvl2pPr marL="4572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5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sz="2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78D3ABA1-EA94-43C0-B992-7CBCC31144F1}" type="slidenum"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48248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227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BAKFAA Introduction</a:t>
            </a:r>
            <a:endParaRPr sz="4000" kern="12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57921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7BF222F-3B1D-432E-A48E-A34F6F1411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1f7f776184c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8172" y="1393541"/>
            <a:ext cx="7520674" cy="40709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746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E1ADF7F-6063-4AB9-ADE1-50BE9354307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ct val="0"/>
              </a:spcBef>
              <a:buFontTx/>
              <a:buNone/>
            </a:pPr>
            <a:fld id="{36BFFD12-2468-48AB-A160-866DCFE8D807}" type="slidenum">
              <a:rPr sz="1400" b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12</a:t>
            </a:fld>
            <a:endParaRPr sz="1400" b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B0B557F1-F291-4047-9F1F-BB680C14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22" y="301625"/>
            <a:ext cx="11296651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+mj-lt"/>
                <a:ea typeface="+mj-lt"/>
                <a:cs typeface="+mj-lt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About BAKFAA</a:t>
            </a:r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6CDD45-38DD-4ADA-96F6-EB2039F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42" y="1237461"/>
            <a:ext cx="4422444" cy="47208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342900" indent="-342900" algn="l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80000"/>
              </a:lnSpc>
              <a:buNone/>
            </a:pPr>
            <a:r>
              <a:rPr sz="2400" b="0">
                <a:latin typeface="Times New Roman"/>
                <a:ea typeface="Times New Roman"/>
                <a:cs typeface="Times New Roman"/>
              </a:rPr>
              <a:t>Computer program developed by the FAA for backcalculation of pavement layer modulus values using HWD/FWD data.</a:t>
            </a:r>
          </a:p>
          <a:p xmlns:a="http://schemas.openxmlformats.org/drawingml/2006/main">
            <a:pPr marL="0" indent="0">
              <a:lnSpc>
                <a:spcPct val="80000"/>
              </a:lnSpc>
              <a:buNone/>
            </a:pPr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ct val="80000"/>
              </a:lnSpc>
              <a:buNone/>
            </a:pPr>
            <a:r>
              <a:rPr sz="2400" b="0">
                <a:latin typeface="Times New Roman"/>
                <a:ea typeface="Times New Roman"/>
                <a:cs typeface="Times New Roman"/>
              </a:rPr>
              <a:t>Publicly available and free to use (source code available).</a:t>
            </a:r>
          </a:p>
          <a:p xmlns:a="http://schemas.openxmlformats.org/drawingml/2006/main">
            <a:pPr marL="0" indent="0">
              <a:lnSpc>
                <a:spcPct val="80000"/>
              </a:lnSpc>
              <a:buNone/>
            </a:pPr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ct val="80000"/>
              </a:lnSpc>
              <a:buNone/>
            </a:pPr>
            <a:r>
              <a:rPr sz="2400" b="0">
                <a:latin typeface="Times New Roman"/>
                <a:ea typeface="Times New Roman"/>
                <a:cs typeface="Times New Roman"/>
              </a:rPr>
              <a:t>Descriptions of use included in FAA AC 150/5370-11B ‘Use of Nondestructive Testing in the Evaluation of Airport Pavements’.</a:t>
            </a:r>
          </a:p>
          <a:p xmlns:a="http://schemas.openxmlformats.org/drawingml/2006/main">
            <a:pPr>
              <a:lnSpc>
                <a:spcPct val="80000"/>
              </a:lnSpc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99643793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227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BAKFAA Main Features</a:t>
            </a:r>
            <a:endParaRPr sz="4000" kern="12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81183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37729D-E3EB-47D8-AAA2-85A4DED09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2622" y="301625"/>
            <a:ext cx="11296651" cy="60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Main Features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E4BAD4-3397-4C1D-9C5D-AF2997E675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03177" y="911225"/>
            <a:ext cx="9800947" cy="46994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Designed as a Visual Basic .Net application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Ability to switch between English and Metric units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Includes a library of FAA standard pavement material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Ability to import different FWD file formats from leading FWD manufacturers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Converts a proprietary manufacturer’s FWD file into PDDX format file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FWD File Parser: file processing class to read proprietary manufacturer’s file 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Ability to identify and flag FWD drops with anomalies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Allows for editing FWD data and deleting FWD test points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Ability to perform backcalculation analysis in single analysis or batch analysis modes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Includes graphs of backcalculated modulus values and measured and calculated deflections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Calculates and displays Load Transfer Efficiency (LTE)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LEAF analysis to calculate pavement responses under aircraft gear or FWD load</a:t>
            </a:r>
          </a:p>
          <a:p xmlns:a="http://schemas.openxmlformats.org/drawingml/2006/main"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3212804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227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BAKFAA Modular Interface</a:t>
            </a:r>
            <a:endParaRPr sz="4000" kern="12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419331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992003-E6E7-407E-B53E-56B0A3C742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03177" y="911225"/>
            <a:ext cx="9800947" cy="46994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Graphical user interface </a:t>
            </a:r>
            <a:r>
              <a:rPr sz="2000" b="0">
                <a:latin typeface="Times New Roman"/>
                <a:ea typeface="Times New Roman"/>
                <a:cs typeface="Times New Roman"/>
              </a:rPr>
              <a:t>was overhauled</a:t>
            </a:r>
            <a:endParaRPr sz="20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Program functions are divided into ‘modules’ that serve a specific purpose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Modules are user-configurable: resize, reposition, or remove as desired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Main program controls relocated and organized in a toolbar</a:t>
            </a:r>
          </a:p>
          <a:p xmlns:a="http://schemas.openxmlformats.org/drawingml/2006/main">
            <a:r>
              <a:rPr sz="2000" b="0">
                <a:latin typeface="Times New Roman"/>
                <a:ea typeface="Times New Roman"/>
                <a:cs typeface="Times New Roman"/>
              </a:rPr>
              <a:t>BAKFAA Modules:</a:t>
            </a:r>
          </a:p>
          <a:p xmlns:a="http://schemas.openxmlformats.org/drawingml/2006/main">
            <a:pPr lvl="1">
              <a:buNone/>
            </a:pPr>
            <a:r>
              <a:rPr sz="1600" b="0">
                <a:latin typeface="Times New Roman"/>
                <a:ea typeface="Times New Roman"/>
                <a:cs typeface="Times New Roman"/>
              </a:rPr>
              <a:t>Section</a:t>
            </a:r>
          </a:p>
          <a:p xmlns:a="http://schemas.openxmlformats.org/drawingml/2006/main">
            <a:pPr lvl="1">
              <a:buNone/>
            </a:pPr>
            <a:r>
              <a:rPr sz="1600" b="0">
                <a:latin typeface="Times New Roman"/>
                <a:ea typeface="Times New Roman"/>
                <a:cs typeface="Times New Roman"/>
              </a:rPr>
              <a:t>FWD Drops/</a:t>
            </a:r>
            <a:r>
              <a:rPr sz="1600">
                <a:latin typeface="Times New Roman"/>
                <a:ea typeface="Times New Roman"/>
                <a:cs typeface="Times New Roman"/>
              </a:rPr>
              <a:t>Select Load</a:t>
            </a:r>
            <a:endParaRPr sz="16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buNone/>
            </a:pPr>
            <a:r>
              <a:rPr sz="1600" b="0">
                <a:latin typeface="Times New Roman"/>
                <a:ea typeface="Times New Roman"/>
                <a:cs typeface="Times New Roman"/>
              </a:rPr>
              <a:t>Design Options</a:t>
            </a:r>
          </a:p>
          <a:p xmlns:a="http://schemas.openxmlformats.org/drawingml/2006/main">
            <a:pPr lvl="1">
              <a:buNone/>
            </a:pPr>
            <a:r>
              <a:rPr sz="1600" b="0">
                <a:latin typeface="Times New Roman"/>
                <a:ea typeface="Times New Roman"/>
                <a:cs typeface="Times New Roman"/>
              </a:rPr>
              <a:t>LTE Calculation</a:t>
            </a:r>
          </a:p>
          <a:p xmlns:a="http://schemas.openxmlformats.org/drawingml/2006/main">
            <a:pPr lvl="1">
              <a:buNone/>
            </a:pPr>
            <a:r>
              <a:rPr sz="1600" b="0">
                <a:latin typeface="Times New Roman"/>
                <a:ea typeface="Times New Roman"/>
                <a:cs typeface="Times New Roman"/>
              </a:rPr>
              <a:t>(FWD) Explorer</a:t>
            </a:r>
          </a:p>
          <a:p xmlns:a="http://schemas.openxmlformats.org/drawingml/2006/main">
            <a:pPr lvl="1">
              <a:buNone/>
            </a:pPr>
            <a:r>
              <a:rPr sz="1600" b="0">
                <a:latin typeface="Times New Roman"/>
                <a:ea typeface="Times New Roman"/>
                <a:cs typeface="Times New Roman"/>
              </a:rPr>
              <a:t>Material</a:t>
            </a:r>
          </a:p>
          <a:p xmlns:a="http://schemas.openxmlformats.org/drawingml/2006/main">
            <a:pPr lvl="1">
              <a:buNone/>
            </a:pPr>
            <a:r>
              <a:rPr sz="1600" b="0">
                <a:latin typeface="Times New Roman"/>
                <a:ea typeface="Times New Roman"/>
                <a:cs typeface="Times New Roman"/>
              </a:rPr>
              <a:t>Station Details</a:t>
            </a:r>
          </a:p>
          <a:p xmlns:a="http://schemas.openxmlformats.org/drawingml/2006/main">
            <a:endParaRPr sz="20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000" b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4A672216-9DCC-41CA-8D67-A46C477E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22" y="301625"/>
            <a:ext cx="1129665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+mj-lt"/>
                <a:ea typeface="+mj-lt"/>
                <a:cs typeface="+mj-lt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Modular Interface</a:t>
            </a:r>
          </a:p>
        </p:txBody>
      </p:sp>
    </p:spTree>
    <p:extLst>
      <p:ext uri="{BB962C8B-B14F-4D97-AF65-F5344CB8AC3E}">
        <p14:creationId xmlns:p14="http://schemas.microsoft.com/office/powerpoint/2010/main" val="169891204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209742C8-2397-4DDA-92E4-FFC5EAA63D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ff4e7cf264d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2185" y="724264"/>
            <a:ext cx="9687629" cy="527001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162" y="114664"/>
            <a:ext cx="11296651" cy="60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Modular Interface</a:t>
            </a:r>
          </a:p>
        </p:txBody>
      </p:sp>
    </p:spTree>
    <p:extLst>
      <p:ext uri="{BB962C8B-B14F-4D97-AF65-F5344CB8AC3E}">
        <p14:creationId xmlns:p14="http://schemas.microsoft.com/office/powerpoint/2010/main" val="393558881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162" y="114664"/>
            <a:ext cx="11296651" cy="60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Modular Interface</a:t>
            </a:r>
          </a:p>
        </p:txBody>
      </p:sp>
      <p:sp>
        <p:nvSpPr>
          <p:cNvPr id="40" name="Title 1">
            <a:extLst xmlns:a="http://schemas.openxmlformats.org/drawingml/2006/main">
              <a:ext uri="{FF2B5EF4-FFF2-40B4-BE49-F238E27FC236}">
                <a16:creationId xmlns:a16="http://schemas.microsoft.com/office/drawing/2014/main" id="{5A2E2290-B4E5-4E95-81FC-5E9F74F5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39" y="742395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+mj-lt"/>
                <a:ea typeface="+mj-lt"/>
                <a:cs typeface="+mj-lt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Module Adjustment</a:t>
            </a:r>
            <a:br/>
            <a:endParaRPr kern="0"/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259C22C0-3193-4233-80EF-ECFF388E2E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fda6c839a4d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4200" y="1231260"/>
            <a:ext cx="5943600" cy="46672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5691510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162" y="114664"/>
            <a:ext cx="11296651" cy="60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Modular Interface</a:t>
            </a:r>
          </a:p>
        </p:txBody>
      </p:sp>
      <p:sp>
        <p:nvSpPr>
          <p:cNvPr id="40" name="Title 1">
            <a:extLst xmlns:a="http://schemas.openxmlformats.org/drawingml/2006/main">
              <a:ext uri="{FF2B5EF4-FFF2-40B4-BE49-F238E27FC236}">
                <a16:creationId xmlns:a16="http://schemas.microsoft.com/office/drawing/2014/main" id="{5A2E2290-B4E5-4E95-81FC-5E9F74F5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39" y="742395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+mj-lt"/>
                <a:ea typeface="+mj-lt"/>
                <a:cs typeface="+mj-lt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Module Adjustment</a:t>
            </a:r>
            <a:br/>
            <a:endParaRPr kern="0"/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87F09E9-D331-4D59-83B9-FAE1D58BCF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661b25d144d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39133" y="1332026"/>
            <a:ext cx="5113734" cy="46247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3556858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F9C0D0BE-4A59-40C4-8136-1A861D3D8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3b54b6b2345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7735" y="1313895"/>
            <a:ext cx="5216529" cy="4721027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162" y="114664"/>
            <a:ext cx="11296651" cy="60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Modular Interface</a:t>
            </a:r>
          </a:p>
        </p:txBody>
      </p:sp>
      <p:sp>
        <p:nvSpPr>
          <p:cNvPr id="40" name="Title 1">
            <a:extLst xmlns:a="http://schemas.openxmlformats.org/drawingml/2006/main">
              <a:ext uri="{FF2B5EF4-FFF2-40B4-BE49-F238E27FC236}">
                <a16:creationId xmlns:a16="http://schemas.microsoft.com/office/drawing/2014/main" id="{5A2E2290-B4E5-4E95-81FC-5E9F74F5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39" y="742395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+mj-lt"/>
                <a:ea typeface="+mj-lt"/>
                <a:cs typeface="+mj-lt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Module Adjustment</a:t>
            </a:r>
            <a:br/>
            <a:endParaRPr kern="0"/>
          </a:p>
        </p:txBody>
      </p:sp>
    </p:spTree>
    <p:extLst>
      <p:ext uri="{BB962C8B-B14F-4D97-AF65-F5344CB8AC3E}">
        <p14:creationId xmlns:p14="http://schemas.microsoft.com/office/powerpoint/2010/main" val="62560475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AD5DB9D3-F961-4A5D-BA30-1C0F5EE526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43ba43f284e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52359" y="1285614"/>
            <a:ext cx="6160008" cy="471830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162" y="114664"/>
            <a:ext cx="11296651" cy="60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Modular Interface</a:t>
            </a:r>
          </a:p>
        </p:txBody>
      </p:sp>
      <p:sp>
        <p:nvSpPr>
          <p:cNvPr id="40" name="Title 1">
            <a:extLst xmlns:a="http://schemas.openxmlformats.org/drawingml/2006/main">
              <a:ext uri="{FF2B5EF4-FFF2-40B4-BE49-F238E27FC236}">
                <a16:creationId xmlns:a16="http://schemas.microsoft.com/office/drawing/2014/main" id="{5A2E2290-B4E5-4E95-81FC-5E9F74F5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39" y="742395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+mj-lt"/>
                <a:ea typeface="+mj-lt"/>
                <a:cs typeface="+mj-lt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Module Adjustment</a:t>
            </a:r>
            <a:br/>
            <a:endParaRPr kern="0"/>
          </a:p>
        </p:txBody>
      </p:sp>
    </p:spTree>
    <p:extLst>
      <p:ext uri="{BB962C8B-B14F-4D97-AF65-F5344CB8AC3E}">
        <p14:creationId xmlns:p14="http://schemas.microsoft.com/office/powerpoint/2010/main" val="261278309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12706CDA-34CC-4DEA-B2A9-ADDBA85054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d655b76e842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9172" y="1311893"/>
            <a:ext cx="9593656" cy="472451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C533F5-668C-4143-B957-12F2D9A39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162" y="114664"/>
            <a:ext cx="11296651" cy="60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Modular Interface</a:t>
            </a:r>
          </a:p>
        </p:txBody>
      </p:sp>
      <p:sp>
        <p:nvSpPr>
          <p:cNvPr id="40" name="Title 1">
            <a:extLst xmlns:a="http://schemas.openxmlformats.org/drawingml/2006/main">
              <a:ext uri="{FF2B5EF4-FFF2-40B4-BE49-F238E27FC236}">
                <a16:creationId xmlns:a16="http://schemas.microsoft.com/office/drawing/2014/main" id="{5A2E2290-B4E5-4E95-81FC-5E9F74F5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39" y="742395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+mj-lt"/>
                <a:ea typeface="+mj-lt"/>
                <a:cs typeface="+mj-lt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Section Module</a:t>
            </a:r>
            <a:br/>
            <a:endParaRPr kern="0"/>
          </a:p>
        </p:txBody>
      </p:sp>
      <p:sp>
        <p:nvSpPr>
          <p:cNvPr id="8" name="Arrow: Right 7">
            <a:extLst xmlns:a="http://schemas.openxmlformats.org/drawingml/2006/main">
              <a:ext uri="{FF2B5EF4-FFF2-40B4-BE49-F238E27FC236}">
                <a16:creationId xmlns:a16="http://schemas.microsoft.com/office/drawing/2014/main" id="{1A88CE9A-F638-4452-9035-D13E6237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786" y="2805808"/>
            <a:ext cx="1024649" cy="71518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None/>
            </a:pPr>
            <a:endParaRPr sz="10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F8F24CD-CF3B-42E7-BF29-56E18559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788" y="2956890"/>
            <a:ext cx="1078600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Pavement Structure</a:t>
            </a:r>
          </a:p>
        </p:txBody>
      </p:sp>
      <p:sp>
        <p:nvSpPr>
          <p:cNvPr id="26" name="Arrow: Right 25">
            <a:extLst xmlns:a="http://schemas.openxmlformats.org/drawingml/2006/main">
              <a:ext uri="{FF2B5EF4-FFF2-40B4-BE49-F238E27FC236}">
                <a16:creationId xmlns:a16="http://schemas.microsoft.com/office/drawing/2014/main" id="{74450D19-7C64-4793-A47F-8826ADFB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4646" y="4112397"/>
            <a:ext cx="1024649" cy="71518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None/>
            </a:pPr>
            <a:endParaRPr sz="10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6B00311-D8AB-4A0F-A673-FE5E9CA9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1939" y="4254547"/>
            <a:ext cx="1078600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Sensor </a:t>
            </a:r>
            <a:br>
              <a:rPr sz="1100"/>
            </a:br>
            <a:r>
              <a:rPr sz="1100"/>
              <a:t>Table</a:t>
            </a:r>
          </a:p>
        </p:txBody>
      </p:sp>
      <p:sp>
        <p:nvSpPr>
          <p:cNvPr id="35" name="Arrow: Right 34">
            <a:extLst xmlns:a="http://schemas.openxmlformats.org/drawingml/2006/main">
              <a:ext uri="{FF2B5EF4-FFF2-40B4-BE49-F238E27FC236}">
                <a16:creationId xmlns:a16="http://schemas.microsoft.com/office/drawing/2014/main" id="{F2F340D7-EEDB-46F0-B167-DF896BD7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756" y="4737780"/>
            <a:ext cx="1024649" cy="71518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None/>
            </a:pPr>
            <a:endParaRPr sz="10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14F6C4F-EC8F-40AB-A9EE-B707036E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757" y="4888862"/>
            <a:ext cx="1078600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Deflection Graph</a:t>
            </a:r>
          </a:p>
        </p:txBody>
      </p:sp>
      <p:sp>
        <p:nvSpPr>
          <p:cNvPr id="30" name="Arrow: Right 29">
            <a:extLst xmlns:a="http://schemas.openxmlformats.org/drawingml/2006/main">
              <a:ext uri="{FF2B5EF4-FFF2-40B4-BE49-F238E27FC236}">
                <a16:creationId xmlns:a16="http://schemas.microsoft.com/office/drawing/2014/main" id="{4D00736F-9159-4554-BE20-B7E85A8C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6121" y="1459976"/>
            <a:ext cx="1234555" cy="58888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None/>
            </a:pPr>
            <a:endParaRPr sz="10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BA4B9FD-0507-4666-B58E-5BF585DE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710" y="1623614"/>
            <a:ext cx="1532936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Backcalculation</a:t>
            </a:r>
          </a:p>
        </p:txBody>
      </p:sp>
      <p:sp>
        <p:nvSpPr>
          <p:cNvPr id="38" name="Arrow: Right 37">
            <a:extLst xmlns:a="http://schemas.openxmlformats.org/drawingml/2006/main">
              <a:ext uri="{FF2B5EF4-FFF2-40B4-BE49-F238E27FC236}">
                <a16:creationId xmlns:a16="http://schemas.microsoft.com/office/drawing/2014/main" id="{CECDB96F-A652-4957-87C5-7EE5E3CC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7870254" y="1623614"/>
            <a:ext cx="879312" cy="52927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None/>
            </a:pPr>
            <a:endParaRPr sz="10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FAAE3F25-8047-4FCD-99B0-0E2B97E6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8619" y="1757445"/>
            <a:ext cx="1078600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Status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AEA0566-7191-4CCA-BE44-24946F8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864" y="3945590"/>
            <a:ext cx="44805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9AE6397D-E932-43D6-AD6B-C3C7AA4633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d0f15fead48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2818" y="3962349"/>
            <a:ext cx="4609637" cy="1583758"/>
          </a:xfrm>
          <a:prstGeom xmlns:a="http://schemas.openxmlformats.org/drawingml/2006/main" prst="rect">
            <a:avLst/>
          </a:prstGeom>
        </p:spPr>
      </p:pic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3AF1DEDC-10CF-4D77-BDD1-C2BF557C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587" y="3945590"/>
            <a:ext cx="4632606" cy="1600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82412389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227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latin typeface="Times New Roman"/>
                <a:ea typeface="Times New Roman"/>
                <a:cs typeface="Times New Roman"/>
              </a:rPr>
              <a:t>FWD Data</a:t>
            </a:r>
          </a:p>
        </p:txBody>
      </p:sp>
    </p:spTree>
    <p:extLst>
      <p:ext uri="{BB962C8B-B14F-4D97-AF65-F5344CB8AC3E}">
        <p14:creationId xmlns:p14="http://schemas.microsoft.com/office/powerpoint/2010/main" val="181013581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FWD Test Information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72342" y="1237461"/>
            <a:ext cx="6208794" cy="472088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Sensor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sensor number 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Offset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sensor offset from FWD load plate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Defln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</a:t>
            </a:r>
            <a:r>
              <a:rPr b="0"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measured FWD sensor deflection</a:t>
            </a:r>
          </a:p>
          <a:p xmlns:a="http://schemas.openxmlformats.org/drawingml/2006/main"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95714E6D-2CF6-40F5-ADF6-164FF2E6AF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e625c67034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2068" y="2959617"/>
            <a:ext cx="8011067" cy="25778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9974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FWD Information updates after Backcalculation Analysis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72342" y="1237461"/>
            <a:ext cx="6208794" cy="472088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Exclude Sensor at Offset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allows user to exclude any of the sensors in backcalculation analysis.</a:t>
            </a:r>
          </a:p>
          <a:p xmlns:a="http://schemas.openxmlformats.org/drawingml/2006/main">
            <a:pPr marL="0" indent="0">
              <a:buNone/>
            </a:pPr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B0A23BEE-D11B-4ADB-BF2D-BCB86E753F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ac34caf9b4a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74106" y="2753657"/>
            <a:ext cx="7014060" cy="28668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0413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FWD Information updates after Backcalculation Analysis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0455" y="1759974"/>
            <a:ext cx="5450536" cy="205885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Deflection Graph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plot of measured and calculated deflections.</a:t>
            </a:r>
          </a:p>
          <a:p xmlns:a="http://schemas.openxmlformats.org/drawingml/2006/main"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C151B36-8920-493D-AE1A-34E6866946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fe64a97ac4e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34870" y="3164578"/>
            <a:ext cx="6338004" cy="2163823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FB93DF1E-3940-4A05-9E54-E35F715B58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d9851a776b4349"/>
          <a:srcRect xmlns:a="http://schemas.openxmlformats.org/drawingml/2006/main" l="0" t="0" r="22266" b="0"/>
          <a:stretch xmlns:a="http://schemas.openxmlformats.org/drawingml/2006/main"/>
        </p:blipFill>
        <p:spPr>
          <a:xfrm xmlns:a="http://schemas.openxmlformats.org/drawingml/2006/main">
            <a:off x="419105" y="3164577"/>
            <a:ext cx="4951941" cy="2163823"/>
          </a:xfrm>
          <a:prstGeom xmlns:a="http://schemas.openxmlformats.org/drawingml/2006/main" prst="rect">
            <a:avLst/>
          </a:prstGeom>
        </p:spPr>
      </p:pic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5CA80E-4D5E-4B87-9DD0-04FFD91D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563" y="1759974"/>
            <a:ext cx="6208794" cy="2040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/>
          </a:bodyPr>
          <a:lstStyle xmlns:a="http://schemas.openxmlformats.org/drawingml/2006/main">
            <a:lvl1pPr marL="342900" indent="-342900" algn="l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Calc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calculated deflections. Will update after the backcalculation is done.</a:t>
            </a:r>
          </a:p>
          <a:p xmlns:a="http://schemas.openxmlformats.org/drawingml/2006/main">
            <a:endParaRPr b="0" kern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kern="0"/>
          </a:p>
        </p:txBody>
      </p:sp>
    </p:spTree>
    <p:extLst>
      <p:ext uri="{BB962C8B-B14F-4D97-AF65-F5344CB8AC3E}">
        <p14:creationId xmlns:p14="http://schemas.microsoft.com/office/powerpoint/2010/main" val="180073573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Load/View FWD File</a:t>
            </a:r>
            <a:br/>
            <a:endParaRPr/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96C1C4-A172-48D1-B343-9FF16663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42" y="1237462"/>
            <a:ext cx="6208794" cy="1397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/>
          </a:bodyPr>
          <a:lstStyle xmlns:a="http://schemas.openxmlformats.org/drawingml/2006/main">
            <a:lvl1pPr marL="342900" indent="-342900" algn="l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Load FWD File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import FWD file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View FWD File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open FWD file viewer</a:t>
            </a:r>
          </a:p>
          <a:p xmlns:a="http://schemas.openxmlformats.org/drawingml/2006/main">
            <a:pPr marL="0" indent="0">
              <a:buNone/>
            </a:pPr>
            <a:endParaRPr sz="2400" b="0" kern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 kern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b="0" kern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kern="0"/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E007853B-ECC2-46C5-B8B9-E75A553E48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24f11530845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87572" y="2635046"/>
            <a:ext cx="6841733" cy="201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9774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FWD File Formats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72342" y="1237462"/>
            <a:ext cx="6208794" cy="139758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FWD File Formats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</a:t>
            </a: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/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AE72FB1E-C9CE-4715-AD2A-E0AC2179BAA4}"/>
              </a:ext>
            </a:extLst>
          </p:cNvPr>
          <p:cNvGraphicFramePr/>
          <p:nvPr/>
        </p:nvGraphicFramePr>
        <p:xfrm>
          <a:off xmlns:a="http://schemas.openxmlformats.org/drawingml/2006/main" x="2242016" y="1936254"/>
          <a:ext xmlns:a="http://schemas.openxmlformats.org/drawingml/2006/main" cx="7137958" cy="3347724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534058"/>
                <a:gridCol w="2534058"/>
                <a:gridCol w="2069842"/>
              </a:tblGrid>
              <a:tr h="3743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latin typeface="Times New Roman"/>
                          <a:ea typeface="Times New Roman"/>
                          <a:cs typeface="Times New Roman"/>
                        </a:rPr>
                        <a:t>Equipment Manufacturer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latin typeface="Times New Roman"/>
                          <a:ea typeface="Times New Roman"/>
                          <a:cs typeface="Times New Roman"/>
                        </a:rPr>
                        <a:t>Associated Data Format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latin typeface="Times New Roman"/>
                          <a:ea typeface="Times New Roman"/>
                          <a:cs typeface="Times New Roman"/>
                        </a:rPr>
                        <a:t>File Extensions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218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Dynatest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R80, R32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.fwd, .hwd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21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F20, F25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.fwd, .F20, .F25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21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PDDX, XML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.ddx, .xml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KUAB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KUAB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.fwd, .hwd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JILS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M3, M5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.fwd, .hwd, .dat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PaveTest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PaveTest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.csv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CarlBro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CarlBro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.fwd, .txt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AASHTO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Pavement Deflection Data Exchange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.ddx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6472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FWD File Information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2509" y="1237461"/>
            <a:ext cx="5933491" cy="463239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Anomaly Check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FWD drops are flagged if anomalies are identified.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Load levels are flagged if FWD plate load is smaller than 9,900 lbs. or larger than 60,000 lbs. (44 kN – 267 kN)</a:t>
            </a:r>
          </a:p>
          <a:p xmlns:a="http://schemas.openxmlformats.org/drawingml/2006/main">
            <a:pPr marR="0"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Deflection basins are flagged if the recorded deflections are one of the following: 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Showing a non-decreasing sequence 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Larger than 100 mils (2540 mc)  </a:t>
            </a:r>
          </a:p>
          <a:p xmlns:a="http://schemas.openxmlformats.org/drawingml/2006/main">
            <a:pPr lvl="2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Zero </a:t>
            </a:r>
          </a:p>
          <a:p xmlns:a="http://schemas.openxmlformats.org/drawingml/2006/main">
            <a:pPr lvl="1">
              <a:buFont typeface="Wingdings"/>
              <a:buChar char="ü"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65FBD42-9108-4F36-A87B-781F3771C5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39a44d5a244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545667"/>
            <a:ext cx="6037257" cy="37666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1337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FWD File Information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2509" y="1237461"/>
            <a:ext cx="5933491" cy="4171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Drop No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Number of FWD drops at each test point.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DMI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the station or location of each FWD test point.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Load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the applied FWD load at each drop.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Deflections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measured deflections by each FWD sensor.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Station: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 operator comments are identified and replaced with a station number.</a:t>
            </a:r>
            <a:endParaRPr sz="2400" b="0" u="sng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buFont typeface="Wingdings"/>
              <a:buChar char="ü"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C385598B-943D-44CE-9679-5D193E0EF5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46fa649974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545667"/>
            <a:ext cx="6037257" cy="37666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8520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FWD File Information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2509" y="1237461"/>
            <a:ext cx="5933491" cy="4171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Deflection information, deflection graph and sensor table will update as the user clicks on an FWD drop.</a:t>
            </a:r>
          </a:p>
          <a:p xmlns:a="http://schemas.openxmlformats.org/drawingml/2006/main">
            <a:pPr lvl="1">
              <a:buFont typeface="Wingdings"/>
              <a:buChar char="ü"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FC81FB4D-060D-4A8D-BB03-3FCB1BAD29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ca9c308b54c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12943" y="1313894"/>
            <a:ext cx="6116548" cy="45501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0896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View FWD File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2509" y="1237461"/>
            <a:ext cx="5933491" cy="4171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Edit sensor data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C6DE755A-D26D-411E-BE96-D4D3B0FC14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d15c9be384f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59015" y="1183911"/>
            <a:ext cx="6803726" cy="48467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2168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8E801200-4E84-4282-8311-ADCB5E11F2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bea46d6524a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70343" y="1200221"/>
            <a:ext cx="7830300" cy="4794389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View FWD File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2509" y="1237461"/>
            <a:ext cx="5933491" cy="4171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Delete drops</a:t>
            </a:r>
          </a:p>
          <a:p xmlns:a="http://schemas.openxmlformats.org/drawingml/2006/main">
            <a:pPr lvl="1">
              <a:buFont typeface="Wingdings"/>
              <a:buChar char="ü"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9165467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Convert FWD File to PDDX Format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3760" y="1343025"/>
            <a:ext cx="5933491" cy="4171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Convert FWD file format supported by BAKFAA to Pavement Deflection Data Exchange (PDDX) format file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PDDX format specification has a modular structure in which data elements of similar characteristics are grouped in individual sections.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The PDDX files can be loaded to BAKFAA</a:t>
            </a:r>
          </a:p>
          <a:p xmlns:a="http://schemas.openxmlformats.org/drawingml/2006/main">
            <a:pPr lvl="1">
              <a:buFont typeface="Wingdings"/>
              <a:buChar char="ü"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2CD6857-A08D-4450-A7F4-AFA77DF2E8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c6315590194415"/>
          <a:srcRect xmlns:a="http://schemas.openxmlformats.org/drawingml/2006/main" l="0" t="1" r="76338" b="85498"/>
          <a:stretch xmlns:a="http://schemas.openxmlformats.org/drawingml/2006/main"/>
        </p:blipFill>
        <p:spPr>
          <a:xfrm xmlns:a="http://schemas.openxmlformats.org/drawingml/2006/main">
            <a:off x="6225057" y="1992818"/>
            <a:ext cx="5833183" cy="1936387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E3E1C1-609F-431E-8A97-3496DDB1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806" y="3438052"/>
            <a:ext cx="1618402" cy="45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6139144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FWD Data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FWD File Parser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3760" y="1343025"/>
            <a:ext cx="11586292" cy="4171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A file processing class used to read FWD files.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This class uses the file format specifications from FWD manufacturers and generates a set of properties to retrieve data required for functions in the backcalculation and LEAF analysis.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The advantage of this design is that when a new data format is introduced by a manufacturer, only a file specification needs to be created for the new layout.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BAKFAA will read the specification and parses the file without requiring any reprograming in the source code.</a:t>
            </a:r>
          </a:p>
          <a:p xmlns:a="http://schemas.openxmlformats.org/drawingml/2006/main">
            <a:pPr lvl="1">
              <a:buFont typeface="Wingdings"/>
              <a:buChar char="ü"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8830568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Units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3760" y="1343025"/>
            <a:ext cx="5933491" cy="4171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BAKFAA can display values in English or metric units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Radio button under Design Options toggles between the options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Selection updates all FWD and pavement information, and dictates the units used in the output file</a:t>
            </a:r>
          </a:p>
          <a:p xmlns:a="http://schemas.openxmlformats.org/drawingml/2006/main">
            <a:pPr lvl="1">
              <a:buFont typeface="Wingdings"/>
              <a:buChar char="ü"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6424AEAA-9E19-49A0-91AB-51FCD080FF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9ef2d14f164685"/>
          <a:srcRect xmlns:a="http://schemas.openxmlformats.org/drawingml/2006/main" l="32864" t="0" r="0" b="20563"/>
          <a:stretch xmlns:a="http://schemas.openxmlformats.org/drawingml/2006/main"/>
        </p:blipFill>
        <p:spPr>
          <a:xfrm xmlns:a="http://schemas.openxmlformats.org/drawingml/2006/main">
            <a:off x="7018459" y="1028145"/>
            <a:ext cx="4071580" cy="4014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D93F928-84F5-4963-B55D-F1C44FD6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514" y="2271712"/>
            <a:ext cx="3702537" cy="661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901866089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Units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br/>
            <a:endParaRPr/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A8595492-7E19-4EE8-B9BB-0EA99734D38D}"/>
              </a:ext>
            </a:extLst>
          </p:cNvPr>
          <p:cNvGraphicFramePr/>
          <p:nvPr/>
        </p:nvGraphicFramePr>
        <p:xfrm>
          <a:off xmlns:a="http://schemas.openxmlformats.org/drawingml/2006/main" x="2671386" y="1011725"/>
          <a:ext xmlns:a="http://schemas.openxmlformats.org/drawingml/2006/main" cx="6577637" cy="4834549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447493"/>
                <a:gridCol w="2065072"/>
                <a:gridCol w="2065072"/>
              </a:tblGrid>
              <a:tr h="385439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Entity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Unit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  <a:tr h="3854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English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Metric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Pavement Layer Thickness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Inch (in.)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Millimeter (mm)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Distance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Feet (ft.)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Meter (m)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FWD Sensor Offset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Inch (in.)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Millimeter (mm)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FWD Sensor Deflection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Mil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Micron (mc)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FWD Plate Radius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Inch (in.)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Millimeter (mm)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FWD Plate Contact Area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Square inch (in</a:t>
                      </a:r>
                      <a:r>
                        <a:rPr sz="1400" baseline="300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Square millimeter (mm</a:t>
                      </a:r>
                      <a:r>
                        <a:rPr sz="1400" baseline="300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FWD Plate Contact Pressure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Pound per square inch (psi)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Megapascal (MPa)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Load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Pound (lbs.)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Kilonewton (kN)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Modulus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Pound per square inch (psi)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</a:rPr>
                        <a:t>Megapascal (MPa)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5915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Units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br/>
            <a:endParaRPr/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C634A607-6B08-448D-A03B-AABE71418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3cdb6563741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167" y="1367087"/>
            <a:ext cx="5700336" cy="4318492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833C4F90-36E7-4E2C-8E98-60B42BD959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ecf0e7095b4566"/>
          <a:srcRect xmlns:a="http://schemas.openxmlformats.org/drawingml/2006/main" l="0" t="0" r="36057" b="2394"/>
          <a:stretch xmlns:a="http://schemas.openxmlformats.org/drawingml/2006/main"/>
        </p:blipFill>
        <p:spPr>
          <a:xfrm xmlns:a="http://schemas.openxmlformats.org/drawingml/2006/main">
            <a:off x="5996412" y="1359156"/>
            <a:ext cx="5775356" cy="43705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05195C-F101-4EF0-AD93-AE052B45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7" y="874858"/>
            <a:ext cx="570033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i="1">
                <a:solidFill>
                  <a:srgbClr val="1D2F68"/>
                </a:solidFill>
                <a:latin typeface="Times New Roman"/>
                <a:ea typeface="Times New Roman"/>
                <a:cs typeface="Times New Roman"/>
              </a:rPr>
              <a:t>English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726660-E585-4ED4-903C-3E342758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12" y="874857"/>
            <a:ext cx="570033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i="1">
                <a:solidFill>
                  <a:srgbClr val="1D2F68"/>
                </a:solidFill>
                <a:latin typeface="Times New Roman"/>
                <a:ea typeface="Times New Roman"/>
                <a:cs typeface="Times New Roman"/>
              </a:rPr>
              <a:t>Metric</a:t>
            </a:r>
          </a:p>
        </p:txBody>
      </p:sp>
    </p:spTree>
    <p:extLst>
      <p:ext uri="{BB962C8B-B14F-4D97-AF65-F5344CB8AC3E}">
        <p14:creationId xmlns:p14="http://schemas.microsoft.com/office/powerpoint/2010/main" val="148946924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Units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br/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05195C-F101-4EF0-AD93-AE052B45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7" y="874858"/>
            <a:ext cx="570033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i="1">
                <a:solidFill>
                  <a:srgbClr val="1D2F68"/>
                </a:solidFill>
                <a:latin typeface="Times New Roman"/>
                <a:ea typeface="Times New Roman"/>
                <a:cs typeface="Times New Roman"/>
              </a:rPr>
              <a:t>English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726660-E585-4ED4-903C-3E342758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12" y="874857"/>
            <a:ext cx="570033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i="1">
                <a:solidFill>
                  <a:srgbClr val="1D2F68"/>
                </a:solidFill>
                <a:latin typeface="Times New Roman"/>
                <a:ea typeface="Times New Roman"/>
                <a:cs typeface="Times New Roman"/>
              </a:rPr>
              <a:t>Metric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5B444397-549B-4480-9D59-D25CEE3E3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d89bd725f744f0"/>
          <a:srcRect xmlns:a="http://schemas.openxmlformats.org/drawingml/2006/main" l="0" t="0" r="13638" b="0"/>
          <a:stretch xmlns:a="http://schemas.openxmlformats.org/drawingml/2006/main"/>
        </p:blipFill>
        <p:spPr>
          <a:xfrm xmlns:a="http://schemas.openxmlformats.org/drawingml/2006/main">
            <a:off x="436694" y="2511361"/>
            <a:ext cx="5372839" cy="1835278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F1F1CFC9-FA52-44B8-9A8F-A5770DB287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236b3f27304408"/>
          <a:srcRect xmlns:a="http://schemas.openxmlformats.org/drawingml/2006/main" l="0" t="0" r="11360" b="15192"/>
          <a:stretch xmlns:a="http://schemas.openxmlformats.org/drawingml/2006/main"/>
        </p:blipFill>
        <p:spPr>
          <a:xfrm xmlns:a="http://schemas.openxmlformats.org/drawingml/2006/main">
            <a:off x="6249908" y="2535621"/>
            <a:ext cx="5296839" cy="17867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6982484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Units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br/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05195C-F101-4EF0-AD93-AE052B45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7" y="874858"/>
            <a:ext cx="570033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i="1">
                <a:solidFill>
                  <a:srgbClr val="1D2F68"/>
                </a:solidFill>
                <a:latin typeface="Times New Roman"/>
                <a:ea typeface="Times New Roman"/>
                <a:cs typeface="Times New Roman"/>
              </a:rPr>
              <a:t>English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726660-E585-4ED4-903C-3E342758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12" y="874857"/>
            <a:ext cx="570033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i="1">
                <a:solidFill>
                  <a:srgbClr val="1D2F68"/>
                </a:solidFill>
                <a:latin typeface="Times New Roman"/>
                <a:ea typeface="Times New Roman"/>
                <a:cs typeface="Times New Roman"/>
              </a:rPr>
              <a:t>Metric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07BA3281-898C-4126-9EB8-C1C72DFF08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edca500f84f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167" y="1468984"/>
            <a:ext cx="5700336" cy="404687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A63C67CD-517D-44A1-8CEE-D2C555E3CE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67c1a012845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96412" y="1446357"/>
            <a:ext cx="5700336" cy="404687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00422215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227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latin typeface="Times New Roman"/>
                <a:ea typeface="Times New Roman"/>
                <a:cs typeface="Times New Roman"/>
              </a:rPr>
              <a:t>BAKFAA Inputs</a:t>
            </a:r>
          </a:p>
        </p:txBody>
      </p:sp>
    </p:spTree>
    <p:extLst>
      <p:ext uri="{BB962C8B-B14F-4D97-AF65-F5344CB8AC3E}">
        <p14:creationId xmlns:p14="http://schemas.microsoft.com/office/powerpoint/2010/main" val="161160554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INPUTS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Pavement Layer Properties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9324" y="1201008"/>
            <a:ext cx="6356278" cy="463935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Pavement Layer Type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Minimum 3 layers and maximum 6 layers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Select layer type from drop down menu.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Library of standard FAA materials (AC 150/5370-10)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Four subgrade types with different strengths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“User Defined” layer type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Add or remove a layer from any location in the structure.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Last layer is a semi-infinite layer</a:t>
            </a:r>
          </a:p>
          <a:p xmlns:a="http://schemas.openxmlformats.org/drawingml/2006/main"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03E3B77-5223-497A-8D8B-3DDCED15D8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b5df0954546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1892" y="116232"/>
            <a:ext cx="3805100" cy="2924816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0C280C69-85E4-4EAB-BB4C-38F3D5155B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767ba78864e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1891" y="3110593"/>
            <a:ext cx="3805099" cy="29220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43309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79CF30C-F6E8-45FD-9CF8-5361C73B44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bb58fbdda43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9124" y="1885698"/>
            <a:ext cx="5529739" cy="248401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INPUTS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Pavement Layer Properties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30" y="1208199"/>
            <a:ext cx="6208794" cy="41184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Seed Modulus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Initial modulus value used in backcalculation iterative procedure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BAKFAA has default seed modulus values for FAA standard materials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Default seed modulus values are editable, but BAKFAA will automatically change the pavement type to “User Defined” </a:t>
            </a:r>
          </a:p>
          <a:p xmlns:a="http://schemas.openxmlformats.org/drawingml/2006/main"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D93FCC8-5733-4492-B94F-A20DFA03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475" y="2496923"/>
            <a:ext cx="713097" cy="1196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411769472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AEA72961-E11B-42B1-B9D2-76EDEE64B0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28de239874b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9124" y="1885698"/>
            <a:ext cx="5529739" cy="248401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INPUTS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Pavement Layer Properties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30" y="1208199"/>
            <a:ext cx="6208794" cy="41184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Poisson’s Ratio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BAKFAA has default Poisson’s ratio values for FAA standard materials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Numerical value between 0.0 to 0.5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Interface Parameter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Accepts values of 0 or 1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0 indicates no bond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1 indicates fully bonded layers</a:t>
            </a:r>
          </a:p>
          <a:p xmlns:a="http://schemas.openxmlformats.org/drawingml/2006/main">
            <a:pPr marL="0" indent="0">
              <a:buNone/>
            </a:pPr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C76CE1C-B4A7-4D21-83A7-59898E4B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790" y="2495742"/>
            <a:ext cx="515707" cy="1178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66A4715-07D9-4B64-AD72-B14D1AF3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522" y="2493285"/>
            <a:ext cx="557784" cy="1178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435018416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A648F540-74A7-47B4-B874-BED2BE4BF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a3e3545834b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9124" y="1885698"/>
            <a:ext cx="5529739" cy="248401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INPUTS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Pavement Layer Properties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30" y="1208199"/>
            <a:ext cx="6208794" cy="490740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Thickness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BAKFAA requires a non-zero thickness for each pavement layer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The thickness of the last layer in a pavement structure must be zero to represent a semi-infinite layer</a:t>
            </a:r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Moduli Changeable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Determines whether the layer modulus will change in the backcalculation analysis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Checkbox toggled off indicates the layer modulus will remain fixed in the backcalculation analysis</a:t>
            </a:r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180906D-426B-4DCE-AD26-560DB471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5105" y="2488566"/>
            <a:ext cx="521597" cy="1182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0544060-0F27-49EE-A28D-F9F6E502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839" y="2488565"/>
            <a:ext cx="620865" cy="1178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691583509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C881D1FA-9A37-45C9-BB03-31CD388F70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05b46c2e04d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4591" y="1245071"/>
            <a:ext cx="9742817" cy="4808507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INPUTS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Pavement Layer Structure</a:t>
            </a:r>
            <a:br/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3BC9008-FD99-43BC-97FF-B26178B2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934" y="1741509"/>
            <a:ext cx="3080193" cy="4197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01156812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BAKFAA INPUTS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Backcalculation Input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29" y="1208199"/>
            <a:ext cx="11616535" cy="490740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Iteration Tolerance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Dimensionless parameter that controls the stoppage criteria in the iterative process of backcalculation analysis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At the end of each iteration</a:t>
            </a:r>
          </a:p>
          <a:p xmlns:a="http://schemas.openxmlformats.org/drawingml/2006/main">
            <a:pPr lvl="1">
              <a:buFont typeface="Courier New"/>
              <a:buChar char="o"/>
            </a:pPr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buFont typeface="Courier New"/>
              <a:buChar char="o"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buFont typeface="Courier New"/>
              <a:buChar char="o"/>
            </a:pPr>
            <a:endParaRPr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buFont typeface="Courier New"/>
              <a:buChar char="o"/>
            </a:pPr>
            <a:r>
              <a:rPr b="0">
                <a:latin typeface="Times New Roman"/>
                <a:ea typeface="Times New Roman"/>
                <a:cs typeface="Times New Roman"/>
              </a:rPr>
              <a:t>BAKFAA stops backcalculation when the </a:t>
            </a:r>
            <a:r>
              <a:rPr b="0" i="1">
                <a:latin typeface="Times New Roman"/>
                <a:ea typeface="Times New Roman"/>
                <a:cs typeface="Times New Roman"/>
              </a:rPr>
              <a:t>rtol</a:t>
            </a:r>
            <a:r>
              <a:rPr b="0">
                <a:latin typeface="Times New Roman"/>
                <a:ea typeface="Times New Roman"/>
                <a:cs typeface="Times New Roman"/>
              </a:rPr>
              <a:t> is less than the user defined Iteration Tolerance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Typical range is 0.001-0.1. Iterate through this range to achieve desired accuracy.</a:t>
            </a:r>
          </a:p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287AD0C4-092D-444E-8ED0-60A406997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0dae50e510403c"/>
          <a:srcRect xmlns:a="http://schemas.openxmlformats.org/drawingml/2006/main" l="17398" t="1233" r="53972" b="0"/>
          <a:stretch xmlns:a="http://schemas.openxmlformats.org/drawingml/2006/main"/>
        </p:blipFill>
        <p:spPr>
          <a:xfrm xmlns:a="http://schemas.openxmlformats.org/drawingml/2006/main">
            <a:off x="1111046" y="2894524"/>
            <a:ext cx="2123768" cy="83911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B7D20117-6099-4079-9E47-100803F63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f1961c8f3c4baf"/>
          <a:srcRect xmlns:a="http://schemas.openxmlformats.org/drawingml/2006/main" l="17730" t="0" r="48510" b="0"/>
          <a:stretch xmlns:a="http://schemas.openxmlformats.org/drawingml/2006/main"/>
        </p:blipFill>
        <p:spPr>
          <a:xfrm xmlns:a="http://schemas.openxmlformats.org/drawingml/2006/main">
            <a:off x="959178" y="3596444"/>
            <a:ext cx="2427503" cy="692582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8B8A1B9-35DC-405E-BD14-52E7282A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593" y="3068418"/>
            <a:ext cx="5288627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i="1">
                <a:latin typeface="Times New Roman"/>
                <a:ea typeface="Times New Roman"/>
                <a:cs typeface="Times New Roman"/>
              </a:rPr>
              <a:t>MD</a:t>
            </a:r>
            <a:r>
              <a:rPr sz="1600" i="1" baseline="-25000">
                <a:latin typeface="Times New Roman"/>
                <a:ea typeface="Times New Roman"/>
                <a:cs typeface="Times New Roman"/>
              </a:rPr>
              <a:t>i</a:t>
            </a:r>
            <a:r>
              <a:rPr sz="1600">
                <a:latin typeface="Times New Roman"/>
                <a:ea typeface="Times New Roman"/>
                <a:cs typeface="Times New Roman"/>
              </a:rPr>
              <a:t> and </a:t>
            </a:r>
            <a:r>
              <a:rPr sz="1600" i="1">
                <a:latin typeface="Times New Roman"/>
                <a:ea typeface="Times New Roman"/>
                <a:cs typeface="Times New Roman"/>
              </a:rPr>
              <a:t>CD</a:t>
            </a:r>
            <a:r>
              <a:rPr sz="1600" i="1" baseline="-25000">
                <a:latin typeface="Times New Roman"/>
                <a:ea typeface="Times New Roman"/>
                <a:cs typeface="Times New Roman"/>
              </a:rPr>
              <a:t>i</a:t>
            </a:r>
            <a:r>
              <a:rPr sz="1600">
                <a:latin typeface="Times New Roman"/>
                <a:ea typeface="Times New Roman"/>
                <a:cs typeface="Times New Roman"/>
              </a:rPr>
              <a:t> : </a:t>
            </a:r>
            <a:r>
              <a:rPr sz="1600">
                <a:latin typeface="Times New Roman"/>
                <a:ea typeface="Times New Roman"/>
                <a:cs typeface="Times New Roman"/>
              </a:rPr>
              <a:t>measured and calculated deflections at sensor </a:t>
            </a:r>
            <a:r>
              <a:rPr sz="1600" i="1">
                <a:latin typeface="Times New Roman"/>
                <a:ea typeface="Times New Roman"/>
                <a:cs typeface="Times New Roman"/>
              </a:rPr>
              <a:t>i</a:t>
            </a:r>
            <a:endParaRPr sz="1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1600" i="1">
                <a:latin typeface="Times New Roman"/>
                <a:ea typeface="Times New Roman"/>
                <a:cs typeface="Times New Roman"/>
              </a:rPr>
              <a:t>N</a:t>
            </a:r>
            <a:r>
              <a:rPr sz="1600">
                <a:latin typeface="Times New Roman"/>
                <a:ea typeface="Times New Roman"/>
                <a:cs typeface="Times New Roman"/>
              </a:rPr>
              <a:t> : the number of FWD sensors</a:t>
            </a:r>
            <a:endParaRPr sz="2000"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CD6BA65-706E-42E4-BA9D-14AE60DD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593" y="3743475"/>
            <a:ext cx="755743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Times New Roman"/>
                <a:ea typeface="Times New Roman"/>
                <a:cs typeface="Times New Roman"/>
              </a:rPr>
              <a:t>(</a:t>
            </a:r>
            <a:r>
              <a:rPr sz="1600" i="1">
                <a:latin typeface="Times New Roman"/>
                <a:ea typeface="Times New Roman"/>
                <a:cs typeface="Times New Roman"/>
              </a:rPr>
              <a:t>Err</a:t>
            </a:r>
            <a:r>
              <a:rPr sz="1600">
                <a:latin typeface="Times New Roman"/>
                <a:ea typeface="Times New Roman"/>
                <a:cs typeface="Times New Roman"/>
              </a:rPr>
              <a:t>)</a:t>
            </a:r>
            <a:r>
              <a:rPr sz="1600" i="1" baseline="-25000">
                <a:latin typeface="Times New Roman"/>
                <a:ea typeface="Times New Roman"/>
                <a:cs typeface="Times New Roman"/>
              </a:rPr>
              <a:t>j</a:t>
            </a:r>
            <a:r>
              <a:rPr sz="1600">
                <a:latin typeface="Times New Roman"/>
                <a:ea typeface="Times New Roman"/>
                <a:cs typeface="Times New Roman"/>
              </a:rPr>
              <a:t> and (</a:t>
            </a:r>
            <a:r>
              <a:rPr sz="1600" i="1">
                <a:latin typeface="Times New Roman"/>
                <a:ea typeface="Times New Roman"/>
                <a:cs typeface="Times New Roman"/>
              </a:rPr>
              <a:t>Err</a:t>
            </a:r>
            <a:r>
              <a:rPr sz="1600">
                <a:latin typeface="Times New Roman"/>
                <a:ea typeface="Times New Roman"/>
                <a:cs typeface="Times New Roman"/>
              </a:rPr>
              <a:t>)</a:t>
            </a:r>
            <a:r>
              <a:rPr sz="1600" i="1" baseline="-25000">
                <a:latin typeface="Times New Roman"/>
                <a:ea typeface="Times New Roman"/>
                <a:cs typeface="Times New Roman"/>
              </a:rPr>
              <a:t>j+1</a:t>
            </a:r>
            <a:r>
              <a:rPr sz="1600">
                <a:latin typeface="Times New Roman"/>
                <a:ea typeface="Times New Roman"/>
                <a:cs typeface="Times New Roman"/>
              </a:rPr>
              <a:t> are the errors at two consecutive iterations </a:t>
            </a:r>
            <a:r>
              <a:rPr sz="1600" i="1">
                <a:latin typeface="Times New Roman"/>
                <a:ea typeface="Times New Roman"/>
                <a:cs typeface="Times New Roman"/>
              </a:rPr>
              <a:t>j</a:t>
            </a:r>
            <a:r>
              <a:rPr sz="1600">
                <a:latin typeface="Times New Roman"/>
                <a:ea typeface="Times New Roman"/>
                <a:cs typeface="Times New Roman"/>
              </a:rPr>
              <a:t> and </a:t>
            </a:r>
            <a:r>
              <a:rPr sz="1600" i="1">
                <a:latin typeface="Times New Roman"/>
                <a:ea typeface="Times New Roman"/>
                <a:cs typeface="Times New Roman"/>
              </a:rPr>
              <a:t>j+1</a:t>
            </a:r>
          </a:p>
        </p:txBody>
      </p:sp>
    </p:spTree>
    <p:extLst>
      <p:ext uri="{BB962C8B-B14F-4D97-AF65-F5344CB8AC3E}">
        <p14:creationId xmlns:p14="http://schemas.microsoft.com/office/powerpoint/2010/main" val="1377107573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227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latin typeface="Times New Roman"/>
                <a:ea typeface="Times New Roman"/>
                <a:cs typeface="Times New Roman"/>
              </a:rPr>
              <a:t>Backcalculation Analysis</a:t>
            </a:r>
          </a:p>
        </p:txBody>
      </p:sp>
    </p:spTree>
    <p:extLst>
      <p:ext uri="{BB962C8B-B14F-4D97-AF65-F5344CB8AC3E}">
        <p14:creationId xmlns:p14="http://schemas.microsoft.com/office/powerpoint/2010/main" val="1710179635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A4CD9E5-607A-4CB7-AC1D-42725E87E5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2a0e84b424c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2066" y="1635044"/>
            <a:ext cx="6690693" cy="36319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Analysis Mode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30" y="1208199"/>
            <a:ext cx="5148303" cy="490740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Single Analysis Mode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when a single FWD drop is selected. Results will be shown in the program.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Batch Analysis Mode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when more than one drop is selected. Results will be saved in .csv file.</a:t>
            </a:r>
          </a:p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91225558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AA8592A-A699-4BB8-A9DA-7731E47CC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3b76327ce4e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7852" y="2152650"/>
            <a:ext cx="8459624" cy="35726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Select FWD File</a:t>
            </a:r>
            <a:br/>
            <a:endParaRPr/>
          </a:p>
        </p:txBody>
      </p:sp>
      <p:cxnSp>
        <p:nvCxnSpPr>
          <p:cNvPr id="10" name="Straight Arrow Connector 9">
            <a:extLst xmlns:a="http://schemas.openxmlformats.org/drawingml/2006/main">
              <a:ext uri="{FF2B5EF4-FFF2-40B4-BE49-F238E27FC236}">
                <a16:creationId xmlns:a16="http://schemas.microsoft.com/office/drawing/2014/main" id="{E4351E0E-59C2-4E33-B05A-191B53B17E73}"/>
              </a:ext>
            </a:extLst>
          </p:cNvPr>
          <p:cNvCxnSpPr/>
          <p:nvPr/>
        </p:nvCxnSpPr>
        <p:spPr>
          <a:xfrm xmlns:a="http://schemas.openxmlformats.org/drawingml/2006/main" flipV="1">
            <a:off x="3054448" y="3868729"/>
            <a:ext cx="582732" cy="11708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C0000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3" name="Straight Arrow Connector 12">
            <a:extLst xmlns:a="http://schemas.openxmlformats.org/drawingml/2006/main">
              <a:ext uri="{FF2B5EF4-FFF2-40B4-BE49-F238E27FC236}">
                <a16:creationId xmlns:a16="http://schemas.microsoft.com/office/drawing/2014/main" id="{FFDA6A66-4E08-4BAB-B5F6-F18B4D20B707}"/>
              </a:ext>
            </a:extLst>
          </p:cNvPr>
          <p:cNvCxnSpPr/>
          <p:nvPr/>
        </p:nvCxnSpPr>
        <p:spPr>
          <a:xfrm xmlns:a="http://schemas.openxmlformats.org/drawingml/2006/main">
            <a:off x="3043343" y="3985814"/>
            <a:ext cx="594497" cy="76019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C0000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4" name="Straight Arrow Connector 13">
            <a:extLst xmlns:a="http://schemas.openxmlformats.org/drawingml/2006/main">
              <a:ext uri="{FF2B5EF4-FFF2-40B4-BE49-F238E27FC236}">
                <a16:creationId xmlns:a16="http://schemas.microsoft.com/office/drawing/2014/main" id="{7B4D5B14-D1F2-4CAE-BFA8-843A702D73E5}"/>
              </a:ext>
            </a:extLst>
          </p:cNvPr>
          <p:cNvCxnSpPr/>
          <p:nvPr/>
        </p:nvCxnSpPr>
        <p:spPr>
          <a:xfrm xmlns:a="http://schemas.openxmlformats.org/drawingml/2006/main">
            <a:off x="3054448" y="3985814"/>
            <a:ext cx="582732" cy="163472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C0000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2509" y="1237461"/>
            <a:ext cx="5933491" cy="4171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Select individual drops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  <p:sp>
        <p:nvSpPr>
          <p:cNvPr id="9" name="Text Box 2">
            <a:extLst xmlns:a="http://schemas.openxmlformats.org/drawingml/2006/main">
              <a:ext uri="{FF2B5EF4-FFF2-40B4-BE49-F238E27FC236}">
                <a16:creationId xmlns:a16="http://schemas.microsoft.com/office/drawing/2014/main" id="{5C33549C-1560-42BF-A3DA-6942CEC6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072" y="3798153"/>
            <a:ext cx="1101982" cy="4736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rot="0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algn="l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sz="1200">
                <a:latin typeface="Times New Roman"/>
                <a:ea typeface="Times New Roman"/>
                <a:cs typeface="Times New Roman"/>
              </a:rPr>
              <a:t>Click on FWD drops to select</a:t>
            </a:r>
          </a:p>
        </p:txBody>
      </p:sp>
    </p:spTree>
    <p:extLst>
      <p:ext uri="{BB962C8B-B14F-4D97-AF65-F5344CB8AC3E}">
        <p14:creationId xmlns:p14="http://schemas.microsoft.com/office/powerpoint/2010/main" val="959343139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Select FWD File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2509" y="1237461"/>
            <a:ext cx="5933491" cy="4171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Select All button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  <p:cxnSp>
        <p:nvCxnSpPr>
          <p:cNvPr id="9" name="Straight Arrow Connector 8">
            <a:extLst xmlns:a="http://schemas.openxmlformats.org/drawingml/2006/main">
              <a:ext uri="{FF2B5EF4-FFF2-40B4-BE49-F238E27FC236}">
                <a16:creationId xmlns:a16="http://schemas.microsoft.com/office/drawing/2014/main" id="{E908FED0-A167-42FF-9995-52BAD5365F3A}"/>
              </a:ext>
            </a:extLst>
          </p:cNvPr>
          <p:cNvCxnSpPr/>
          <p:nvPr/>
        </p:nvCxnSpPr>
        <p:spPr>
          <a:xfrm xmlns:a="http://schemas.openxmlformats.org/drawingml/2006/main" flipV="1">
            <a:off x="9762772" y="1848465"/>
            <a:ext cx="0" cy="363794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C0000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313C57E3-B3AA-4C32-A678-5DE13D616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45ffef9a4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3578" y="1237461"/>
            <a:ext cx="7870290" cy="47239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19434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E39A11FC-4100-4D9D-B0E5-4BB07736B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b6d91982d45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2696" y="1234440"/>
            <a:ext cx="7922611" cy="4727448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Select FWD File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2509" y="1237461"/>
            <a:ext cx="5933491" cy="4171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Select Drops button</a:t>
            </a:r>
          </a:p>
          <a:p xmlns:a="http://schemas.openxmlformats.org/drawingml/2006/main">
            <a:pPr lvl="1">
              <a:buFont typeface="Wingdings"/>
              <a:buChar char="ü"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  <p:cxnSp>
        <p:nvCxnSpPr>
          <p:cNvPr id="7" name="Straight Arrow Connector 6">
            <a:extLst xmlns:a="http://schemas.openxmlformats.org/drawingml/2006/main">
              <a:ext uri="{FF2B5EF4-FFF2-40B4-BE49-F238E27FC236}">
                <a16:creationId xmlns:a16="http://schemas.microsoft.com/office/drawing/2014/main" id="{75230F21-8A73-4BC1-AC58-42478DC40775}"/>
              </a:ext>
            </a:extLst>
          </p:cNvPr>
          <p:cNvCxnSpPr/>
          <p:nvPr/>
        </p:nvCxnSpPr>
        <p:spPr>
          <a:xfrm xmlns:a="http://schemas.openxmlformats.org/drawingml/2006/main" flipV="1">
            <a:off x="9541394" y="1584920"/>
            <a:ext cx="0" cy="363794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C0000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037660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Select FWD File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2509" y="1237461"/>
            <a:ext cx="5933491" cy="4171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Select Drops button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 sz="2000">
                <a:latin typeface="Times New Roman"/>
                <a:ea typeface="Times New Roman"/>
                <a:cs typeface="Times New Roman"/>
              </a:rPr>
              <a:t>Selection menu</a:t>
            </a:r>
            <a:endParaRPr sz="20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buFont typeface="Wingdings"/>
              <a:buChar char="ü"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1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 sz="2400"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74ED0EA-EA15-41FD-880E-C2FEE85DCB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3cef5c5494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2696" y="1237461"/>
            <a:ext cx="7760332" cy="47274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27208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610C03A-A811-41F2-AB9E-25D160DC8B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401a81e4284b84"/>
          <a:srcRect xmlns:a="http://schemas.openxmlformats.org/drawingml/2006/main" l="0" t="0" r="4169" b="0"/>
          <a:stretch xmlns:a="http://schemas.openxmlformats.org/drawingml/2006/main"/>
        </p:blipFill>
        <p:spPr>
          <a:xfrm xmlns:a="http://schemas.openxmlformats.org/drawingml/2006/main">
            <a:off x="5279626" y="1387143"/>
            <a:ext cx="6902837" cy="3549876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Analysis Output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30" y="1208199"/>
            <a:ext cx="5003565" cy="490740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Backcalculated Moduli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In batch mode: geometric mean (“Geo. Mean”)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Calculated Deflections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In batch mode: displayed only for the last drop selected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Iteration Number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In batch mode: displayed only for the last drop selected</a:t>
            </a:r>
          </a:p>
          <a:p xmlns:a="http://schemas.openxmlformats.org/drawingml/2006/main">
            <a:endParaRPr/>
          </a:p>
        </p:txBody>
      </p:sp>
      <p:cxnSp>
        <p:nvCxnSpPr>
          <p:cNvPr id="12" name="Straight Arrow Connector 11">
            <a:extLst xmlns:a="http://schemas.openxmlformats.org/drawingml/2006/main">
              <a:ext uri="{FF2B5EF4-FFF2-40B4-BE49-F238E27FC236}">
                <a16:creationId xmlns:a16="http://schemas.microsoft.com/office/drawing/2014/main" id="{8E021CC4-E3BC-4900-975B-2F8659720928}"/>
              </a:ext>
            </a:extLst>
          </p:cNvPr>
          <p:cNvCxnSpPr>
            <a:stCxn xmlns:a="http://schemas.openxmlformats.org/drawingml/2006/main" id="13" idx="0"/>
          </p:cNvCxnSpPr>
          <p:nvPr/>
        </p:nvCxnSpPr>
        <p:spPr>
          <a:xfrm xmlns:a="http://schemas.openxmlformats.org/drawingml/2006/main" rot="0" flipH="0" flipV="1">
            <a:off x="7412298" y="4511921"/>
            <a:ext cx="0" cy="28061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0000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82BA6F1-6B69-485F-9CAD-738C3F24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8426" y="4792533"/>
            <a:ext cx="1827744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Calculated Deflections</a:t>
            </a:r>
            <a:endParaRPr sz="1400" b="0" i="0" u="none" strike="noStrike" kern="1200" cap="none" spc="0" baseline="0">
              <a:ln>
                <a:noFill/>
              </a:ln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398B497-8144-4B01-AA6C-6484F857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930" y="4344470"/>
            <a:ext cx="3602736" cy="154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5D88F0-BAC6-43EA-9BEF-16684C2E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528" y="2088494"/>
            <a:ext cx="1598199" cy="24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8EB06D3-9B42-488C-A340-FE49953C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528" y="2779567"/>
            <a:ext cx="1425390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Iteration Number</a:t>
            </a:r>
            <a:endParaRPr sz="1400" b="0" i="0" u="none" strike="noStrike" kern="1200" cap="none" spc="0" baseline="0">
              <a:ln>
                <a:noFill/>
              </a:ln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7" name="Straight Arrow Connector 16">
            <a:extLst xmlns:a="http://schemas.openxmlformats.org/drawingml/2006/main">
              <a:ext uri="{FF2B5EF4-FFF2-40B4-BE49-F238E27FC236}">
                <a16:creationId xmlns:a16="http://schemas.microsoft.com/office/drawing/2014/main" id="{C4FB1683-B7E4-4391-8902-43C4EAAA0A6F}"/>
              </a:ext>
            </a:extLst>
          </p:cNvPr>
          <p:cNvCxnSpPr/>
          <p:nvPr/>
        </p:nvCxnSpPr>
        <p:spPr>
          <a:xfrm xmlns:a="http://schemas.openxmlformats.org/drawingml/2006/main" flipV="1">
            <a:off x="10003664" y="2345032"/>
            <a:ext cx="0" cy="4345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0000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" name="Text Box 2">
            <a:extLst xmlns:a="http://schemas.openxmlformats.org/drawingml/2006/main">
              <a:ext uri="{FF2B5EF4-FFF2-40B4-BE49-F238E27FC236}">
                <a16:creationId xmlns:a16="http://schemas.microsoft.com/office/drawing/2014/main" id="{5694B195-FA86-42B3-A214-3CAD1CC7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360" y="1210723"/>
            <a:ext cx="1533525" cy="42616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rot="0" vert="horz" wrap="square" lIns="4572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algn="l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Geometric mean of backcalculated moduli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DDA5863-6404-4425-9EF0-C0AB4819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301" y="1907292"/>
            <a:ext cx="624131" cy="956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20" name="Straight Arrow Connector 19">
            <a:extLst xmlns:a="http://schemas.openxmlformats.org/drawingml/2006/main">
              <a:ext uri="{FF2B5EF4-FFF2-40B4-BE49-F238E27FC236}">
                <a16:creationId xmlns:a16="http://schemas.microsoft.com/office/drawing/2014/main" id="{F08B42F4-A466-4DFE-957D-CEFC158B76D7}"/>
              </a:ext>
            </a:extLst>
          </p:cNvPr>
          <p:cNvCxnSpPr/>
          <p:nvPr/>
        </p:nvCxnSpPr>
        <p:spPr>
          <a:xfrm xmlns:a="http://schemas.openxmlformats.org/drawingml/2006/main">
            <a:off x="7716366" y="1636890"/>
            <a:ext cx="0" cy="27040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0000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438984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E4B5C05-93D0-4922-9614-77E5CE0F55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76d9f46c15463c"/>
          <a:srcRect xmlns:a="http://schemas.openxmlformats.org/drawingml/2006/main" l="0" t="0" r="4169" b="0"/>
          <a:stretch xmlns:a="http://schemas.openxmlformats.org/drawingml/2006/main"/>
        </p:blipFill>
        <p:spPr>
          <a:xfrm xmlns:a="http://schemas.openxmlformats.org/drawingml/2006/main">
            <a:off x="5575089" y="1539089"/>
            <a:ext cx="6607374" cy="339793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Analysis Output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30" y="1208199"/>
            <a:ext cx="4999425" cy="490740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Root Mean Square Error (RMSE)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between measured and calculated deflections</a:t>
            </a:r>
          </a:p>
          <a:p xmlns:a="http://schemas.openxmlformats.org/drawingml/2006/main">
            <a:endParaRPr/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5AE232FB-FBBC-4232-A419-71AAAEF0B7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cc2357df0a4483"/>
          <a:srcRect xmlns:a="http://schemas.openxmlformats.org/drawingml/2006/main" l="2779" t="-2162" r="45723" b="0"/>
          <a:stretch xmlns:a="http://schemas.openxmlformats.org/drawingml/2006/main"/>
        </p:blipFill>
        <p:spPr>
          <a:xfrm xmlns:a="http://schemas.openxmlformats.org/drawingml/2006/main">
            <a:off x="152678" y="2383654"/>
            <a:ext cx="4776936" cy="115097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70DF80B-C587-42DA-85AF-4D72F6A5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38" y="3661902"/>
            <a:ext cx="5437001" cy="1519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latin typeface="Times New Roman"/>
                <a:ea typeface="Times New Roman"/>
                <a:cs typeface="Times New Roman"/>
              </a:rPr>
              <a:t>where:</a:t>
            </a:r>
          </a:p>
          <a:p xmlns:a="http://schemas.openxmlformats.org/drawingml/2006/main"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bSup>
                    <m:e>
                      <m:r>
                        <a:rPr xmlns:a="http://schemas.openxmlformats.org/drawingml/2006/main" lang="en-US" sz="2200" i="1">
                          <a:latin typeface="Cambria Math"/>
                          <a:ea typeface="Cambria Math"/>
                          <a:cs typeface="Cambria Math"/>
                        </a:rPr>
                        <m:t>𝑑</m:t>
                      </m:r>
                    </m:e>
                    <m:sub>
                      <m:r>
                        <a:rPr xmlns:a="http://schemas.openxmlformats.org/drawingml/2006/main" lang="en-US" sz="2200" i="1">
                          <a:latin typeface="Cambria Math"/>
                          <a:ea typeface="Cambria Math"/>
                          <a:cs typeface="Cambria Math"/>
                        </a:rPr>
                        <m:t>𝑖</m:t>
                      </m:r>
                    </m:sub>
                    <m:sup>
                      <m:r>
                        <a:rPr xmlns:a="http://schemas.openxmlformats.org/drawingml/2006/main" lang="en-US" sz="2200" i="1">
                          <a:latin typeface="Cambria Math"/>
                          <a:ea typeface="Cambria Math"/>
                          <a:cs typeface="Cambria Math"/>
                        </a:rPr>
                        <m:t>𝑐</m:t>
                      </m:r>
                    </m:sup>
                  </m:sSubSup>
                </m:oMath>
              </m:oMathPara>
            </a14:m>
            <a:r>
              <a:rPr sz="2200">
                <a:latin typeface="Times New Roman"/>
                <a:ea typeface="Times New Roman"/>
                <a:cs typeface="Times New Roman"/>
              </a:rPr>
              <a:t> : Calculated deflection for i</a:t>
            </a:r>
            <a:r>
              <a:rPr sz="2200" baseline="30000">
                <a:latin typeface="Times New Roman"/>
                <a:ea typeface="Times New Roman"/>
                <a:cs typeface="Times New Roman"/>
              </a:rPr>
              <a:t>th</a:t>
            </a:r>
            <a:r>
              <a:rPr sz="2200">
                <a:latin typeface="Times New Roman"/>
                <a:ea typeface="Times New Roman"/>
                <a:cs typeface="Times New Roman"/>
              </a:rPr>
              <a:t> sensor</a:t>
            </a:r>
            <a:endParaRPr sz="2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bSup>
                    <m:e>
                      <m:r>
                        <a:rPr xmlns:a="http://schemas.openxmlformats.org/drawingml/2006/main" lang="en-US" sz="2200" i="1">
                          <a:latin typeface="Cambria Math"/>
                          <a:ea typeface="Cambria Math"/>
                          <a:cs typeface="Cambria Math"/>
                        </a:rPr>
                        <m:t>𝑑</m:t>
                      </m:r>
                    </m:e>
                    <m:sub>
                      <m:r>
                        <a:rPr xmlns:a="http://schemas.openxmlformats.org/drawingml/2006/main" lang="en-US" sz="2200" i="1">
                          <a:latin typeface="Cambria Math"/>
                          <a:ea typeface="Cambria Math"/>
                          <a:cs typeface="Cambria Math"/>
                        </a:rPr>
                        <m:t>𝑖</m:t>
                      </m:r>
                    </m:sub>
                    <m:sup>
                      <m:r>
                        <a:rPr xmlns:a="http://schemas.openxmlformats.org/drawingml/2006/main" lang="en-US" sz="2200" i="1">
                          <a:latin typeface="Cambria Math"/>
                          <a:ea typeface="Cambria Math"/>
                          <a:cs typeface="Cambria Math"/>
                        </a:rPr>
                        <m:t>𝑚</m:t>
                      </m:r>
                    </m:sup>
                  </m:sSubSup>
                </m:oMath>
              </m:oMathPara>
            </a14:m>
            <a:r>
              <a:rPr sz="2200">
                <a:latin typeface="Times New Roman"/>
                <a:ea typeface="Times New Roman"/>
                <a:cs typeface="Times New Roman"/>
              </a:rPr>
              <a:t> : Measured deflection for i</a:t>
            </a:r>
            <a:r>
              <a:rPr sz="2200" baseline="30000">
                <a:latin typeface="Times New Roman"/>
                <a:ea typeface="Times New Roman"/>
                <a:cs typeface="Times New Roman"/>
              </a:rPr>
              <a:t>th</a:t>
            </a:r>
            <a:r>
              <a:rPr sz="2200">
                <a:latin typeface="Times New Roman"/>
                <a:ea typeface="Times New Roman"/>
                <a:cs typeface="Times New Roman"/>
              </a:rPr>
              <a:t> sensor</a:t>
            </a:r>
            <a:endParaRPr sz="2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i="1">
                <a:latin typeface="Times New Roman"/>
                <a:ea typeface="Times New Roman"/>
                <a:cs typeface="Times New Roman"/>
              </a:rPr>
              <a:t>N</a:t>
            </a:r>
            <a:r>
              <a:rPr sz="2200">
                <a:latin typeface="Times New Roman"/>
                <a:ea typeface="Times New Roman"/>
                <a:cs typeface="Times New Roman"/>
              </a:rPr>
              <a:t>: Number of sensors</a:t>
            </a:r>
            <a:endParaRPr sz="2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3BE50F-9817-4AA1-9E2C-109637F7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211" y="2509950"/>
            <a:ext cx="1486172" cy="187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8615329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Analysis Output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30" y="1208199"/>
            <a:ext cx="9187967" cy="4907406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.CSV Output File content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Pavement structure (pavement type, seed modulus, Poisson’s ratio, interface parameter, thickness, and moduli changeable)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FWD (DMI, drop no., load, and operator comments or remarks)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Iteration tolerance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Backcalculated modulus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RMSE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Number of iterations completed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LTE values based on the user selection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Measured deflections for each selected FWD drop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>
                <a:latin typeface="Times New Roman"/>
                <a:ea typeface="Times New Roman"/>
                <a:cs typeface="Times New Roman"/>
              </a:rPr>
              <a:t>Calculated deflections for each selected FWD drop</a:t>
            </a:r>
          </a:p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53184090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D7DB1DBC-E699-407A-9F07-AA38E110EE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e4606930546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7901" y="1533832"/>
            <a:ext cx="5471267" cy="437559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C521B65-F354-4D25-9D34-3F9D2B7CAB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3d603dd49847de"/>
          <a:srcRect xmlns:a="http://schemas.openxmlformats.org/drawingml/2006/main" l="0" t="0" r="31124" b="5321"/>
          <a:stretch xmlns:a="http://schemas.openxmlformats.org/drawingml/2006/main"/>
        </p:blipFill>
        <p:spPr>
          <a:xfrm xmlns:a="http://schemas.openxmlformats.org/drawingml/2006/main">
            <a:off x="7940028" y="101154"/>
            <a:ext cx="3847973" cy="1249675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Show Output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30" y="1208199"/>
            <a:ext cx="5068251" cy="3717762"/>
          </a:xfrm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Show Output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 – Single Analysis  Mode 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Displays backcalculation results for that drop, including: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Calculated deflections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RMSE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Iteration number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FWD information</a:t>
            </a:r>
          </a:p>
          <a:p xmlns:a="http://schemas.openxmlformats.org/drawingml/2006/main">
            <a:pPr marR="0"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Impulse Stiffness Modulus (</a:t>
            </a:r>
            <a:r>
              <a:rPr sz="2200" i="1">
                <a:latin typeface="Times New Roman"/>
                <a:ea typeface="Times New Roman"/>
                <a:cs typeface="Times New Roman"/>
              </a:rPr>
              <a:t>ISM</a:t>
            </a:r>
            <a:r>
              <a:rPr sz="2200">
                <a:latin typeface="Times New Roman"/>
                <a:ea typeface="Times New Roman"/>
                <a:cs typeface="Times New Roman"/>
              </a:rPr>
              <a:t>=</a:t>
            </a:r>
            <a:r>
              <a:rPr sz="2200" i="1">
                <a:latin typeface="Times New Roman"/>
                <a:ea typeface="Times New Roman"/>
                <a:cs typeface="Times New Roman"/>
              </a:rPr>
              <a:t>L</a:t>
            </a:r>
            <a:r>
              <a:rPr sz="2200">
                <a:latin typeface="Times New Roman"/>
                <a:ea typeface="Times New Roman"/>
                <a:cs typeface="Times New Roman"/>
              </a:rPr>
              <a:t>/</a:t>
            </a:r>
            <a:r>
              <a:rPr sz="2400" i="1">
                <a:latin typeface="Times New Roman"/>
                <a:ea typeface="Times New Roman"/>
                <a:cs typeface="Times New Roman"/>
              </a:rPr>
              <a:t> D</a:t>
            </a:r>
            <a:r>
              <a:rPr sz="2400" baseline="-25000">
                <a:latin typeface="Times New Roman"/>
                <a:ea typeface="Times New Roman"/>
                <a:cs typeface="Times New Roman"/>
              </a:rPr>
              <a:t>0</a:t>
            </a:r>
            <a:r>
              <a:rPr sz="2200">
                <a:latin typeface="Times New Roman"/>
                <a:ea typeface="Times New Roman"/>
                <a:cs typeface="Times New Roman"/>
              </a:rPr>
              <a:t>)</a:t>
            </a: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171A7CF-0D6B-4E3E-90ED-26BE3DA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005" y="4513006"/>
            <a:ext cx="2830899" cy="984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600" i="1">
                <a:latin typeface="Times New Roman"/>
                <a:ea typeface="Times New Roman"/>
                <a:cs typeface="Times New Roman"/>
              </a:rPr>
              <a:t>L</a:t>
            </a:r>
            <a:r>
              <a:rPr sz="1600">
                <a:latin typeface="Times New Roman"/>
                <a:ea typeface="Times New Roman"/>
                <a:cs typeface="Times New Roman"/>
              </a:rPr>
              <a:t> is the applied FWD load;</a:t>
            </a:r>
          </a:p>
          <a:p xmlns:a="http://schemas.openxmlformats.org/drawingml/2006/main">
            <a:r>
              <a:rPr sz="1600" i="1">
                <a:latin typeface="Times New Roman"/>
                <a:ea typeface="Times New Roman"/>
                <a:cs typeface="Times New Roman"/>
              </a:rPr>
              <a:t>D</a:t>
            </a:r>
            <a:r>
              <a:rPr sz="1600" baseline="-25000">
                <a:latin typeface="Times New Roman"/>
                <a:ea typeface="Times New Roman"/>
                <a:cs typeface="Times New Roman"/>
              </a:rPr>
              <a:t>0</a:t>
            </a:r>
            <a:r>
              <a:rPr sz="1600">
                <a:latin typeface="Times New Roman"/>
                <a:ea typeface="Times New Roman"/>
                <a:cs typeface="Times New Roman"/>
              </a:rPr>
              <a:t> is the deflection under FWD load plate.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556889772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E07B3CA0-C709-43C6-B1BF-2BB62059E6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004699b5242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9350" y="1531997"/>
            <a:ext cx="5494937" cy="4399792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4D196D9-9262-4FC9-AB1E-9A7F724E1A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139e9d43e44945"/>
          <a:srcRect xmlns:a="http://schemas.openxmlformats.org/drawingml/2006/main" l="0" t="0" r="76386" b="85335"/>
          <a:stretch xmlns:a="http://schemas.openxmlformats.org/drawingml/2006/main"/>
        </p:blipFill>
        <p:spPr>
          <a:xfrm xmlns:a="http://schemas.openxmlformats.org/drawingml/2006/main">
            <a:off x="7940027" y="72797"/>
            <a:ext cx="3845583" cy="1293618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Show Output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30" y="1208198"/>
            <a:ext cx="5196070" cy="479931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Show Output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 – Batch Analysis Mode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Backcalculation outputs, FWD information, and ISM are displayed for the last drop selected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Arithmetic and geometric means of backcalculated modulus of each layer</a:t>
            </a:r>
          </a:p>
          <a:p xmlns:a="http://schemas.openxmlformats.org/drawingml/2006/main">
            <a:pPr lvl="1">
              <a:lnSpc>
                <a:spcPct val="107000"/>
              </a:lnSpc>
              <a:buFont typeface="Wingdings"/>
              <a:buChar char="ü"/>
            </a:pPr>
            <a:endParaRPr sz="2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F1C42796-DA7A-499E-9401-9095C40559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f6ae4864f34d95"/>
          <a:srcRect xmlns:a="http://schemas.openxmlformats.org/drawingml/2006/main" l="12753" t="1" r="32318" b="1"/>
          <a:stretch xmlns:a="http://schemas.openxmlformats.org/drawingml/2006/main"/>
        </p:blipFill>
        <p:spPr>
          <a:xfrm xmlns:a="http://schemas.openxmlformats.org/drawingml/2006/main">
            <a:off x="1130711" y="3655334"/>
            <a:ext cx="3757021" cy="588617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1577CF6F-8C41-4092-9ED1-408E010FA1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53f50b66a54330"/>
          <a:srcRect xmlns:a="http://schemas.openxmlformats.org/drawingml/2006/main" l="12930" t="-764" r="31134" b="-1"/>
          <a:stretch xmlns:a="http://schemas.openxmlformats.org/drawingml/2006/main"/>
        </p:blipFill>
        <p:spPr>
          <a:xfrm xmlns:a="http://schemas.openxmlformats.org/drawingml/2006/main">
            <a:off x="1135078" y="4243951"/>
            <a:ext cx="3757021" cy="435753"/>
          </a:xfrm>
          <a:prstGeom xmlns:a="http://schemas.openxmlformats.org/drawingml/2006/main" prst="rect">
            <a:avLst/>
          </a:prstGeom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0F52910-1DA3-4E76-A95B-F8089F9A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556" y="4709754"/>
            <a:ext cx="49894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i="1">
                <a:latin typeface="Times New Roman"/>
                <a:ea typeface="Times New Roman"/>
                <a:cs typeface="Times New Roman"/>
              </a:rPr>
              <a:t>n</a:t>
            </a:r>
            <a:r>
              <a:rPr sz="1600">
                <a:latin typeface="Times New Roman"/>
                <a:ea typeface="Times New Roman"/>
                <a:cs typeface="Times New Roman"/>
              </a:rPr>
              <a:t> is the number of test points selected for backcalculation;</a:t>
            </a:r>
          </a:p>
          <a:p xmlns:a="http://schemas.openxmlformats.org/drawingml/2006/main">
            <a:r>
              <a:rPr sz="1600" i="1">
                <a:latin typeface="Times New Roman"/>
                <a:ea typeface="Times New Roman"/>
                <a:cs typeface="Times New Roman"/>
              </a:rPr>
              <a:t>E</a:t>
            </a:r>
            <a:r>
              <a:rPr sz="1600" i="1" baseline="-25000">
                <a:latin typeface="Times New Roman"/>
                <a:ea typeface="Times New Roman"/>
                <a:cs typeface="Times New Roman"/>
              </a:rPr>
              <a:t>11</a:t>
            </a:r>
            <a:r>
              <a:rPr sz="1600">
                <a:latin typeface="Times New Roman"/>
                <a:ea typeface="Times New Roman"/>
                <a:cs typeface="Times New Roman"/>
              </a:rPr>
              <a:t>, </a:t>
            </a:r>
            <a:r>
              <a:rPr sz="1600" i="1">
                <a:latin typeface="Times New Roman"/>
                <a:ea typeface="Times New Roman"/>
                <a:cs typeface="Times New Roman"/>
              </a:rPr>
              <a:t>E</a:t>
            </a:r>
            <a:r>
              <a:rPr sz="1600" i="1" baseline="-25000">
                <a:latin typeface="Times New Roman"/>
                <a:ea typeface="Times New Roman"/>
                <a:cs typeface="Times New Roman"/>
              </a:rPr>
              <a:t>12</a:t>
            </a:r>
            <a:r>
              <a:rPr sz="1600">
                <a:latin typeface="Times New Roman"/>
                <a:ea typeface="Times New Roman"/>
                <a:cs typeface="Times New Roman"/>
              </a:rPr>
              <a:t> and </a:t>
            </a:r>
            <a:r>
              <a:rPr sz="1600" i="1">
                <a:latin typeface="Times New Roman"/>
                <a:ea typeface="Times New Roman"/>
                <a:cs typeface="Times New Roman"/>
              </a:rPr>
              <a:t>E</a:t>
            </a:r>
            <a:r>
              <a:rPr sz="1600" i="1" baseline="-25000">
                <a:latin typeface="Times New Roman"/>
                <a:ea typeface="Times New Roman"/>
                <a:cs typeface="Times New Roman"/>
              </a:rPr>
              <a:t>1n</a:t>
            </a:r>
            <a:r>
              <a:rPr sz="1600">
                <a:latin typeface="Times New Roman"/>
                <a:ea typeface="Times New Roman"/>
                <a:cs typeface="Times New Roman"/>
              </a:rPr>
              <a:t> are the backcalculated modulus of layer 1 at test points 1, 2 and </a:t>
            </a:r>
            <a:r>
              <a:rPr sz="1600" i="1">
                <a:latin typeface="Times New Roman"/>
                <a:ea typeface="Times New Roman"/>
                <a:cs typeface="Times New Roman"/>
              </a:rPr>
              <a:t>n</a:t>
            </a:r>
            <a:r>
              <a:rPr sz="1600">
                <a:latin typeface="Times New Roman"/>
                <a:ea typeface="Times New Roman"/>
                <a:cs typeface="Times New Roman"/>
              </a:rPr>
              <a:t>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425775908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82D9B590-741E-4BAF-8F71-1543A293A5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cfb9ae3b4648b2"/>
          <a:srcRect xmlns:a="http://schemas.openxmlformats.org/drawingml/2006/main" l="12824" t="5540" r="17890" b="28728"/>
          <a:stretch xmlns:a="http://schemas.openxmlformats.org/drawingml/2006/main"/>
        </p:blipFill>
        <p:spPr>
          <a:xfrm xmlns:a="http://schemas.openxmlformats.org/drawingml/2006/main">
            <a:off x="5908439" y="1690272"/>
            <a:ext cx="6259616" cy="3216706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Stop Backcalculation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30" y="1208198"/>
            <a:ext cx="5668018" cy="479931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Stop Backcalculation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Aborts in-progress backcalculation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Backcalculation results can still be found up to the point of termination: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In “Show Output” for single mode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In the .csv file for batch mode</a:t>
            </a:r>
          </a:p>
          <a:p xmlns:a="http://schemas.openxmlformats.org/drawingml/2006/main">
            <a:pPr lvl="1">
              <a:lnSpc>
                <a:spcPct val="107000"/>
              </a:lnSpc>
              <a:buFont typeface="Wingdings"/>
              <a:buChar char="ü"/>
            </a:pPr>
            <a:endParaRPr sz="2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A3321E4-568B-4502-8AB9-CB5C15EB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406" y="1917493"/>
            <a:ext cx="839085" cy="182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259657718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CF968BD4-9788-4C29-8BF1-529060AD39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fe854a24247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1192" y="2761489"/>
            <a:ext cx="6070293" cy="3171048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C213C2D1-FFBE-482D-B5F7-EBCB1C42B7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1cba8e178c4478"/>
          <a:srcRect xmlns:a="http://schemas.openxmlformats.org/drawingml/2006/main" l="0" t="0" r="74381" b="85335"/>
          <a:stretch xmlns:a="http://schemas.openxmlformats.org/drawingml/2006/main"/>
        </p:blipFill>
        <p:spPr>
          <a:xfrm xmlns:a="http://schemas.openxmlformats.org/drawingml/2006/main">
            <a:off x="7228220" y="1313895"/>
            <a:ext cx="3979969" cy="1234046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Batch Graph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29" y="1208198"/>
            <a:ext cx="5948045" cy="479931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Batch Graph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Deflections tab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graphs measured and calculated deflections for two sensors: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Sensor under the FWD load plate (D</a:t>
            </a:r>
            <a:r>
              <a:rPr sz="2200" baseline="-25000">
                <a:latin typeface="Times New Roman"/>
                <a:ea typeface="Times New Roman"/>
                <a:cs typeface="Times New Roman"/>
              </a:rPr>
              <a:t>0</a:t>
            </a:r>
            <a:r>
              <a:rPr sz="2200"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The outermost sensor (D</a:t>
            </a:r>
            <a:r>
              <a:rPr sz="2200" baseline="-25000">
                <a:latin typeface="Times New Roman"/>
                <a:ea typeface="Times New Roman"/>
                <a:cs typeface="Times New Roman"/>
              </a:rPr>
              <a:t>72</a:t>
            </a:r>
            <a:r>
              <a:rPr sz="2200"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pPr marL="342900" lvl="1" indent="-342900">
              <a:lnSpc>
                <a:spcPct val="107000"/>
              </a:lnSpc>
              <a:buChar char="•"/>
            </a:pPr>
            <a:r>
              <a:rPr>
                <a:latin typeface="Times New Roman"/>
                <a:ea typeface="Times New Roman"/>
                <a:cs typeface="Times New Roman"/>
              </a:rPr>
              <a:t>“Show Measured” displays measured deflections.</a:t>
            </a:r>
          </a:p>
          <a:p xmlns:a="http://schemas.openxmlformats.org/drawingml/2006/main">
            <a:pPr marL="342900" lvl="1" indent="-342900">
              <a:lnSpc>
                <a:spcPct val="107000"/>
              </a:lnSpc>
              <a:buChar char="•"/>
            </a:pPr>
            <a:r>
              <a:rPr>
                <a:latin typeface="Times New Roman"/>
                <a:ea typeface="Times New Roman"/>
                <a:cs typeface="Times New Roman"/>
              </a:rPr>
              <a:t>“Show Calculated” displays backcalculated deflections.</a:t>
            </a:r>
          </a:p>
          <a:p xmlns:a="http://schemas.openxmlformats.org/drawingml/2006/main">
            <a:pPr marL="342900" lvl="1" indent="-342900">
              <a:lnSpc>
                <a:spcPct val="107000"/>
              </a:lnSpc>
              <a:buChar char="•"/>
            </a:pPr>
            <a:r>
              <a:rPr>
                <a:latin typeface="Times New Roman"/>
                <a:ea typeface="Times New Roman"/>
                <a:cs typeface="Times New Roman"/>
              </a:rPr>
              <a:t>X-axis is DMI location of selected FWD test points.</a:t>
            </a:r>
          </a:p>
          <a:p xmlns:a="http://schemas.openxmlformats.org/drawingml/2006/main">
            <a:pPr lvl="1">
              <a:lnSpc>
                <a:spcPct val="107000"/>
              </a:lnSpc>
              <a:buFont typeface="Wingdings"/>
              <a:buChar char="ü"/>
            </a:pPr>
            <a:endParaRPr sz="22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4243763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DE71BE35-561D-4888-8B60-1C013DEF5F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b949391224c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7698" y="2752435"/>
            <a:ext cx="6077075" cy="3177477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Backcalculation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Batch Graph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29" y="1208198"/>
            <a:ext cx="5948045" cy="479931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Batch Graph</a:t>
            </a:r>
          </a:p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Modulus tab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: displays backcalculated modulus values in logarithmic scale.</a:t>
            </a:r>
          </a:p>
          <a:p xmlns:a="http://schemas.openxmlformats.org/drawingml/2006/main">
            <a:pPr marL="342900" lvl="1" indent="-342900">
              <a:lnSpc>
                <a:spcPct val="107000"/>
              </a:lnSpc>
              <a:buChar char="•"/>
            </a:pPr>
            <a:r>
              <a:rPr>
                <a:latin typeface="Times New Roman"/>
                <a:ea typeface="Times New Roman"/>
                <a:cs typeface="Times New Roman"/>
              </a:rPr>
              <a:t>X-axis is DMI location of selected FWD test points.</a:t>
            </a:r>
          </a:p>
          <a:p xmlns:a="http://schemas.openxmlformats.org/drawingml/2006/main">
            <a:pPr marL="342900" lvl="1" indent="-342900">
              <a:lnSpc>
                <a:spcPct val="107000"/>
              </a:lnSpc>
              <a:buChar char="•"/>
            </a:pPr>
            <a:r>
              <a:rPr>
                <a:latin typeface="Times New Roman"/>
                <a:ea typeface="Times New Roman"/>
                <a:cs typeface="Times New Roman"/>
              </a:rPr>
              <a:t>User can toggle off any layer of pavement in the backcalculated modulus graph.</a:t>
            </a:r>
          </a:p>
          <a:p xmlns:a="http://schemas.openxmlformats.org/drawingml/2006/main">
            <a:pPr lvl="1">
              <a:lnSpc>
                <a:spcPct val="107000"/>
              </a:lnSpc>
              <a:buFont typeface="Wingdings"/>
              <a:buChar char="ü"/>
            </a:pPr>
            <a:endParaRPr sz="22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7518624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227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latin typeface="Times New Roman"/>
                <a:ea typeface="Times New Roman"/>
                <a:cs typeface="Times New Roman"/>
              </a:rPr>
              <a:t>Load Transfer Efficiency (LTE) Calculation</a:t>
            </a:r>
          </a:p>
        </p:txBody>
      </p:sp>
    </p:spTree>
    <p:extLst>
      <p:ext uri="{BB962C8B-B14F-4D97-AF65-F5344CB8AC3E}">
        <p14:creationId xmlns:p14="http://schemas.microsoft.com/office/powerpoint/2010/main" val="1390314801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F85ACA1-ABCF-4F11-9289-C6FA9EB5AC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d2ed94d6e41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0750" y="1569381"/>
            <a:ext cx="5948045" cy="4180187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LTE Calculation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Calculate LTE between Two Jointed Concrete Slabs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0329" y="1208198"/>
            <a:ext cx="5948045" cy="479931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342900" lvl="1" indent="-342900">
              <a:lnSpc>
                <a:spcPct val="107000"/>
              </a:lnSpc>
              <a:buChar char="•"/>
            </a:pPr>
            <a:r>
              <a:rPr>
                <a:latin typeface="Times New Roman"/>
                <a:ea typeface="Times New Roman"/>
                <a:cs typeface="Times New Roman"/>
              </a:rPr>
              <a:t>Select between case 1, 2, or 3 based on FWD sensor configuration and FWD test layout at slab joints.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BAKFAA disables case 1 and 2 for FWD tests with no negative offset sensor (-12 in. offset) or when the user excludes the negative offset sensor.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BAKFAA disables case 3 for FWD tests with a negative offset sensor.</a:t>
            </a:r>
          </a:p>
          <a:p xmlns:a="http://schemas.openxmlformats.org/drawingml/2006/main">
            <a:pPr lvl="1">
              <a:lnSpc>
                <a:spcPct val="107000"/>
              </a:lnSpc>
              <a:buFont typeface="Wingdings"/>
              <a:buChar char="ü"/>
            </a:pPr>
            <a:endParaRPr sz="22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7438183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B60C9846-6E3B-4B06-9AF4-92812E23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27" y="28575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+mj-lt"/>
                <a:ea typeface="+mj-lt"/>
                <a:cs typeface="+mj-lt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4000" b="1">
                <a:solidFill>
                  <a:srgbClr val="1D2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Layered Elastic Analysis Program (LEAF)</a:t>
            </a:r>
          </a:p>
        </p:txBody>
      </p:sp>
    </p:spTree>
    <p:extLst>
      <p:ext uri="{BB962C8B-B14F-4D97-AF65-F5344CB8AC3E}">
        <p14:creationId xmlns:p14="http://schemas.microsoft.com/office/powerpoint/2010/main" val="2636618611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Run LEAF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br/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6AA504-78DE-4974-AEB4-20321A50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77" y="911225"/>
            <a:ext cx="9800947" cy="4699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/>
          </a:bodyPr>
          <a:lstStyle xmlns:a="http://schemas.openxmlformats.org/drawingml/2006/main">
            <a:lvl1pPr marL="342900" indent="-342900" algn="l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LEAF is built into BAKFAA.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Compute pavement responses (stress, strain, and deflection) under defined load types at different evaluation points within the pavement structure. 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LEAF is based on the layered elastic model.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The model is based on the Boussinesq mathematical model which assumes: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Pavement layers extend infinitely in the horizontal direction.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Bottom layer extends infinitely downward.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Materials are not stressed beyond their elastic ranges.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6362432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0B6B828-49A4-4B66-A751-EBA7BCDF26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dc9b41ec445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60140" y="2086897"/>
            <a:ext cx="6813754" cy="2633496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Run LEAF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Inputs Required for LEAF Analysis</a:t>
            </a:r>
            <a:br/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0A7EAD-37EE-4592-B966-61E8CC88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30" y="1208198"/>
            <a:ext cx="5087916" cy="4799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lnSpcReduction="10000"/>
          </a:bodyPr>
          <a:lstStyle xmlns:a="http://schemas.openxmlformats.org/drawingml/2006/main">
            <a:lvl1pPr marL="342900" indent="-342900" algn="l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Inputs required for LEAF analysis: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Modulus of elasticity (either seed modulus or backcalculated modulus)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Poisson’s ratio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Layer thickness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Layer interface condition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Depth of evaluation point</a:t>
            </a:r>
          </a:p>
          <a:p xmlns:a="http://schemas.openxmlformats.org/drawingml/2006/main">
            <a:pPr marL="342900" lvl="1" indent="-342900">
              <a:lnSpc>
                <a:spcPct val="107000"/>
              </a:lnSpc>
              <a:buChar char="•"/>
            </a:pPr>
            <a:r>
              <a:rPr>
                <a:latin typeface="Times New Roman"/>
                <a:ea typeface="Times New Roman"/>
                <a:cs typeface="Times New Roman"/>
              </a:rPr>
              <a:t>Continuity in responses across pavement layers depends on their interface condition.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Depth of evaluation must represent the target layer</a:t>
            </a:r>
          </a:p>
          <a:p xmlns:a="http://schemas.openxmlformats.org/drawingml/2006/main">
            <a:pPr lvl="1">
              <a:lnSpc>
                <a:spcPct val="107000"/>
              </a:lnSpc>
              <a:buFont typeface="Wingdings"/>
              <a:buChar char="ü"/>
            </a:pPr>
            <a:endParaRPr sz="22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136723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F6AD2F9E-3DAC-4DB6-88FA-A2F2AB3C0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bb7d4f72940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0668" y="1434529"/>
            <a:ext cx="5743377" cy="4558042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DFF3D999-85A7-4AA7-A947-C7CBB594B1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fa34b2ca3c4ea7"/>
          <a:srcRect xmlns:a="http://schemas.openxmlformats.org/drawingml/2006/main" l="0" t="0" r="77276" b="85609"/>
          <a:stretch xmlns:a="http://schemas.openxmlformats.org/drawingml/2006/main"/>
        </p:blipFill>
        <p:spPr>
          <a:xfrm xmlns:a="http://schemas.openxmlformats.org/drawingml/2006/main">
            <a:off x="8672982" y="143017"/>
            <a:ext cx="3371063" cy="115643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Run LEAF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Select Load and Gear Configuration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7955" y="1313895"/>
            <a:ext cx="5948045" cy="479931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Select load from library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Generic gear geometry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Defined aircraft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Defined FWD loading configurations</a:t>
            </a:r>
          </a:p>
          <a:p xmlns:a="http://schemas.openxmlformats.org/drawingml/2006/main">
            <a:pPr lvl="1">
              <a:lnSpc>
                <a:spcPct val="107000"/>
              </a:lnSpc>
              <a:buFont typeface="Courier New"/>
              <a:buChar char="o"/>
            </a:pPr>
            <a:r>
              <a:rPr sz="2200">
                <a:latin typeface="Times New Roman"/>
                <a:ea typeface="Times New Roman"/>
                <a:cs typeface="Times New Roman"/>
              </a:rPr>
              <a:t>Library information is in </a:t>
            </a:r>
            <a:r>
              <a:rPr sz="1800">
                <a:latin typeface="Times New Roman"/>
                <a:ea typeface="Times New Roman"/>
                <a:cs typeface="Times New Roman"/>
              </a:rPr>
              <a:t>LEAFAircraft.Ext file located in BAKFAA directory (C:\Program Files\FAA\BAKFAA)</a:t>
            </a:r>
            <a:endParaRPr sz="2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2900" lvl="1" indent="-342900">
              <a:lnSpc>
                <a:spcPct val="107000"/>
              </a:lnSpc>
              <a:buChar char="•"/>
            </a:pPr>
            <a:r>
              <a:rPr sz="2200">
                <a:latin typeface="Times New Roman"/>
                <a:ea typeface="Times New Roman"/>
                <a:cs typeface="Times New Roman"/>
              </a:rPr>
              <a:t>User can modify LEAFAircraft.Ext file or add user-defined landing gear geometry or FWD configuration.</a:t>
            </a:r>
          </a:p>
          <a:p xmlns:a="http://schemas.openxmlformats.org/drawingml/2006/main">
            <a:pPr marL="342900" lvl="1" indent="-342900">
              <a:lnSpc>
                <a:spcPct val="107000"/>
              </a:lnSpc>
              <a:buChar char="•"/>
            </a:pPr>
            <a:r>
              <a:rPr sz="2200">
                <a:latin typeface="Times New Roman"/>
                <a:ea typeface="Times New Roman"/>
                <a:cs typeface="Times New Roman"/>
              </a:rPr>
              <a:t>User can modify coordinates of evaluation points </a:t>
            </a:r>
          </a:p>
          <a:p xmlns:a="http://schemas.openxmlformats.org/drawingml/2006/main">
            <a:pPr lvl="1">
              <a:lnSpc>
                <a:spcPct val="107000"/>
              </a:lnSpc>
              <a:buFont typeface="Wingdings"/>
              <a:buChar char="ü"/>
            </a:pPr>
            <a:endParaRPr sz="22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6935096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Run LEAF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Library Example (B-747-400)</a:t>
            </a:r>
            <a:br/>
            <a:endParaRPr/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BFAE5DD9-0DDF-4FB4-BCCB-3934C82C99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d333a9a344b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5582" y="1204312"/>
            <a:ext cx="4125714" cy="47771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23926907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4FBD2CF5-F775-4D93-8639-22A3AD5360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9818ccca204ff1"/>
          <a:srcRect xmlns:a="http://schemas.openxmlformats.org/drawingml/2006/main" l="0" t="0" r="76386" b="85335"/>
          <a:stretch xmlns:a="http://schemas.openxmlformats.org/drawingml/2006/main"/>
        </p:blipFill>
        <p:spPr>
          <a:xfrm xmlns:a="http://schemas.openxmlformats.org/drawingml/2006/main">
            <a:off x="8283921" y="80088"/>
            <a:ext cx="3538053" cy="1190168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4621F-F7EC-40FD-82A3-60E9498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839" y="742395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Run LEAF</a:t>
            </a:r>
            <a:br>
              <a:rPr>
                <a:latin typeface="Times New Roman"/>
                <a:ea typeface="Times New Roman"/>
                <a:cs typeface="Times New Roman"/>
              </a:rPr>
            </a:br>
            <a:r>
              <a:rPr sz="2400" b="0" i="1">
                <a:latin typeface="Times New Roman"/>
                <a:ea typeface="Times New Roman"/>
                <a:cs typeface="Times New Roman"/>
              </a:rPr>
              <a:t>LEAF Outputs</a:t>
            </a:r>
            <a:br/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92A8E8-1677-4D5A-ABB2-F866B6E0CF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7955" y="1313895"/>
            <a:ext cx="5948045" cy="479931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 b="0" u="sng">
                <a:latin typeface="Times New Roman"/>
                <a:ea typeface="Times New Roman"/>
                <a:cs typeface="Times New Roman"/>
              </a:rPr>
              <a:t>Show Output</a:t>
            </a:r>
            <a:r>
              <a:rPr sz="2400" b="0">
                <a:latin typeface="Times New Roman"/>
                <a:ea typeface="Times New Roman"/>
                <a:cs typeface="Times New Roman"/>
              </a:rPr>
              <a:t> – LEAF Output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Pavement layer structure table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Aircraft table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Tires data table</a:t>
            </a:r>
          </a:p>
          <a:p xmlns:a="http://schemas.openxmlformats.org/drawingml/2006/main">
            <a:r>
              <a:rPr sz="2400" b="0">
                <a:latin typeface="Times New Roman"/>
                <a:ea typeface="Times New Roman"/>
                <a:cs typeface="Times New Roman"/>
              </a:rPr>
              <a:t>Pavement responses at evaluation points including eval point no., layer no. (determined by evaluation depth), X-coord, Y-coord, and Z-depth</a:t>
            </a:r>
          </a:p>
          <a:p xmlns:a="http://schemas.openxmlformats.org/drawingml/2006/main">
            <a:endParaRPr sz="24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1">
              <a:lnSpc>
                <a:spcPct val="107000"/>
              </a:lnSpc>
              <a:buFont typeface="Wingdings"/>
              <a:buChar char="ü"/>
            </a:pPr>
            <a:endParaRPr sz="2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DC7BFF2-332A-4C80-B391-D5316A6E9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61979103640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3984" y="1320684"/>
            <a:ext cx="5607990" cy="45095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77400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48B9DF-26CC-44D3-A5E2-0BEBCAD67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8795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latin typeface="Times New Roman"/>
                <a:ea typeface="Times New Roman"/>
                <a:cs typeface="Times New Roman"/>
              </a:rPr>
              <a:t>Software Demo</a:t>
            </a:r>
          </a:p>
        </p:txBody>
      </p:sp>
    </p:spTree>
    <p:extLst>
      <p:ext uri="{BB962C8B-B14F-4D97-AF65-F5344CB8AC3E}">
        <p14:creationId xmlns:p14="http://schemas.microsoft.com/office/powerpoint/2010/main" val="468125359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48B9DF-26CC-44D3-A5E2-0BEBCAD67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8795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latin typeface="Times New Roman"/>
                <a:ea typeface="Times New Roman"/>
                <a:cs typeface="Times New Roman"/>
              </a:rPr>
              <a:t>Flexible Pavement Example</a:t>
            </a:r>
          </a:p>
        </p:txBody>
      </p:sp>
    </p:spTree>
    <p:extLst>
      <p:ext uri="{BB962C8B-B14F-4D97-AF65-F5344CB8AC3E}">
        <p14:creationId xmlns:p14="http://schemas.microsoft.com/office/powerpoint/2010/main" val="1578612516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DFA65A6C-C52D-4133-ADD4-83CE4DC128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0e19ce56d4a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45" name="Rectangle 44">
            <a:hlinkClick xmlns:r="http://schemas.openxmlformats.org/officeDocument/2006/relationships" xmlns:a="http://schemas.openxmlformats.org/drawingml/2006/main" r:id="R63fae1469dc043a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E8BF5761-195E-46C4-91AC-947A954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89" y="5144897"/>
            <a:ext cx="1326816" cy="64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peech Bubble: Rectangle with Corners Rounded 24">
            <a:extLst xmlns:a="http://schemas.openxmlformats.org/drawingml/2006/main">
              <a:ext uri="{FF2B5EF4-FFF2-40B4-BE49-F238E27FC236}">
                <a16:creationId xmlns:a16="http://schemas.microsoft.com/office/drawing/2014/main" id="{BA39FF45-A704-4878-A469-3D710B9F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2264340" y="159443"/>
            <a:ext cx="1077587" cy="519009"/>
          </a:xfrm>
          <a:prstGeom xmlns:a="http://schemas.openxmlformats.org/drawingml/2006/main" prst="wedgeRoundRectCallout">
            <a:avLst>
              <a:gd name="adj1" fmla="val 75628"/>
              <a:gd name="adj2" fmla="val 2261"/>
              <a:gd name="adj3" fmla="val 1666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5D1A64A-D82C-4B36-A4C1-7B7850C2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1218" y="217708"/>
            <a:ext cx="1077585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Click to load FWD file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4FF3725-BAF2-4245-BC23-0E0BA23C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42" y="4090220"/>
            <a:ext cx="1539797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Load FWD file</a:t>
            </a:r>
          </a:p>
        </p:txBody>
      </p:sp>
    </p:spTree>
    <p:extLst>
      <p:ext uri="{BB962C8B-B14F-4D97-AF65-F5344CB8AC3E}">
        <p14:creationId xmlns:p14="http://schemas.microsoft.com/office/powerpoint/2010/main" val="3653084940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F33C2810-B0FC-4D82-94D4-8DD41FC072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4cb0dbecc4e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45" name="Rectangle 44">
            <a:hlinkClick xmlns:r="http://schemas.openxmlformats.org/officeDocument/2006/relationships" xmlns:a="http://schemas.openxmlformats.org/drawingml/2006/main" r:id="R5eec256885e44256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E8BF5761-195E-46C4-91AC-947A954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89" y="5144897"/>
            <a:ext cx="1326816" cy="64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Arrow: Right 9">
            <a:extLst xmlns:a="http://schemas.openxmlformats.org/drawingml/2006/main">
              <a:ext uri="{FF2B5EF4-FFF2-40B4-BE49-F238E27FC236}">
                <a16:creationId xmlns:a16="http://schemas.microsoft.com/office/drawing/2014/main" id="{D9DD884B-36B7-47F9-AC66-FBD7B65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13" y="872121"/>
            <a:ext cx="733189" cy="442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None/>
            </a:pPr>
            <a:r>
              <a:rPr sz="11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34AD3D2-6AF2-408E-8839-447FC8CC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42" y="4090220"/>
            <a:ext cx="1539797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Load FWD file</a:t>
            </a:r>
          </a:p>
        </p:txBody>
      </p:sp>
    </p:spTree>
    <p:extLst>
      <p:ext uri="{BB962C8B-B14F-4D97-AF65-F5344CB8AC3E}">
        <p14:creationId xmlns:p14="http://schemas.microsoft.com/office/powerpoint/2010/main" val="2955758704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1149B933-6DDF-45D4-8250-DAC605B2B8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2ef4dbb0a4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45" name="Rectangle 44">
            <a:hlinkClick xmlns:r="http://schemas.openxmlformats.org/officeDocument/2006/relationships" xmlns:a="http://schemas.openxmlformats.org/drawingml/2006/main" r:id="Rb939f092b89a48fd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E8BF5761-195E-46C4-91AC-947A954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89" y="5144897"/>
            <a:ext cx="1326816" cy="64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0090A8-FEAB-413C-B5FE-76CEE957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42" y="4090220"/>
            <a:ext cx="1539797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Load FWD file</a:t>
            </a:r>
          </a:p>
        </p:txBody>
      </p:sp>
    </p:spTree>
    <p:extLst>
      <p:ext uri="{BB962C8B-B14F-4D97-AF65-F5344CB8AC3E}">
        <p14:creationId xmlns:p14="http://schemas.microsoft.com/office/powerpoint/2010/main" val="3359704712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6665980-3178-44C2-8F2A-43372F0AB1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2032f9c5c4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6236" y="1216152"/>
            <a:ext cx="8879526" cy="4809744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71F38103-77D4-4F5E-AA39-82288965DDE2}"/>
              </a:ext>
            </a:extLst>
          </p:cNvPr>
          <p:cNvGraphicFramePr/>
          <p:nvPr/>
        </p:nvGraphicFramePr>
        <p:xfrm>
          <a:off xmlns:a="http://schemas.openxmlformats.org/drawingml/2006/main" x="2842094" y="142812"/>
          <a:ext xmlns:a="http://schemas.openxmlformats.org/drawingml/2006/main" cx="3827511" cy="965708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439368"/>
                <a:gridCol w="1388143"/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Material Type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Thickness (in.)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6 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P-209 crushed stone base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Subgrade with a CBR of 10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6" name="Arrow: Right 45">
            <a:extLst xmlns:a="http://schemas.openxmlformats.org/drawingml/2006/main">
              <a:ext uri="{FF2B5EF4-FFF2-40B4-BE49-F238E27FC236}">
                <a16:creationId xmlns:a16="http://schemas.microsoft.com/office/drawing/2014/main" id="{B0310E5C-47A6-45FB-B6B1-17FBDB11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107" y="2764882"/>
            <a:ext cx="1509636" cy="6641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None/>
            </a:pPr>
            <a:r>
              <a:rPr sz="11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Select layer type from menu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998969B-03BF-486E-A5AC-EEBB19A9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" y="142812"/>
            <a:ext cx="2149641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Assign pavement structure</a:t>
            </a:r>
          </a:p>
        </p:txBody>
      </p:sp>
    </p:spTree>
    <p:extLst>
      <p:ext uri="{BB962C8B-B14F-4D97-AF65-F5344CB8AC3E}">
        <p14:creationId xmlns:p14="http://schemas.microsoft.com/office/powerpoint/2010/main" val="2632886569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F2CE316D-62F5-400E-9216-0BE8508047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9f1fa3dc640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6236" y="1221300"/>
            <a:ext cx="8879527" cy="4809743"/>
          </a:xfrm>
          <a:prstGeom xmlns:a="http://schemas.openxmlformats.org/drawingml/2006/main" prst="rect">
            <a:avLst/>
          </a:prstGeom>
        </p:spPr>
      </p:pic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998969B-03BF-486E-A5AC-EEBB19A9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" y="142812"/>
            <a:ext cx="2149641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Assign pavement structure</a:t>
            </a:r>
          </a:p>
        </p:txBody>
      </p:sp>
      <p:sp>
        <p:nvSpPr>
          <p:cNvPr id="8" name="Arrow: Right 7">
            <a:extLst xmlns:a="http://schemas.openxmlformats.org/drawingml/2006/main">
              <a:ext uri="{FF2B5EF4-FFF2-40B4-BE49-F238E27FC236}">
                <a16:creationId xmlns:a16="http://schemas.microsoft.com/office/drawing/2014/main" id="{0D930884-4AC0-464A-A0E7-89E5A747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34" y="2528382"/>
            <a:ext cx="1935797" cy="6641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None/>
            </a:pPr>
            <a:r>
              <a:rPr sz="1100"/>
              <a:t>Choose</a:t>
            </a:r>
            <a:r>
              <a:rPr sz="11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subgrade by selecting “User Defined”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83570D5A-1018-42BA-ADAA-4EE9E43D3329}"/>
              </a:ext>
            </a:extLst>
          </p:cNvPr>
          <p:cNvGraphicFramePr/>
          <p:nvPr/>
        </p:nvGraphicFramePr>
        <p:xfrm>
          <a:off xmlns:a="http://schemas.openxmlformats.org/drawingml/2006/main" x="2842094" y="142812"/>
          <a:ext xmlns:a="http://schemas.openxmlformats.org/drawingml/2006/main" cx="3827511" cy="965708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439368"/>
                <a:gridCol w="1388143"/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Material Type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Thickness (in.)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6 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P-209 crushed stone base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Subgrade with a CBR of 10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2471599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99496EF-EA3C-4CE6-BED5-0B7450A77E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689377bb5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6235" y="1218010"/>
            <a:ext cx="8879527" cy="4809744"/>
          </a:xfrm>
          <a:prstGeom xmlns:a="http://schemas.openxmlformats.org/drawingml/2006/main" prst="rect">
            <a:avLst/>
          </a:prstGeom>
        </p:spPr>
      </p:pic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998969B-03BF-486E-A5AC-EEBB19A9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" y="142812"/>
            <a:ext cx="2149641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Assign pavement structure</a:t>
            </a:r>
          </a:p>
        </p:txBody>
      </p:sp>
      <p:sp>
        <p:nvSpPr>
          <p:cNvPr id="9" name="Arrow: Right 8">
            <a:extLst xmlns:a="http://schemas.openxmlformats.org/drawingml/2006/main">
              <a:ext uri="{FF2B5EF4-FFF2-40B4-BE49-F238E27FC236}">
                <a16:creationId xmlns:a16="http://schemas.microsoft.com/office/drawing/2014/main" id="{F62B68A7-22A5-420C-9C20-04374E27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70" y="2520791"/>
            <a:ext cx="2149641" cy="91726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Add bedrock by selecting “User Defined”</a:t>
            </a:r>
          </a:p>
        </p:txBody>
      </p:sp>
      <p:graphicFrame>
        <p:nvGraphicFramePr>
          <p:cNvPr id="10" name="Table 9">
            <a:extLst xmlns:a="http://schemas.openxmlformats.org/drawingml/2006/main">
              <a:ext uri="{FF2B5EF4-FFF2-40B4-BE49-F238E27FC236}">
                <a16:creationId xmlns:a16="http://schemas.microsoft.com/office/drawing/2014/main" id="{7834986B-E627-4671-86AE-081C0DAAC3BE}"/>
              </a:ext>
            </a:extLst>
          </p:cNvPr>
          <p:cNvGraphicFramePr/>
          <p:nvPr/>
        </p:nvGraphicFramePr>
        <p:xfrm>
          <a:off xmlns:a="http://schemas.openxmlformats.org/drawingml/2006/main" x="2842094" y="142812"/>
          <a:ext xmlns:a="http://schemas.openxmlformats.org/drawingml/2006/main" cx="3827511" cy="965708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439368"/>
                <a:gridCol w="1388143"/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Material Type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Thickness (in.)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6 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P-209 crushed stone base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Subgrade with a CBR of 10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585824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70780AC4-49B5-4630-B0CF-287E8759C9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049c9d67f47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3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24" name="Callout: Bent Line 23">
            <a:extLst xmlns:a="http://schemas.openxmlformats.org/drawingml/2006/main">
              <a:ext uri="{FF2B5EF4-FFF2-40B4-BE49-F238E27FC236}">
                <a16:creationId xmlns:a16="http://schemas.microsoft.com/office/drawing/2014/main" id="{AE56D104-66D4-4837-9E95-96A08C5A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807" y="388454"/>
            <a:ext cx="963561" cy="461665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7466"/>
              <a:gd name="adj6" fmla="val -29379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Enter seed </a:t>
            </a:r>
            <a:r>
              <a:rPr sz="1200"/>
              <a:t>v</a:t>
            </a: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alues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243A5E-34C3-40B2-BB6F-A1EB5190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9" y="2919454"/>
            <a:ext cx="2589290" cy="285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Tx/>
              <a:buChar char="-"/>
            </a:pPr>
            <a:r>
              <a:rPr sz="1600"/>
              <a:t>Assigned seed modulus for asphalt based on test temperature of 60</a:t>
            </a:r>
            <a:r>
              <a:rPr sz="1800">
                <a:latin typeface="Times New Roman"/>
                <a:ea typeface="Times New Roman"/>
                <a:cs typeface="Times New Roman"/>
              </a:rPr>
              <a:t>°</a:t>
            </a:r>
            <a:r>
              <a:rPr sz="1600"/>
              <a:t>F</a:t>
            </a:r>
          </a:p>
          <a:p xmlns:a="http://schemas.openxmlformats.org/drawingml/2006/main">
            <a:pPr marL="285750" indent="-285750">
              <a:buFontTx/>
              <a:buChar char="-"/>
            </a:pPr>
            <a:r>
              <a:rPr sz="1600"/>
              <a:t>Assign seed modulus  for subgrade based on CBR:</a:t>
            </a:r>
          </a:p>
          <a:p xmlns:a="http://schemas.openxmlformats.org/drawingml/2006/main">
            <a:r>
              <a:rPr sz="1600"/>
              <a:t>    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1600" i="1">
                      <a:latin typeface="Cambria Math"/>
                      <a:ea typeface="Cambria Math"/>
                      <a:cs typeface="Cambria Math"/>
                    </a:rPr>
                    <m:t>𝐸</m:t>
                  </m:r>
                  <m:r>
                    <a:rPr xmlns:a="http://schemas.openxmlformats.org/drawingml/2006/main" lang="en-US" sz="1600">
                      <a:latin typeface="Cambria Math"/>
                      <a:ea typeface="Cambria Math"/>
                      <a:cs typeface="Cambria Math"/>
                    </a:rPr>
                    <m:t>=1,500×</m:t>
                  </m:r>
                  <m:r>
                    <a:rPr xmlns:a="http://schemas.openxmlformats.org/drawingml/2006/main" lang="en-US" sz="1600" i="1">
                      <a:latin typeface="Cambria Math"/>
                      <a:ea typeface="Cambria Math"/>
                      <a:cs typeface="Cambria Math"/>
                    </a:rPr>
                    <m:t>𝐶𝐵𝑅</m:t>
                  </m:r>
                </m:oMath>
              </m:oMathPara>
            </a14:m>
            <a:endParaRPr sz="1600" i="1">
              <a:latin typeface="Cambria Math"/>
              <a:ea typeface="Cambria Math"/>
              <a:cs typeface="Cambria Math"/>
            </a:endParaRPr>
          </a:p>
          <a:p xmlns:a="http://schemas.openxmlformats.org/drawingml/2006/main">
            <a:r>
              <a:rPr sz="1600"/>
              <a:t>       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1600" i="1">
                      <a:latin typeface="Cambria Math"/>
                      <a:ea typeface="Cambria Math"/>
                      <a:cs typeface="Cambria Math"/>
                    </a:rPr>
                    <m:t>=15,000</m:t>
                  </m:r>
                </m:oMath>
              </m:oMathPara>
            </a14:m>
            <a:r>
              <a:rPr sz="1600"/>
              <a:t> psi</a:t>
            </a:r>
          </a:p>
          <a:p xmlns:a="http://schemas.openxmlformats.org/drawingml/2006/main">
            <a:pPr marL="285750" indent="-285750">
              <a:buFontTx/>
              <a:buChar char="-"/>
            </a:pPr>
            <a:endParaRPr sz="1600"/>
          </a:p>
          <a:p xmlns:a="http://schemas.openxmlformats.org/drawingml/2006/main">
            <a:pPr marL="285750" indent="-285750">
              <a:buFontTx/>
              <a:buChar char="-"/>
            </a:pPr>
            <a:endParaRPr sz="1600"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EB26C3D-A65A-4BFC-8542-02D6DF26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2149641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Assign seed modulus</a:t>
            </a:r>
          </a:p>
        </p:txBody>
      </p:sp>
      <p:sp>
        <p:nvSpPr>
          <p:cNvPr id="11" name="Speech Bubble: Oval 10">
            <a:extLst xmlns:a="http://schemas.openxmlformats.org/drawingml/2006/main">
              <a:ext uri="{FF2B5EF4-FFF2-40B4-BE49-F238E27FC236}">
                <a16:creationId xmlns:a16="http://schemas.microsoft.com/office/drawing/2014/main" id="{72BBE0B0-6F95-4FEB-91C1-89D174EB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849" y="2006708"/>
            <a:ext cx="2589291" cy="1001915"/>
          </a:xfrm>
          <a:prstGeom xmlns:a="http://schemas.openxmlformats.org/drawingml/2006/main" prst="wedgeEllipseCallout">
            <a:avLst>
              <a:gd name="adj1" fmla="val -34832"/>
              <a:gd name="adj2" fmla="val -58499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 w="1270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r>
              <a:rPr sz="1200"/>
              <a:t>BAKFAA changes layer type to “User Defined” if user change the default seed values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12613750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55B3EE7-EB20-4345-B259-BF86B80A52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f83652fd7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6235" y="1218010"/>
            <a:ext cx="8879527" cy="480974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5045F29-7CBD-4D42-A320-E5C12EE9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2355"/>
            <a:ext cx="2581237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Assign layer thickness</a:t>
            </a:r>
          </a:p>
        </p:txBody>
      </p:sp>
      <p:graphicFrame>
        <p:nvGraphicFramePr>
          <p:cNvPr id="10" name="Table 9">
            <a:extLst xmlns:a="http://schemas.openxmlformats.org/drawingml/2006/main">
              <a:ext uri="{FF2B5EF4-FFF2-40B4-BE49-F238E27FC236}">
                <a16:creationId xmlns:a16="http://schemas.microsoft.com/office/drawing/2014/main" id="{54D70473-9514-4D47-851F-0A8DE3861644}"/>
              </a:ext>
            </a:extLst>
          </p:cNvPr>
          <p:cNvGraphicFramePr/>
          <p:nvPr/>
        </p:nvGraphicFramePr>
        <p:xfrm>
          <a:off xmlns:a="http://schemas.openxmlformats.org/drawingml/2006/main" x="2842094" y="142812"/>
          <a:ext xmlns:a="http://schemas.openxmlformats.org/drawingml/2006/main" cx="3827511" cy="965708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439368"/>
                <a:gridCol w="1388143"/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Material Type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Thickness (in.)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6 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P-209 crushed stone base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Subgrade with a CBR of 10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2" name="Callout: Bent Line 11">
            <a:extLst xmlns:a="http://schemas.openxmlformats.org/drawingml/2006/main">
              <a:ext uri="{FF2B5EF4-FFF2-40B4-BE49-F238E27FC236}">
                <a16:creationId xmlns:a16="http://schemas.microsoft.com/office/drawing/2014/main" id="{2626AB85-CDE5-4E88-B41D-D6E3C0BE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096" y="1810186"/>
            <a:ext cx="1155031" cy="461665"/>
          </a:xfrm>
          <a:prstGeom xmlns:a="http://schemas.openxmlformats.org/drawingml/2006/main" prst="borderCallout2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to enter thickness</a:t>
            </a:r>
          </a:p>
        </p:txBody>
      </p:sp>
    </p:spTree>
    <p:extLst>
      <p:ext uri="{BB962C8B-B14F-4D97-AF65-F5344CB8AC3E}">
        <p14:creationId xmlns:p14="http://schemas.microsoft.com/office/powerpoint/2010/main" val="3933151995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18A173FD-B04F-4397-87A8-2232C6025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7ff1d905248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6235" y="1218011"/>
            <a:ext cx="8879526" cy="4809743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5045F29-7CBD-4D42-A320-E5C12EE9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2355"/>
            <a:ext cx="2581237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Assign layer thickness</a:t>
            </a:r>
          </a:p>
        </p:txBody>
      </p:sp>
      <p:graphicFrame>
        <p:nvGraphicFramePr>
          <p:cNvPr id="10" name="Table 9">
            <a:extLst xmlns:a="http://schemas.openxmlformats.org/drawingml/2006/main">
              <a:ext uri="{FF2B5EF4-FFF2-40B4-BE49-F238E27FC236}">
                <a16:creationId xmlns:a16="http://schemas.microsoft.com/office/drawing/2014/main" id="{16D7B077-F837-4EE3-A7D2-50CCE39C6E59}"/>
              </a:ext>
            </a:extLst>
          </p:cNvPr>
          <p:cNvGraphicFramePr/>
          <p:nvPr/>
        </p:nvGraphicFramePr>
        <p:xfrm>
          <a:off xmlns:a="http://schemas.openxmlformats.org/drawingml/2006/main" x="2842094" y="142812"/>
          <a:ext xmlns:a="http://schemas.openxmlformats.org/drawingml/2006/main" cx="3827511" cy="965708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439368"/>
                <a:gridCol w="1388143"/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Material Type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Thickness (in.)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6 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P-209 crushed stone base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Subgrade with a CBR of 10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Callout: Bent Line 8">
            <a:extLst xmlns:a="http://schemas.openxmlformats.org/drawingml/2006/main">
              <a:ext uri="{FF2B5EF4-FFF2-40B4-BE49-F238E27FC236}">
                <a16:creationId xmlns:a16="http://schemas.microsoft.com/office/drawing/2014/main" id="{CB6D21DD-B2B1-4CB7-8595-84B15001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738" y="1462699"/>
            <a:ext cx="1183571" cy="473150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2110"/>
              <a:gd name="adj6" fmla="val -51652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Complete all thicknesses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121AA91-0B25-4084-8C8D-06D76EEC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859" y="1935849"/>
            <a:ext cx="411480" cy="896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C0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102C011-A7A9-4BEA-B977-B9F37E8B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806" y="1935849"/>
            <a:ext cx="411480" cy="896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C0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Callout: Bent Line 11">
            <a:extLst xmlns:a="http://schemas.openxmlformats.org/drawingml/2006/main">
              <a:ext uri="{FF2B5EF4-FFF2-40B4-BE49-F238E27FC236}">
                <a16:creationId xmlns:a16="http://schemas.microsoft.com/office/drawing/2014/main" id="{BC2D1548-21F5-426C-B88E-078C9838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693" y="1477148"/>
            <a:ext cx="1360844" cy="461665"/>
          </a:xfrm>
          <a:prstGeom xmlns:a="http://schemas.openxmlformats.org/drawingml/2006/main" prst="borderCallout2">
            <a:avLst>
              <a:gd name="adj1" fmla="val 26404"/>
              <a:gd name="adj2" fmla="val 104111"/>
              <a:gd name="adj3" fmla="val 26404"/>
              <a:gd name="adj4" fmla="val 112606"/>
              <a:gd name="adj5" fmla="val 98093"/>
              <a:gd name="adj6" fmla="val 140544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Complete all Poisson’s ratios</a:t>
            </a:r>
          </a:p>
        </p:txBody>
      </p:sp>
      <p:sp>
        <p:nvSpPr>
          <p:cNvPr id="16" name="Speech Bubble: Oval 15">
            <a:extLst xmlns:a="http://schemas.openxmlformats.org/drawingml/2006/main">
              <a:ext uri="{FF2B5EF4-FFF2-40B4-BE49-F238E27FC236}">
                <a16:creationId xmlns:a16="http://schemas.microsoft.com/office/drawing/2014/main" id="{E4BA08FC-8F98-4872-9A1E-8534249A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968" y="3020604"/>
            <a:ext cx="2070274" cy="640798"/>
          </a:xfrm>
          <a:prstGeom xmlns:a="http://schemas.openxmlformats.org/drawingml/2006/main" prst="wedgeEllipseCallout">
            <a:avLst>
              <a:gd name="adj1" fmla="val -41829"/>
              <a:gd name="adj2" fmla="val -81104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 w="1270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r>
              <a:rPr sz="1200"/>
              <a:t>Thickness of last layer must be zero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605212892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D3BFFC56-58D7-40AF-8C41-15A47B853E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ad76ebc3845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4" name="Callout: Bent Line 13">
            <a:extLst xmlns:a="http://schemas.openxmlformats.org/drawingml/2006/main">
              <a:ext uri="{FF2B5EF4-FFF2-40B4-BE49-F238E27FC236}">
                <a16:creationId xmlns:a16="http://schemas.microsoft.com/office/drawing/2014/main" id="{6ED7E14F-F4F2-45A7-A5A5-512219D8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789" y="4782224"/>
            <a:ext cx="1213744" cy="467961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2695"/>
              <a:gd name="adj6" fmla="val -43376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to</a:t>
            </a:r>
            <a:r>
              <a:rPr sz="12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select FWD drop</a:t>
            </a:r>
            <a:endParaRPr sz="12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8B2B966-41B4-4A1B-84D2-21C3FAB4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1747048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Select FWD drop</a:t>
            </a:r>
          </a:p>
        </p:txBody>
      </p:sp>
    </p:spTree>
    <p:extLst>
      <p:ext uri="{BB962C8B-B14F-4D97-AF65-F5344CB8AC3E}">
        <p14:creationId xmlns:p14="http://schemas.microsoft.com/office/powerpoint/2010/main" val="3597690031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43680A8A-4651-4F31-86E9-32D2E2AB58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aa1b24828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7" name="Callout: Bent Line 6">
            <a:extLst xmlns:a="http://schemas.openxmlformats.org/drawingml/2006/main">
              <a:ext uri="{FF2B5EF4-FFF2-40B4-BE49-F238E27FC236}">
                <a16:creationId xmlns:a16="http://schemas.microsoft.com/office/drawing/2014/main" id="{40582657-6145-4118-A350-EEDACD22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676" y="2350666"/>
            <a:ext cx="1855842" cy="461665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7248"/>
              <a:gd name="adj6" fmla="val -4666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to exclude sensor at negative offset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8B2B966-41B4-4A1B-84D2-21C3FAB4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1747048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Exclude sensor at negative offset</a:t>
            </a:r>
          </a:p>
        </p:txBody>
      </p:sp>
      <p:sp>
        <p:nvSpPr>
          <p:cNvPr id="9" name="Speech Bubble: Oval 8">
            <a:extLst xmlns:a="http://schemas.openxmlformats.org/drawingml/2006/main">
              <a:ext uri="{FF2B5EF4-FFF2-40B4-BE49-F238E27FC236}">
                <a16:creationId xmlns:a16="http://schemas.microsoft.com/office/drawing/2014/main" id="{0BA065FF-0839-41F4-A234-0E899397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201" y="2015212"/>
            <a:ext cx="1333163" cy="402063"/>
          </a:xfrm>
          <a:prstGeom xmlns:a="http://schemas.openxmlformats.org/drawingml/2006/main" prst="wedgeEllipseCallout">
            <a:avLst>
              <a:gd name="adj1" fmla="val -37811"/>
              <a:gd name="adj2" fmla="val 85045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 w="1270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r>
              <a:rPr sz="1200"/>
              <a:t>Sensor tab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77062916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788C0C1B-AB34-4AD1-B03F-05A5E70F58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cf2193bb140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0" name="Callout: Bent Line 9">
            <a:extLst xmlns:a="http://schemas.openxmlformats.org/drawingml/2006/main">
              <a:ext uri="{FF2B5EF4-FFF2-40B4-BE49-F238E27FC236}">
                <a16:creationId xmlns:a16="http://schemas.microsoft.com/office/drawing/2014/main" id="{DAD16965-BAC4-40AB-88EA-AAFA55E2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825" y="3971913"/>
            <a:ext cx="1647921" cy="298376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2397"/>
              <a:gd name="adj6" fmla="val -46154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Yes to confirm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8B2B966-41B4-4A1B-84D2-21C3FAB4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1747048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Exclude sensor at negative offset</a:t>
            </a:r>
          </a:p>
        </p:txBody>
      </p:sp>
    </p:spTree>
    <p:extLst>
      <p:ext uri="{BB962C8B-B14F-4D97-AF65-F5344CB8AC3E}">
        <p14:creationId xmlns:p14="http://schemas.microsoft.com/office/powerpoint/2010/main" val="659590332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35732FF6-0B83-483A-B676-91FE11EDC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b08888e9741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6" name="Callout: Bent Line 15">
            <a:extLst xmlns:a="http://schemas.openxmlformats.org/drawingml/2006/main">
              <a:ext uri="{FF2B5EF4-FFF2-40B4-BE49-F238E27FC236}">
                <a16:creationId xmlns:a16="http://schemas.microsoft.com/office/drawing/2014/main" id="{1A4A0C45-FDF5-4D55-A10A-5D40E404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287" y="2306142"/>
            <a:ext cx="1639842" cy="646331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3336"/>
              <a:gd name="adj6" fmla="val -2695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Toggled off to fix the bedrock modulus in backcalculation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28D7CD1-5E16-4C80-8430-F160E4A9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211601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Fix bedrock modulus value during backcalculation</a:t>
            </a:r>
          </a:p>
        </p:txBody>
      </p:sp>
      <p:sp>
        <p:nvSpPr>
          <p:cNvPr id="9" name="Speech Bubble: Oval 8">
            <a:extLst xmlns:a="http://schemas.openxmlformats.org/drawingml/2006/main">
              <a:ext uri="{FF2B5EF4-FFF2-40B4-BE49-F238E27FC236}">
                <a16:creationId xmlns:a16="http://schemas.microsoft.com/office/drawing/2014/main" id="{B2C702A1-0205-4DB4-B133-EF76E974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484" y="4832377"/>
            <a:ext cx="1414645" cy="852475"/>
          </a:xfrm>
          <a:prstGeom xmlns:a="http://schemas.openxmlformats.org/drawingml/2006/main" prst="wedgeEllipseCallout">
            <a:avLst>
              <a:gd name="adj1" fmla="val -63841"/>
              <a:gd name="adj2" fmla="val 26231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 w="1270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r>
              <a:rPr sz="1200"/>
              <a:t>Check that correct drop is selected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625230981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8D3FB974-EA16-4E1C-992B-DAF1201CE4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e7b7c620e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9" name="Callout: Bent Line 18">
            <a:extLst xmlns:a="http://schemas.openxmlformats.org/drawingml/2006/main">
              <a:ext uri="{FF2B5EF4-FFF2-40B4-BE49-F238E27FC236}">
                <a16:creationId xmlns:a16="http://schemas.microsoft.com/office/drawing/2014/main" id="{9C4B5E04-80E8-408C-923B-DD516172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568" y="1039215"/>
            <a:ext cx="1323123" cy="461665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0817"/>
              <a:gd name="adj6" fmla="val -32476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to start backcalculation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28D7CD1-5E16-4C80-8430-F160E4A9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2116015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Start backcalculation</a:t>
            </a:r>
          </a:p>
        </p:txBody>
      </p:sp>
    </p:spTree>
    <p:extLst>
      <p:ext uri="{BB962C8B-B14F-4D97-AF65-F5344CB8AC3E}">
        <p14:creationId xmlns:p14="http://schemas.microsoft.com/office/powerpoint/2010/main" val="3832585194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CB6AD920-B999-4235-AA0A-AB4C007FC2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b3efa92d4a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296D808-C811-4192-9D1B-708583B9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315" y="891538"/>
            <a:ext cx="737412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Callout: Bent Line 22">
            <a:extLst xmlns:a="http://schemas.openxmlformats.org/drawingml/2006/main">
              <a:ext uri="{FF2B5EF4-FFF2-40B4-BE49-F238E27FC236}">
                <a16:creationId xmlns:a16="http://schemas.microsoft.com/office/drawing/2014/main" id="{47DC00E7-81D0-412F-AEC7-8DD7DA0B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179" y="2129574"/>
            <a:ext cx="1229031" cy="461665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2522"/>
              <a:gd name="adj6" fmla="val -25655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Backcalculated moduli</a:t>
            </a:r>
          </a:p>
        </p:txBody>
      </p:sp>
      <p:sp>
        <p:nvSpPr>
          <p:cNvPr id="24" name="Callout: Bent Line 23">
            <a:extLst xmlns:a="http://schemas.openxmlformats.org/drawingml/2006/main">
              <a:ext uri="{FF2B5EF4-FFF2-40B4-BE49-F238E27FC236}">
                <a16:creationId xmlns:a16="http://schemas.microsoft.com/office/drawing/2014/main" id="{71A79FFA-C483-490C-8DE1-D0A540D9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444" y="2064375"/>
            <a:ext cx="677447" cy="296032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37682"/>
              <a:gd name="adj6" fmla="val -5719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28D7CD1-5E16-4C80-8430-F160E4A9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2116015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Backcalculation results</a:t>
            </a:r>
          </a:p>
        </p:txBody>
      </p:sp>
    </p:spTree>
    <p:extLst>
      <p:ext uri="{BB962C8B-B14F-4D97-AF65-F5344CB8AC3E}">
        <p14:creationId xmlns:p14="http://schemas.microsoft.com/office/powerpoint/2010/main" val="1488828644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02CC6F3-246B-438E-B423-98441B4E4C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3ec3337a94f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8" name="Speech Bubble: Rectangle with Corners Rounded 7">
            <a:extLst xmlns:a="http://schemas.openxmlformats.org/drawingml/2006/main">
              <a:ext uri="{FF2B5EF4-FFF2-40B4-BE49-F238E27FC236}">
                <a16:creationId xmlns:a16="http://schemas.microsoft.com/office/drawing/2014/main" id="{737ABB3E-7767-41F8-9560-7008B4B9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1838321" y="283985"/>
            <a:ext cx="2100531" cy="553420"/>
          </a:xfrm>
          <a:prstGeom xmlns:a="http://schemas.openxmlformats.org/drawingml/2006/main" prst="wedgeRoundRectCallout">
            <a:avLst>
              <a:gd name="adj1" fmla="val 63908"/>
              <a:gd name="adj2" fmla="val -458"/>
              <a:gd name="adj3" fmla="val 1666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E40AFF4-72FC-46D6-9C6A-0625511D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4129" y="380300"/>
            <a:ext cx="2100528" cy="172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Click to save the pavement and FWD file</a:t>
            </a:r>
          </a:p>
        </p:txBody>
      </p:sp>
    </p:spTree>
    <p:extLst>
      <p:ext uri="{BB962C8B-B14F-4D97-AF65-F5344CB8AC3E}">
        <p14:creationId xmlns:p14="http://schemas.microsoft.com/office/powerpoint/2010/main" val="3525765614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217D1EE3-C1FC-49C9-BF68-3CDD7EDE69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8b91878314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2" name="Callout: Bent Line 11">
            <a:extLst xmlns:a="http://schemas.openxmlformats.org/drawingml/2006/main">
              <a:ext uri="{FF2B5EF4-FFF2-40B4-BE49-F238E27FC236}">
                <a16:creationId xmlns:a16="http://schemas.microsoft.com/office/drawing/2014/main" id="{B1397E7C-2A75-4B97-B4E2-E3FD8D2B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885" y="4313004"/>
            <a:ext cx="1927365" cy="690740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2397"/>
              <a:gd name="adj6" fmla="val -46154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Yes to confirm saving pavement section and FWD data</a:t>
            </a:r>
          </a:p>
        </p:txBody>
      </p:sp>
    </p:spTree>
    <p:extLst>
      <p:ext uri="{BB962C8B-B14F-4D97-AF65-F5344CB8AC3E}">
        <p14:creationId xmlns:p14="http://schemas.microsoft.com/office/powerpoint/2010/main" val="1146617986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622FC135-F405-4BE2-B655-5065A1FF29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fa422e8ac42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9053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5" name="Callout: Bent Line 14">
            <a:extLst xmlns:a="http://schemas.openxmlformats.org/drawingml/2006/main">
              <a:ext uri="{FF2B5EF4-FFF2-40B4-BE49-F238E27FC236}">
                <a16:creationId xmlns:a16="http://schemas.microsoft.com/office/drawing/2014/main" id="{EC950013-D294-46D8-AB92-8722F325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612" y="3524163"/>
            <a:ext cx="932420" cy="461665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6449"/>
              <a:gd name="adj6" fmla="val -69352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to </a:t>
            </a:r>
            <a:r>
              <a:rPr sz="1200"/>
              <a:t>s</a:t>
            </a: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ave</a:t>
            </a:r>
          </a:p>
        </p:txBody>
      </p:sp>
    </p:spTree>
    <p:extLst>
      <p:ext uri="{BB962C8B-B14F-4D97-AF65-F5344CB8AC3E}">
        <p14:creationId xmlns:p14="http://schemas.microsoft.com/office/powerpoint/2010/main" val="2168239979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48B9DF-26CC-44D3-A5E2-0BEBCAD67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8795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latin typeface="Times New Roman"/>
                <a:ea typeface="Times New Roman"/>
                <a:cs typeface="Times New Roman"/>
              </a:rPr>
              <a:t>Rigid Pavement Example</a:t>
            </a:r>
          </a:p>
        </p:txBody>
      </p:sp>
    </p:spTree>
    <p:extLst>
      <p:ext uri="{BB962C8B-B14F-4D97-AF65-F5344CB8AC3E}">
        <p14:creationId xmlns:p14="http://schemas.microsoft.com/office/powerpoint/2010/main" val="1527214731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3F623EDC-7901-419C-904E-888EB60A84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f0c0f8a7f4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6235" y="1225296"/>
            <a:ext cx="8879527" cy="4809744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B25BD2C7-E3E7-4F73-BB21-AECD473CCC4D}"/>
              </a:ext>
            </a:extLst>
          </p:cNvPr>
          <p:cNvGraphicFramePr/>
          <p:nvPr/>
        </p:nvGraphicFramePr>
        <p:xfrm>
          <a:off xmlns:a="http://schemas.openxmlformats.org/drawingml/2006/main" x="3497262" y="146304"/>
          <a:ext xmlns:a="http://schemas.openxmlformats.org/drawingml/2006/main" cx="3486275" cy="965708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340928"/>
                <a:gridCol w="1145347"/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Material Type</a:t>
                      </a:r>
                    </a:p>
                  </a:txBody>
                  <a:tcPr marL="68580" marR="68580" marT="0" marB="0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Thickness (in)</a:t>
                      </a:r>
                    </a:p>
                  </a:txBody>
                  <a:tcPr marL="68580" marR="68580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P-501 cement concrete pavement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14 </a:t>
                      </a:r>
                    </a:p>
                  </a:txBody>
                  <a:tcPr marL="68580" marR="68580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P-156 cement treated subgrade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Subgrade with a CBR of 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E0F2298-F833-4972-84FC-04C275C4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3181475" cy="1077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Tx/>
              <a:buChar char="-"/>
            </a:pPr>
            <a:r>
              <a:rPr sz="1600"/>
              <a:t>Load pavement section</a:t>
            </a:r>
          </a:p>
          <a:p xmlns:a="http://schemas.openxmlformats.org/drawingml/2006/main">
            <a:pPr marL="285750" indent="-285750">
              <a:buFontTx/>
              <a:buChar char="-"/>
            </a:pPr>
            <a:r>
              <a:rPr sz="1600"/>
              <a:t>Load FWD file</a:t>
            </a:r>
          </a:p>
          <a:p xmlns:a="http://schemas.openxmlformats.org/drawingml/2006/main">
            <a:pPr marL="285750" indent="-285750">
              <a:buFontTx/>
              <a:buChar char="-"/>
            </a:pPr>
            <a:r>
              <a:rPr sz="1600"/>
              <a:t>Assign layers and thickness</a:t>
            </a:r>
          </a:p>
          <a:p xmlns:a="http://schemas.openxmlformats.org/drawingml/2006/main">
            <a:pPr marL="285750" indent="-285750">
              <a:buFontTx/>
              <a:buChar char="-"/>
            </a:pPr>
            <a:r>
              <a:rPr sz="1600"/>
              <a:t>Assign seed modulus </a:t>
            </a:r>
          </a:p>
        </p:txBody>
      </p:sp>
    </p:spTree>
    <p:extLst>
      <p:ext uri="{BB962C8B-B14F-4D97-AF65-F5344CB8AC3E}">
        <p14:creationId xmlns:p14="http://schemas.microsoft.com/office/powerpoint/2010/main" val="412773313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C87259FC-08D5-49C3-9906-CCD2F9D103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c24d0cc434a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6" name="Callout: Bent Line 5">
            <a:extLst xmlns:a="http://schemas.openxmlformats.org/drawingml/2006/main">
              <a:ext uri="{FF2B5EF4-FFF2-40B4-BE49-F238E27FC236}">
                <a16:creationId xmlns:a16="http://schemas.microsoft.com/office/drawing/2014/main" id="{66F84709-5149-48B9-9180-39FEA3AC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447" y="5198039"/>
            <a:ext cx="1362802" cy="493801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9396"/>
              <a:gd name="adj6" fmla="val -22011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to select FWD drops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14BA93B-DDD7-4E07-98F8-DD4381B6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2116015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Select FWD drops</a:t>
            </a:r>
          </a:p>
        </p:txBody>
      </p:sp>
    </p:spTree>
    <p:extLst>
      <p:ext uri="{BB962C8B-B14F-4D97-AF65-F5344CB8AC3E}">
        <p14:creationId xmlns:p14="http://schemas.microsoft.com/office/powerpoint/2010/main" val="375522741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F64FED96-B3D0-43FC-9B26-A5CD604E3A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d60351b374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5" name="Callout: Bent Line 14">
            <a:extLst xmlns:a="http://schemas.openxmlformats.org/drawingml/2006/main">
              <a:ext uri="{FF2B5EF4-FFF2-40B4-BE49-F238E27FC236}">
                <a16:creationId xmlns:a16="http://schemas.microsoft.com/office/drawing/2014/main" id="{C7433C50-05A4-43C5-80F0-9A091E94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414" y="4343162"/>
            <a:ext cx="1234554" cy="461665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1342"/>
              <a:gd name="adj6" fmla="val -81052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Select drop </a:t>
            </a:r>
            <a:r>
              <a:rPr sz="1200"/>
              <a:t>n</a:t>
            </a: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o. 3 and click OK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14BA93B-DDD7-4E07-98F8-DD4381B6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2354"/>
            <a:ext cx="2116015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Select FWD drops</a:t>
            </a:r>
          </a:p>
        </p:txBody>
      </p:sp>
    </p:spTree>
    <p:extLst>
      <p:ext uri="{BB962C8B-B14F-4D97-AF65-F5344CB8AC3E}">
        <p14:creationId xmlns:p14="http://schemas.microsoft.com/office/powerpoint/2010/main" val="1990355779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336D814E-FCA6-4D17-BBC9-1CBC3B9891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dbfe641e54e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2" name="Speech Bubble: Oval 11">
            <a:extLst xmlns:a="http://schemas.openxmlformats.org/drawingml/2006/main">
              <a:ext uri="{FF2B5EF4-FFF2-40B4-BE49-F238E27FC236}">
                <a16:creationId xmlns:a16="http://schemas.microsoft.com/office/drawing/2014/main" id="{B4BE4A82-58A3-4AF5-B55F-D47B286E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350" y="4017269"/>
            <a:ext cx="2398746" cy="455143"/>
          </a:xfrm>
          <a:prstGeom xmlns:a="http://schemas.openxmlformats.org/drawingml/2006/main" prst="wedgeEllipseCallout">
            <a:avLst>
              <a:gd name="adj1" fmla="val -59259"/>
              <a:gd name="adj2" fmla="val -37833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 w="1270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r>
              <a:rPr sz="1200"/>
              <a:t>All drop no. 3 selected</a:t>
            </a:r>
            <a:endParaRPr sz="900"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14BA93B-DDD7-4E07-98F8-DD4381B6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2354"/>
            <a:ext cx="2116015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Select FWD drops</a:t>
            </a:r>
          </a:p>
        </p:txBody>
      </p:sp>
    </p:spTree>
    <p:extLst>
      <p:ext uri="{BB962C8B-B14F-4D97-AF65-F5344CB8AC3E}">
        <p14:creationId xmlns:p14="http://schemas.microsoft.com/office/powerpoint/2010/main" val="332221930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7325C6C-9A15-465C-B38C-235F0A92CA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20267ee4947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5" name="Callout: Bent Line 4">
            <a:extLst xmlns:a="http://schemas.openxmlformats.org/drawingml/2006/main">
              <a:ext uri="{FF2B5EF4-FFF2-40B4-BE49-F238E27FC236}">
                <a16:creationId xmlns:a16="http://schemas.microsoft.com/office/drawing/2014/main" id="{A3E59439-91DE-4F2A-85A9-41AF701C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908" y="1047640"/>
            <a:ext cx="1623973" cy="461665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0817"/>
              <a:gd name="adj6" fmla="val -32476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to start backcalculation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D6E0E17-7933-42BD-B465-36C07D9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2354"/>
            <a:ext cx="2116015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Start backcalculation in batch mode</a:t>
            </a:r>
          </a:p>
        </p:txBody>
      </p:sp>
    </p:spTree>
    <p:extLst>
      <p:ext uri="{BB962C8B-B14F-4D97-AF65-F5344CB8AC3E}">
        <p14:creationId xmlns:p14="http://schemas.microsoft.com/office/powerpoint/2010/main" val="4040519780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C86131ED-7AB1-4C38-B867-520314F998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4b3bdd29b40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9" name="Callout: Bent Line 8">
            <a:extLst xmlns:a="http://schemas.openxmlformats.org/drawingml/2006/main">
              <a:ext uri="{FF2B5EF4-FFF2-40B4-BE49-F238E27FC236}">
                <a16:creationId xmlns:a16="http://schemas.microsoft.com/office/drawing/2014/main" id="{C25AC0B6-6D9A-44B3-A987-4531DE83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457" y="3819155"/>
            <a:ext cx="1256158" cy="461665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2116"/>
              <a:gd name="adj6" fmla="val -4145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to save .csv output file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D6E0E17-7933-42BD-B465-36C07D9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2354"/>
            <a:ext cx="2116015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Start backcalculation in batch mode</a:t>
            </a:r>
          </a:p>
        </p:txBody>
      </p:sp>
    </p:spTree>
    <p:extLst>
      <p:ext uri="{BB962C8B-B14F-4D97-AF65-F5344CB8AC3E}">
        <p14:creationId xmlns:p14="http://schemas.microsoft.com/office/powerpoint/2010/main" val="3244993512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D9098939-51E7-41C8-BBBA-B7CEA7A2B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b28f32cba44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3" name="Callout: Bent Line 12">
            <a:extLst xmlns:a="http://schemas.openxmlformats.org/drawingml/2006/main">
              <a:ext uri="{FF2B5EF4-FFF2-40B4-BE49-F238E27FC236}">
                <a16:creationId xmlns:a16="http://schemas.microsoft.com/office/drawing/2014/main" id="{6120F2CF-D6FB-4EB4-B5E6-0775BD11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403" y="3596206"/>
            <a:ext cx="1380939" cy="461665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2397"/>
              <a:gd name="adj6" fmla="val -46154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to save .csv output file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D6E0E17-7933-42BD-B465-36C07D9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4087368"/>
            <a:ext cx="2116015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Start backcalculation in batch mode</a:t>
            </a:r>
          </a:p>
        </p:txBody>
      </p:sp>
    </p:spTree>
    <p:extLst>
      <p:ext uri="{BB962C8B-B14F-4D97-AF65-F5344CB8AC3E}">
        <p14:creationId xmlns:p14="http://schemas.microsoft.com/office/powerpoint/2010/main" val="2144176208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5B50AB61-AF7C-4C27-97C4-C5E373D2E5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607383a364d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9D9DDD8-02F5-4FC8-AEFD-6C540A6B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957" y="892999"/>
            <a:ext cx="721716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D05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Callout: Bent Line 16">
            <a:extLst xmlns:a="http://schemas.openxmlformats.org/drawingml/2006/main">
              <a:ext uri="{FF2B5EF4-FFF2-40B4-BE49-F238E27FC236}">
                <a16:creationId xmlns:a16="http://schemas.microsoft.com/office/drawing/2014/main" id="{94E373F0-0887-4586-A734-C84C8D60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493" y="2240841"/>
            <a:ext cx="1791556" cy="830997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2522"/>
              <a:gd name="adj6" fmla="val -25655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rgbClr val="92D05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Geometric </a:t>
            </a:r>
            <a:r>
              <a:rPr sz="1200"/>
              <a:t>m</a:t>
            </a: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ean of backcalculated moduli from all test points selected.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D6E0E17-7933-42BD-B465-36C07D9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2354"/>
            <a:ext cx="2116015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Backcalculation results in batch mode</a:t>
            </a:r>
          </a:p>
        </p:txBody>
      </p:sp>
    </p:spTree>
    <p:extLst>
      <p:ext uri="{BB962C8B-B14F-4D97-AF65-F5344CB8AC3E}">
        <p14:creationId xmlns:p14="http://schemas.microsoft.com/office/powerpoint/2010/main" val="1342744864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B56ECFC-F08C-4E0D-B93C-EB6E344990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9de96ce9341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7" name="Speech Bubble: Rectangle with Corners Rounded 6">
            <a:extLst xmlns:a="http://schemas.openxmlformats.org/drawingml/2006/main">
              <a:ext uri="{FF2B5EF4-FFF2-40B4-BE49-F238E27FC236}">
                <a16:creationId xmlns:a16="http://schemas.microsoft.com/office/drawing/2014/main" id="{772468D7-19F7-45E3-BAA4-CA7A43BB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0">
            <a:off x="222768" y="183326"/>
            <a:ext cx="985114" cy="340014"/>
          </a:xfrm>
          <a:prstGeom xmlns:a="http://schemas.openxmlformats.org/drawingml/2006/main" prst="wedgeRoundRectCallout">
            <a:avLst>
              <a:gd name="adj1" fmla="val -67624"/>
              <a:gd name="adj2" fmla="val -12894"/>
              <a:gd name="adj3" fmla="val 1666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DCAF6BD-7E35-4F9D-BE2F-3EE0374F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22765" y="124116"/>
            <a:ext cx="985113" cy="94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Click to view Output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4087368"/>
            <a:ext cx="1740103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Show Output</a:t>
            </a:r>
          </a:p>
        </p:txBody>
      </p:sp>
    </p:spTree>
    <p:extLst>
      <p:ext uri="{BB962C8B-B14F-4D97-AF65-F5344CB8AC3E}">
        <p14:creationId xmlns:p14="http://schemas.microsoft.com/office/powerpoint/2010/main" val="2020482421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33FA583-57FC-425E-B264-57BCA7EBDB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3d81f16194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2354"/>
            <a:ext cx="1740103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Show Output</a:t>
            </a:r>
          </a:p>
        </p:txBody>
      </p:sp>
    </p:spTree>
    <p:extLst>
      <p:ext uri="{BB962C8B-B14F-4D97-AF65-F5344CB8AC3E}">
        <p14:creationId xmlns:p14="http://schemas.microsoft.com/office/powerpoint/2010/main" val="2990899984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6B8B957E-4BD4-467D-B10B-FF97FA6D5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238246c3e4e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83FE68-BB18-42AC-8F2F-A4C07E23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743252" y="5111368"/>
            <a:ext cx="931913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Click</a:t>
            </a:r>
          </a:p>
        </p:txBody>
      </p:sp>
      <p:sp>
        <p:nvSpPr>
          <p:cNvPr id="8" name="Speech Bubble: Rectangle with Corners Rounded 7">
            <a:extLst xmlns:a="http://schemas.openxmlformats.org/drawingml/2006/main">
              <a:ext uri="{FF2B5EF4-FFF2-40B4-BE49-F238E27FC236}">
                <a16:creationId xmlns:a16="http://schemas.microsoft.com/office/drawing/2014/main" id="{71FBF3E4-1761-45A3-8A0B-37E7C25A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0">
            <a:off x="1353085" y="349202"/>
            <a:ext cx="581292" cy="337351"/>
          </a:xfrm>
          <a:prstGeom xmlns:a="http://schemas.openxmlformats.org/drawingml/2006/main" prst="wedgeRoundRectCallout">
            <a:avLst>
              <a:gd name="adj1" fmla="val -67624"/>
              <a:gd name="adj2" fmla="val -12894"/>
              <a:gd name="adj3" fmla="val 1666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1EB4F80-5D3C-4914-BAEA-96888907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53083" y="401806"/>
            <a:ext cx="581291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Click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E67460F-B529-4490-B865-A573758B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4087368"/>
            <a:ext cx="1740103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Batch Graph</a:t>
            </a:r>
          </a:p>
        </p:txBody>
      </p:sp>
    </p:spTree>
    <p:extLst>
      <p:ext uri="{BB962C8B-B14F-4D97-AF65-F5344CB8AC3E}">
        <p14:creationId xmlns:p14="http://schemas.microsoft.com/office/powerpoint/2010/main" val="3740404126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9B542ED8-D1EF-4ADF-B967-A4B935BF2A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b213e545f4e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001" y="480908"/>
            <a:ext cx="10643997" cy="5537391"/>
          </a:xfrm>
          <a:prstGeom xmlns:a="http://schemas.openxmlformats.org/drawingml/2006/main" prst="rect">
            <a:avLst/>
          </a:prstGeom>
        </p:spPr>
      </p:pic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C7AD8CD6-DA31-4F31-AFEF-4382EAFA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112" y="1931142"/>
            <a:ext cx="469450" cy="3167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rgbClr val="92D05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Speech Bubble: Oval 15">
            <a:extLst xmlns:a="http://schemas.openxmlformats.org/drawingml/2006/main">
              <a:ext uri="{FF2B5EF4-FFF2-40B4-BE49-F238E27FC236}">
                <a16:creationId xmlns:a16="http://schemas.microsoft.com/office/drawing/2014/main" id="{51AA6762-CD52-439C-A482-6021D1B5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4706" y="1427390"/>
            <a:ext cx="1232275" cy="421741"/>
          </a:xfrm>
          <a:prstGeom xmlns:a="http://schemas.openxmlformats.org/drawingml/2006/main" prst="wedgeEllipseCallou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rgbClr val="92D05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chemeClr val="tx1"/>
                </a:solidFill>
              </a:rPr>
              <a:t>Outlier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E67460F-B529-4490-B865-A573758B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2354"/>
            <a:ext cx="1740103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Batch Graph</a:t>
            </a:r>
          </a:p>
        </p:txBody>
      </p:sp>
    </p:spTree>
    <p:extLst>
      <p:ext uri="{BB962C8B-B14F-4D97-AF65-F5344CB8AC3E}">
        <p14:creationId xmlns:p14="http://schemas.microsoft.com/office/powerpoint/2010/main" val="1501387018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CE2442C-2FFE-4E1A-B980-56103CA496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038fd5f7b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14BA93B-DDD7-4E07-98F8-DD4381B6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5" y="4087368"/>
            <a:ext cx="1483320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Edit FWD File</a:t>
            </a:r>
          </a:p>
        </p:txBody>
      </p:sp>
      <p:sp>
        <p:nvSpPr>
          <p:cNvPr id="10" name="Speech Bubble: Rectangle with Corners Rounded 9">
            <a:extLst xmlns:a="http://schemas.openxmlformats.org/drawingml/2006/main">
              <a:ext uri="{FF2B5EF4-FFF2-40B4-BE49-F238E27FC236}">
                <a16:creationId xmlns:a16="http://schemas.microsoft.com/office/drawing/2014/main" id="{D9D18D8C-8588-41AA-B3F3-66805E39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0">
            <a:off x="627221" y="377483"/>
            <a:ext cx="581292" cy="337351"/>
          </a:xfrm>
          <a:prstGeom xmlns:a="http://schemas.openxmlformats.org/drawingml/2006/main" prst="wedgeRoundRectCallout">
            <a:avLst>
              <a:gd name="adj1" fmla="val -67624"/>
              <a:gd name="adj2" fmla="val -12894"/>
              <a:gd name="adj3" fmla="val 1666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B56AEDD-D12C-4F89-8C02-78B5E20D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27219" y="430087"/>
            <a:ext cx="581291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971757442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2AEE64FF-B147-4AB2-9F7F-558F9A88AC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0c7ae7b4644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4424" y="0"/>
            <a:ext cx="8503151" cy="60350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14BA93B-DDD7-4E07-98F8-DD4381B6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5" y="146304"/>
            <a:ext cx="1483320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Edit FWD File</a:t>
            </a:r>
          </a:p>
        </p:txBody>
      </p:sp>
      <p:sp>
        <p:nvSpPr>
          <p:cNvPr id="5" name="Callout: Bent Line 4">
            <a:extLst xmlns:a="http://schemas.openxmlformats.org/drawingml/2006/main">
              <a:ext uri="{FF2B5EF4-FFF2-40B4-BE49-F238E27FC236}">
                <a16:creationId xmlns:a16="http://schemas.microsoft.com/office/drawing/2014/main" id="{0EA804B5-A186-421A-8CEE-7F169A06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86" y="3922850"/>
            <a:ext cx="1256158" cy="461665"/>
          </a:xfrm>
          <a:prstGeom xmlns:a="http://schemas.openxmlformats.org/drawingml/2006/main" prst="borderCallout2">
            <a:avLst>
              <a:gd name="adj1" fmla="val 14666"/>
              <a:gd name="adj2" fmla="val 102733"/>
              <a:gd name="adj3" fmla="val 14666"/>
              <a:gd name="adj4" fmla="val 107908"/>
              <a:gd name="adj5" fmla="val -15781"/>
              <a:gd name="adj6" fmla="val 145404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to delete outlier drops</a:t>
            </a:r>
          </a:p>
        </p:txBody>
      </p:sp>
      <p:sp>
        <p:nvSpPr>
          <p:cNvPr id="8" name="Speech Bubble: Rectangle with Corners Rounded 7">
            <a:extLst xmlns:a="http://schemas.openxmlformats.org/drawingml/2006/main">
              <a:ext uri="{FF2B5EF4-FFF2-40B4-BE49-F238E27FC236}">
                <a16:creationId xmlns:a16="http://schemas.microsoft.com/office/drawing/2014/main" id="{DEECB64D-A8EE-41EF-B9BA-C1F2E2D2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0">
            <a:off x="682404" y="466007"/>
            <a:ext cx="1127139" cy="337351"/>
          </a:xfrm>
          <a:prstGeom xmlns:a="http://schemas.openxmlformats.org/drawingml/2006/main" prst="wedgeRoundRectCallout">
            <a:avLst>
              <a:gd name="adj1" fmla="val -67624"/>
              <a:gd name="adj2" fmla="val -12894"/>
              <a:gd name="adj3" fmla="val 1666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6245511-60E8-4F98-98AB-A43A91D6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82400" y="518611"/>
            <a:ext cx="1127138" cy="600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Save changes</a:t>
            </a:r>
          </a:p>
        </p:txBody>
      </p:sp>
    </p:spTree>
    <p:extLst>
      <p:ext uri="{BB962C8B-B14F-4D97-AF65-F5344CB8AC3E}">
        <p14:creationId xmlns:p14="http://schemas.microsoft.com/office/powerpoint/2010/main" val="30451673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48B9DF-26CC-44D3-A5E2-0BEBCAD67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8795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Composite</a:t>
            </a:r>
            <a:r>
              <a:rPr sz="4000">
                <a:latin typeface="Times New Roman"/>
                <a:ea typeface="Times New Roman"/>
                <a:cs typeface="Times New Roman"/>
              </a:rPr>
              <a:t> Pavement Example</a:t>
            </a:r>
          </a:p>
        </p:txBody>
      </p:sp>
    </p:spTree>
    <p:extLst>
      <p:ext uri="{BB962C8B-B14F-4D97-AF65-F5344CB8AC3E}">
        <p14:creationId xmlns:p14="http://schemas.microsoft.com/office/powerpoint/2010/main" val="3470844195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83C685E-E68F-479A-B82E-D1829224B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27e343eb4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6235" y="1223523"/>
            <a:ext cx="8879527" cy="4809744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54D94F03-D8E4-41C4-93E3-FE56E916BFB7}"/>
              </a:ext>
            </a:extLst>
          </p:cNvPr>
          <p:cNvGraphicFramePr/>
          <p:nvPr/>
        </p:nvGraphicFramePr>
        <p:xfrm>
          <a:off xmlns:a="http://schemas.openxmlformats.org/drawingml/2006/main" x="3497262" y="146304"/>
          <a:ext xmlns:a="http://schemas.openxmlformats.org/drawingml/2006/main" cx="3486275" cy="965708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340928"/>
                <a:gridCol w="1145347"/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Material Type</a:t>
                      </a:r>
                    </a:p>
                  </a:txBody>
                  <a:tcPr marL="68580" marR="68580" marT="0" marB="0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Thickness (in.)</a:t>
                      </a:r>
                    </a:p>
                  </a:txBody>
                  <a:tcPr marL="68580" marR="68580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P-401/P-403 hot mix asphalt</a:t>
                      </a: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2.25 </a:t>
                      </a:r>
                    </a:p>
                  </a:txBody>
                  <a:tcPr marL="68580" marR="68580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P-501 Portland cement concrete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Subgrade with a CBR of 15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E0F2298-F833-4972-84FC-04C275C4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3181475" cy="1077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Tx/>
              <a:buChar char="-"/>
            </a:pPr>
            <a:r>
              <a:rPr sz="1600"/>
              <a:t>Load pavement section</a:t>
            </a:r>
          </a:p>
          <a:p xmlns:a="http://schemas.openxmlformats.org/drawingml/2006/main">
            <a:pPr marL="285750" indent="-285750">
              <a:buFontTx/>
              <a:buChar char="-"/>
            </a:pPr>
            <a:r>
              <a:rPr sz="1600"/>
              <a:t>Load FWD file</a:t>
            </a:r>
          </a:p>
          <a:p xmlns:a="http://schemas.openxmlformats.org/drawingml/2006/main">
            <a:pPr marL="285750" indent="-285750">
              <a:buFontTx/>
              <a:buChar char="-"/>
            </a:pPr>
            <a:r>
              <a:rPr sz="1600"/>
              <a:t>Assign layers and thickness</a:t>
            </a:r>
          </a:p>
          <a:p xmlns:a="http://schemas.openxmlformats.org/drawingml/2006/main">
            <a:pPr marL="285750" indent="-285750">
              <a:buFontTx/>
              <a:buChar char="-"/>
            </a:pPr>
            <a:r>
              <a:rPr sz="1600"/>
              <a:t>Assign seed modulus </a:t>
            </a:r>
          </a:p>
        </p:txBody>
      </p:sp>
      <p:sp>
        <p:nvSpPr>
          <p:cNvPr id="8" name="Speech Bubble: Oval 7">
            <a:extLst xmlns:a="http://schemas.openxmlformats.org/drawingml/2006/main">
              <a:ext uri="{FF2B5EF4-FFF2-40B4-BE49-F238E27FC236}">
                <a16:creationId xmlns:a16="http://schemas.microsoft.com/office/drawing/2014/main" id="{7430CED0-28E2-4D4B-816B-A205F9EC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476" y="2820167"/>
            <a:ext cx="1852522" cy="808228"/>
          </a:xfrm>
          <a:prstGeom xmlns:a="http://schemas.openxmlformats.org/drawingml/2006/main" prst="wedgeEllipseCallout">
            <a:avLst>
              <a:gd name="adj1" fmla="val -25659"/>
              <a:gd name="adj2" fmla="val -97698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 w="1270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r>
              <a:rPr sz="1200"/>
              <a:t>Asphalt modulus adjusted for temperature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82248857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AA923780-1E58-45DA-B900-D0652628B5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c9b9d5f1a47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5" y="142354"/>
            <a:ext cx="1718710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Adjust pavement structure</a:t>
            </a:r>
          </a:p>
        </p:txBody>
      </p:sp>
      <p:sp>
        <p:nvSpPr>
          <p:cNvPr id="6" name="Callout: Bent Line 5">
            <a:extLst xmlns:a="http://schemas.openxmlformats.org/drawingml/2006/main">
              <a:ext uri="{FF2B5EF4-FFF2-40B4-BE49-F238E27FC236}">
                <a16:creationId xmlns:a16="http://schemas.microsoft.com/office/drawing/2014/main" id="{34AEB42A-D975-4DD2-B4FF-B24A3391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718" y="1932453"/>
            <a:ext cx="1694801" cy="646331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72981"/>
              <a:gd name="adj6" fmla="val -36539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Toggle off to fix asphalt modulus during backcalculation</a:t>
            </a:r>
          </a:p>
        </p:txBody>
      </p:sp>
    </p:spTree>
    <p:extLst>
      <p:ext uri="{BB962C8B-B14F-4D97-AF65-F5344CB8AC3E}">
        <p14:creationId xmlns:p14="http://schemas.microsoft.com/office/powerpoint/2010/main" val="1626230378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03AE8FA-3989-4913-AE61-16043910F8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cfe2ca34d41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5" y="142354"/>
            <a:ext cx="1863564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Select FWD drops</a:t>
            </a:r>
          </a:p>
        </p:txBody>
      </p:sp>
      <p:sp>
        <p:nvSpPr>
          <p:cNvPr id="7" name="Callout: Bent Line 6">
            <a:extLst xmlns:a="http://schemas.openxmlformats.org/drawingml/2006/main">
              <a:ext uri="{FF2B5EF4-FFF2-40B4-BE49-F238E27FC236}">
                <a16:creationId xmlns:a16="http://schemas.microsoft.com/office/drawing/2014/main" id="{19F9515A-C45B-46D8-B445-7E2820BD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944" y="4929150"/>
            <a:ext cx="1350770" cy="276999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944"/>
              <a:gd name="adj6" fmla="val -50428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Select drop no. 2</a:t>
            </a:r>
          </a:p>
        </p:txBody>
      </p:sp>
      <p:sp>
        <p:nvSpPr>
          <p:cNvPr id="8" name="Speech Bubble: Oval 7">
            <a:extLst xmlns:a="http://schemas.openxmlformats.org/drawingml/2006/main">
              <a:ext uri="{FF2B5EF4-FFF2-40B4-BE49-F238E27FC236}">
                <a16:creationId xmlns:a16="http://schemas.microsoft.com/office/drawing/2014/main" id="{56E79111-6D71-4712-8A6D-992718CB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928" y="3953895"/>
            <a:ext cx="1529613" cy="455143"/>
          </a:xfrm>
          <a:prstGeom xmlns:a="http://schemas.openxmlformats.org/drawingml/2006/main" prst="wedgeEllipseCallout">
            <a:avLst>
              <a:gd name="adj1" fmla="val -26844"/>
              <a:gd name="adj2" fmla="val 85494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 w="1270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r>
              <a:rPr sz="1200"/>
              <a:t>Select Drops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07592847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C352283-A38F-4735-9612-090D450FA9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a9f46447f4f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1" cy="6035040"/>
          </a:xfrm>
          <a:prstGeom xmlns:a="http://schemas.openxmlformats.org/drawingml/2006/main" prst="rect">
            <a:avLst/>
          </a:prstGeom>
        </p:spPr>
      </p:pic>
      <p:sp>
        <p:nvSpPr>
          <p:cNvPr id="7" name="Callout: Bent Line 6">
            <a:extLst xmlns:a="http://schemas.openxmlformats.org/drawingml/2006/main">
              <a:ext uri="{FF2B5EF4-FFF2-40B4-BE49-F238E27FC236}">
                <a16:creationId xmlns:a16="http://schemas.microsoft.com/office/drawing/2014/main" id="{19F9515A-C45B-46D8-B445-7E2820BD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698" y="1162253"/>
            <a:ext cx="1649533" cy="276999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20607"/>
              <a:gd name="adj6" fmla="val -35313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Start backcalculation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A7E25D6-BF04-4B68-A679-6BC42BE2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5" y="146304"/>
            <a:ext cx="2116015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Start backcalculation in batch mode</a:t>
            </a:r>
          </a:p>
        </p:txBody>
      </p:sp>
      <p:sp>
        <p:nvSpPr>
          <p:cNvPr id="11" name="Speech Bubble: Oval 10">
            <a:extLst xmlns:a="http://schemas.openxmlformats.org/drawingml/2006/main">
              <a:ext uri="{FF2B5EF4-FFF2-40B4-BE49-F238E27FC236}">
                <a16:creationId xmlns:a16="http://schemas.microsoft.com/office/drawing/2014/main" id="{063CA78A-643E-473A-B203-5D9BFF97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339" y="2147597"/>
            <a:ext cx="2304800" cy="907816"/>
          </a:xfrm>
          <a:prstGeom xmlns:a="http://schemas.openxmlformats.org/drawingml/2006/main" prst="wedgeEllipseCallout">
            <a:avLst>
              <a:gd name="adj1" fmla="val -13096"/>
              <a:gd name="adj2" fmla="val 41614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 w="1270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r>
              <a:rPr sz="1200"/>
              <a:t>Click Ok to save .csv, and choose a file location and name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17202321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35DEFB5-89A8-4323-A5DE-6230080345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7e05f6f8f4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1" cy="603504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464A76-E357-4176-978F-F5A97F9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2354"/>
            <a:ext cx="2116015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Backcalculation results in batch mode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716546F-90F9-45CC-B0C2-1DBCE44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385" y="892999"/>
            <a:ext cx="721716" cy="978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D05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Callout: Bent Line 11">
            <a:extLst xmlns:a="http://schemas.openxmlformats.org/drawingml/2006/main">
              <a:ext uri="{FF2B5EF4-FFF2-40B4-BE49-F238E27FC236}">
                <a16:creationId xmlns:a16="http://schemas.microsoft.com/office/drawing/2014/main" id="{01D728BD-DD06-4D55-8248-C979BA5E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203" y="2086937"/>
            <a:ext cx="1791556" cy="830997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2522"/>
              <a:gd name="adj6" fmla="val -25655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rgbClr val="92D05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Geometric </a:t>
            </a:r>
            <a:r>
              <a:rPr sz="1200"/>
              <a:t>m</a:t>
            </a: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ean of backcalculated moduli from all test points selected.</a:t>
            </a:r>
          </a:p>
        </p:txBody>
      </p:sp>
    </p:spTree>
    <p:extLst>
      <p:ext uri="{BB962C8B-B14F-4D97-AF65-F5344CB8AC3E}">
        <p14:creationId xmlns:p14="http://schemas.microsoft.com/office/powerpoint/2010/main" val="2942292160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E4172704-53CD-4752-8919-5CA2E5542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5abce040940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1" cy="603504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464A76-E357-4176-978F-F5A97F9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4087368"/>
            <a:ext cx="2116015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Backcalculation results in batch mode</a:t>
            </a:r>
          </a:p>
        </p:txBody>
      </p:sp>
      <p:sp>
        <p:nvSpPr>
          <p:cNvPr id="8" name="Speech Bubble: Oval 7">
            <a:extLst xmlns:a="http://schemas.openxmlformats.org/drawingml/2006/main">
              <a:ext uri="{FF2B5EF4-FFF2-40B4-BE49-F238E27FC236}">
                <a16:creationId xmlns:a16="http://schemas.microsoft.com/office/drawing/2014/main" id="{F8B408CC-194C-4326-94E3-76846310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147" y="367817"/>
            <a:ext cx="1529613" cy="650278"/>
          </a:xfrm>
          <a:prstGeom xmlns:a="http://schemas.openxmlformats.org/drawingml/2006/main" prst="wedgeEllipseCallout">
            <a:avLst>
              <a:gd name="adj1" fmla="val -29310"/>
              <a:gd name="adj2" fmla="val 104743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 w="1270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r>
              <a:rPr sz="1200"/>
              <a:t>Batch Graph Modulus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798165249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48B9DF-26CC-44D3-A5E2-0BEBCAD67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8795" y="2857500"/>
            <a:ext cx="103632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Load Transfer Efficiency (LTE) </a:t>
            </a:r>
            <a:r>
              <a:rPr sz="4000">
                <a:latin typeface="Times New Roman"/>
                <a:ea typeface="Times New Roman"/>
                <a:cs typeface="Times New Roman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707803760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535FF04-45BA-4C05-AE67-4A11ACDD5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1880bed0f4d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40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5" y="4087368"/>
            <a:ext cx="1863564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Load FWD file</a:t>
            </a:r>
          </a:p>
        </p:txBody>
      </p:sp>
      <p:sp>
        <p:nvSpPr>
          <p:cNvPr id="11" name="Speech Bubble: Rectangle with Corners Rounded 10">
            <a:extLst xmlns:a="http://schemas.openxmlformats.org/drawingml/2006/main">
              <a:ext uri="{FF2B5EF4-FFF2-40B4-BE49-F238E27FC236}">
                <a16:creationId xmlns:a16="http://schemas.microsoft.com/office/drawing/2014/main" id="{1203177C-3AC6-4FCD-8A82-10F11B71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0">
            <a:off x="872267" y="179623"/>
            <a:ext cx="504968" cy="337352"/>
          </a:xfrm>
          <a:prstGeom xmlns:a="http://schemas.openxmlformats.org/drawingml/2006/main" prst="wedgeRoundRectCallout">
            <a:avLst>
              <a:gd name="adj1" fmla="val -67624"/>
              <a:gd name="adj2" fmla="val -12894"/>
              <a:gd name="adj3" fmla="val 1666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6DC0C17-FB69-447A-905D-114F29F3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72265" y="232227"/>
            <a:ext cx="504968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017406797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2CE0DD99-12CA-42EB-9AC4-1331003CCC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1935c0f204f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-1"/>
            <a:ext cx="11141612" cy="6035039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5" y="4087368"/>
            <a:ext cx="1863564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Load FWD file</a:t>
            </a:r>
          </a:p>
        </p:txBody>
      </p:sp>
      <p:sp>
        <p:nvSpPr>
          <p:cNvPr id="11" name="Speech Bubble: Rectangle with Corners Rounded 10">
            <a:extLst xmlns:a="http://schemas.openxmlformats.org/drawingml/2006/main">
              <a:ext uri="{FF2B5EF4-FFF2-40B4-BE49-F238E27FC236}">
                <a16:creationId xmlns:a16="http://schemas.microsoft.com/office/drawing/2014/main" id="{1203177C-3AC6-4FCD-8A82-10F11B71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0">
            <a:off x="4181075" y="2848842"/>
            <a:ext cx="504968" cy="337352"/>
          </a:xfrm>
          <a:prstGeom xmlns:a="http://schemas.openxmlformats.org/drawingml/2006/main" prst="wedgeRoundRectCallout">
            <a:avLst>
              <a:gd name="adj1" fmla="val -67624"/>
              <a:gd name="adj2" fmla="val -12894"/>
              <a:gd name="adj3" fmla="val 16667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20000"/>
              </a:spcBef>
              <a:spcAft>
                <a:spcPct val="5000"/>
              </a:spcAft>
              <a:buClr>
                <a:schemeClr val="bg1"/>
              </a:buClr>
              <a:buSzPct val="100000"/>
              <a:buFont typeface="Wingdings"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6DC0C17-FB69-447A-905D-114F29F3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181073" y="2901446"/>
            <a:ext cx="504968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445326048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875A014-BB91-48C5-B7E9-68B262B718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bd84de88b47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4" y="0"/>
            <a:ext cx="11141612" cy="6035039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5" y="146304"/>
            <a:ext cx="1863564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Select FWD drop</a:t>
            </a:r>
          </a:p>
        </p:txBody>
      </p:sp>
      <p:sp>
        <p:nvSpPr>
          <p:cNvPr id="13" name="Callout: Bent Line 12">
            <a:extLst xmlns:a="http://schemas.openxmlformats.org/drawingml/2006/main">
              <a:ext uri="{FF2B5EF4-FFF2-40B4-BE49-F238E27FC236}">
                <a16:creationId xmlns:a16="http://schemas.microsoft.com/office/drawing/2014/main" id="{0922A53A-2F32-4DDD-AA7A-B066A9A3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766" y="4857560"/>
            <a:ext cx="1794949" cy="461665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0549"/>
              <a:gd name="adj6" fmla="val -34788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Select drop no. 3 at DMI location of 400 ft.</a:t>
            </a:r>
          </a:p>
        </p:txBody>
      </p:sp>
    </p:spTree>
    <p:extLst>
      <p:ext uri="{BB962C8B-B14F-4D97-AF65-F5344CB8AC3E}">
        <p14:creationId xmlns:p14="http://schemas.microsoft.com/office/powerpoint/2010/main" val="2157854006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01D11F2F-9BF0-4802-B375-A9367E8D24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ee69f9adc46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3" y="0"/>
            <a:ext cx="11141611" cy="6035040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1710775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Select LTE case</a:t>
            </a:r>
          </a:p>
        </p:txBody>
      </p:sp>
      <p:sp>
        <p:nvSpPr>
          <p:cNvPr id="11" name="Callout: Bent Line 10">
            <a:extLst xmlns:a="http://schemas.openxmlformats.org/drawingml/2006/main">
              <a:ext uri="{FF2B5EF4-FFF2-40B4-BE49-F238E27FC236}">
                <a16:creationId xmlns:a16="http://schemas.microsoft.com/office/drawing/2014/main" id="{67669542-753B-4191-B7D3-E70DD6B9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620" y="2480548"/>
            <a:ext cx="1256158" cy="461665"/>
          </a:xfrm>
          <a:prstGeom xmlns:a="http://schemas.openxmlformats.org/drawingml/2006/main" prst="borderCallout2">
            <a:avLst>
              <a:gd name="adj1" fmla="val 14666"/>
              <a:gd name="adj2" fmla="val 102733"/>
              <a:gd name="adj3" fmla="val 14666"/>
              <a:gd name="adj4" fmla="val 107908"/>
              <a:gd name="adj5" fmla="val -42326"/>
              <a:gd name="adj6" fmla="val 15591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>
            <a:solidFill>
              <a:srgbClr val="FF990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sz="12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Click to select Case 2</a:t>
            </a:r>
          </a:p>
        </p:txBody>
      </p:sp>
    </p:spTree>
    <p:extLst>
      <p:ext uri="{BB962C8B-B14F-4D97-AF65-F5344CB8AC3E}">
        <p14:creationId xmlns:p14="http://schemas.microsoft.com/office/powerpoint/2010/main" val="559684504"/>
      </p:ext>
    </p:extLst>
  </p:cSld>
</p:sld>
</file>

<file path=ppt/slides/slide1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EC262493-C5C2-4AE2-B493-D6175115A4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d96c313e44b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93" y="0"/>
            <a:ext cx="11141610" cy="6035039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21147C-5685-4382-926C-81D9848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1710775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Review results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0498E63-82A3-4C80-BF9E-2BDEFACA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804" y="1028801"/>
            <a:ext cx="1717223" cy="1397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D050"/>
            </a:solidFill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sz="24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peech Bubble: Oval 7">
            <a:extLst xmlns:a="http://schemas.openxmlformats.org/drawingml/2006/main">
              <a:ext uri="{FF2B5EF4-FFF2-40B4-BE49-F238E27FC236}">
                <a16:creationId xmlns:a16="http://schemas.microsoft.com/office/drawing/2014/main" id="{E176B09C-83CB-4C1C-A064-07642D73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314" y="2531595"/>
            <a:ext cx="926950" cy="347407"/>
          </a:xfrm>
          <a:prstGeom xmlns:a="http://schemas.openxmlformats.org/drawingml/2006/main" prst="wedgeEllipseCallout">
            <a:avLst>
              <a:gd name="adj1" fmla="val -60443"/>
              <a:gd name="adj2" fmla="val -133616"/>
            </a:avLst>
          </a:prstGeom>
          <a:solidFill xmlns:a="http://schemas.openxmlformats.org/drawingml/2006/main">
            <a:srgbClr val="92D050"/>
          </a:solidFill>
          <a:ln xmlns:a="http://schemas.openxmlformats.org/drawingml/2006/main" w="1270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0488" tIns="44450" rIns="90488" bIns="44450" anchor="t"/>
          <a:lstStyle xmlns:a="http://schemas.openxmlformats.org/drawingml/2006/main"/>
          <a:p xmlns:a="http://schemas.openxmlformats.org/drawingml/2006/main">
            <a:r>
              <a:rPr sz="1200"/>
              <a:t>LTE %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16756289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AFE625-3459-4FF8-A73B-EC8C9C3923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344488"/>
            <a:ext cx="11013859" cy="609600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3150"/>
            </a:defPPr>
          </a:lstStyle>
          <a:p xmlns:a="http://schemas.openxmlformats.org/drawingml/2006/main">
            <a:pPr algn="ctr">
              <a:buNone/>
            </a:pPr>
            <a:r>
              <a:rPr sz="3150">
                <a:latin typeface="Times New Roman"/>
                <a:ea typeface="Times New Roman"/>
                <a:cs typeface="Times New Roman"/>
              </a:rPr>
              <a:t>Support &amp; Technical Contacts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EB27F4-741F-400F-9944-51FD214DCB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0401" y="1207363"/>
            <a:ext cx="11182411" cy="4726714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1875"/>
            </a:defPPr>
          </a:lstStyle>
          <a:p xmlns:a="http://schemas.openxmlformats.org/drawingml/2006/main">
            <a:r>
              <a:rPr sz="1875" b="0">
                <a:latin typeface="Times New Roman"/>
                <a:ea typeface="Times New Roman"/>
                <a:cs typeface="Times New Roman"/>
              </a:rPr>
              <a:t>Product support: skonetechsupport@gmail.com</a:t>
            </a:r>
            <a:endParaRPr sz="2600" b="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1875" b="0">
                <a:latin typeface="Times New Roman"/>
                <a:ea typeface="Times New Roman"/>
                <a:cs typeface="Times New Roman"/>
              </a:rPr>
              <a:t>Repository: github.com/sahilyadav-01/airport-fwd-data-analyzer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rPr sz="1875"/>
              <a:t>Original technical source contacts:</a:t>
            </a:r>
            <a:endParaRPr/>
          </a:p>
          <a:p xmlns:a="http://schemas.openxmlformats.org/drawingml/2006/main">
            <a:r>
              <a:rPr sz="1875"/>
              <a:t>Richard Ji, PhD: Richard.Ji@faa.gov</a:t>
            </a:r>
            <a:endParaRPr/>
          </a:p>
          <a:p xmlns:a="http://schemas.openxmlformats.org/drawingml/2006/main">
            <a:r>
              <a:rPr sz="1875"/>
              <a:t>Matthew T. Brynick, PE: Matthew.T.Brynick@faa.gov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rPr sz="1875"/>
              <a:t>Independent branded distribution; not an official FAA release.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3598908"/>
      </p:ext>
    </p:extLst>
  </p:cSld>
</p:sld>
</file>

<file path=ppt/theme/theme1.xml><?xml version="1.0" encoding="utf-8"?>
<a:theme xmlns:a="http://schemas.openxmlformats.org/drawingml/2006/main" name="Custom Design">
  <a:themeElements>
    <a:clrScheme name="ARA NEW">
      <a:dk1>
        <a:srgbClr val="003E7E"/>
      </a:dk1>
      <a:lt1>
        <a:srgbClr val="FFFFFF"/>
      </a:lt1>
      <a:dk2>
        <a:srgbClr val="00133A"/>
      </a:dk2>
      <a:lt2>
        <a:srgbClr val="0090CB"/>
      </a:lt2>
      <a:accent1>
        <a:srgbClr val="003E7E"/>
      </a:accent1>
      <a:accent2>
        <a:srgbClr val="F15632"/>
      </a:accent2>
      <a:accent3>
        <a:srgbClr val="D2DE31"/>
      </a:accent3>
      <a:accent4>
        <a:srgbClr val="B1C0C9"/>
      </a:accent4>
      <a:accent5>
        <a:srgbClr val="2CBAF6"/>
      </a:accent5>
      <a:accent6>
        <a:srgbClr val="CBD5DF"/>
      </a:accent6>
      <a:hlink>
        <a:srgbClr val="22CBF2"/>
      </a:hlink>
      <a:folHlink>
        <a:srgbClr val="B1C0C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RA NEW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satMod val="180000"/>
                <a:alpha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satMod val="180000"/>
                <a:alpha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5240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2026-10-16T03:44:30.4070000Z</dcterms:created>
  <dcterms:modified xsi:type="dcterms:W3CDTF">2026-10-16T03:44:30.4070000Z</dcterms:modified>
</coreProperties>
</file>